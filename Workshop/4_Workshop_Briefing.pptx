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</p:sldIdLst>
  <p:sldSz cy="10287000" cx="18288000"/>
  <p:notesSz cx="6858000" cy="9144000"/>
  <p:embeddedFontLst>
    <p:embeddedFont>
      <p:font typeface="Poppins"/>
      <p:bold r:id="rId9"/>
      <p:boldItalic r:id="rId10"/>
    </p:embeddedFont>
    <p:embeddedFont>
      <p:font typeface="Poppins Black"/>
      <p:bold r:id="rId11"/>
      <p:boldItalic r:id="rId1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3" roundtripDataSignature="AMtx7mjnl93W6lgY+x6a3C+gUZXldx/V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PoppinsBlack-bold.fntdata"/><Relationship Id="rId10" Type="http://schemas.openxmlformats.org/officeDocument/2006/relationships/font" Target="fonts/Poppins-boldItalic.fntdata"/><Relationship Id="rId13" Type="http://customschemas.google.com/relationships/presentationmetadata" Target="metadata"/><Relationship Id="rId12" Type="http://schemas.openxmlformats.org/officeDocument/2006/relationships/font" Target="fonts/PoppinsBlack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Poppins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7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9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9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0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0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1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1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1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1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3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3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4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4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github.com/meghegde/genomic-llms-in-practice/blob/main/Workshop/Exercise_Finetuning.ipynb" TargetMode="External"/><Relationship Id="rId5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hyperlink" Target="https://github.com/meghegde/genomic-llms-in-practice/blob/main/Workshop/Exercise_genomic_llm_embeddings_and_interpretability.ipynb" TargetMode="External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86FA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-130094" y="-2023820"/>
            <a:ext cx="6455904" cy="6105039"/>
          </a:xfrm>
          <a:custGeom>
            <a:rect b="b" l="l" r="r" t="t"/>
            <a:pathLst>
              <a:path extrusionOk="0" h="6105039" w="6455904">
                <a:moveTo>
                  <a:pt x="0" y="0"/>
                </a:moveTo>
                <a:lnTo>
                  <a:pt x="6455904" y="0"/>
                </a:lnTo>
                <a:lnTo>
                  <a:pt x="6455904" y="6105040"/>
                </a:lnTo>
                <a:lnTo>
                  <a:pt x="0" y="61050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5" name="Google Shape;85;p1"/>
          <p:cNvSpPr/>
          <p:nvPr/>
        </p:nvSpPr>
        <p:spPr>
          <a:xfrm>
            <a:off x="2497094" y="4798581"/>
            <a:ext cx="6455904" cy="6105039"/>
          </a:xfrm>
          <a:custGeom>
            <a:rect b="b" l="l" r="r" t="t"/>
            <a:pathLst>
              <a:path extrusionOk="0" h="6105039" w="6455904">
                <a:moveTo>
                  <a:pt x="0" y="0"/>
                </a:moveTo>
                <a:lnTo>
                  <a:pt x="6455904" y="0"/>
                </a:lnTo>
                <a:lnTo>
                  <a:pt x="6455904" y="6105039"/>
                </a:lnTo>
                <a:lnTo>
                  <a:pt x="0" y="610503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86" name="Google Shape;86;p1"/>
          <p:cNvSpPr/>
          <p:nvPr/>
        </p:nvSpPr>
        <p:spPr>
          <a:xfrm>
            <a:off x="12546136" y="4798581"/>
            <a:ext cx="6455904" cy="6105039"/>
          </a:xfrm>
          <a:custGeom>
            <a:rect b="b" l="l" r="r" t="t"/>
            <a:pathLst>
              <a:path extrusionOk="0" h="6105039" w="6455904">
                <a:moveTo>
                  <a:pt x="0" y="0"/>
                </a:moveTo>
                <a:lnTo>
                  <a:pt x="6455904" y="0"/>
                </a:lnTo>
                <a:lnTo>
                  <a:pt x="6455904" y="6105039"/>
                </a:lnTo>
                <a:lnTo>
                  <a:pt x="0" y="610503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87" name="Google Shape;87;p1"/>
          <p:cNvGrpSpPr/>
          <p:nvPr/>
        </p:nvGrpSpPr>
        <p:grpSpPr>
          <a:xfrm>
            <a:off x="1849184" y="5460149"/>
            <a:ext cx="9110393" cy="951488"/>
            <a:chOff x="0" y="-38100"/>
            <a:chExt cx="2399445" cy="250598"/>
          </a:xfrm>
        </p:grpSpPr>
        <p:sp>
          <p:nvSpPr>
            <p:cNvPr id="88" name="Google Shape;88;p1"/>
            <p:cNvSpPr/>
            <p:nvPr/>
          </p:nvSpPr>
          <p:spPr>
            <a:xfrm>
              <a:off x="0" y="0"/>
              <a:ext cx="2399445" cy="212498"/>
            </a:xfrm>
            <a:custGeom>
              <a:rect b="b" l="l" r="r" t="t"/>
              <a:pathLst>
                <a:path extrusionOk="0" h="212498" w="2399445">
                  <a:moveTo>
                    <a:pt x="42489" y="0"/>
                  </a:moveTo>
                  <a:lnTo>
                    <a:pt x="2356956" y="0"/>
                  </a:lnTo>
                  <a:cubicBezTo>
                    <a:pt x="2380422" y="0"/>
                    <a:pt x="2399445" y="19023"/>
                    <a:pt x="2399445" y="42489"/>
                  </a:cubicBezTo>
                  <a:lnTo>
                    <a:pt x="2399445" y="170008"/>
                  </a:lnTo>
                  <a:cubicBezTo>
                    <a:pt x="2399445" y="193475"/>
                    <a:pt x="2380422" y="212498"/>
                    <a:pt x="2356956" y="212498"/>
                  </a:cubicBezTo>
                  <a:lnTo>
                    <a:pt x="42489" y="212498"/>
                  </a:lnTo>
                  <a:cubicBezTo>
                    <a:pt x="19023" y="212498"/>
                    <a:pt x="0" y="193475"/>
                    <a:pt x="0" y="170008"/>
                  </a:cubicBezTo>
                  <a:lnTo>
                    <a:pt x="0" y="42489"/>
                  </a:lnTo>
                  <a:cubicBezTo>
                    <a:pt x="0" y="19023"/>
                    <a:pt x="19023" y="0"/>
                    <a:pt x="42489" y="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1"/>
            <p:cNvSpPr txBox="1"/>
            <p:nvPr/>
          </p:nvSpPr>
          <p:spPr>
            <a:xfrm>
              <a:off x="0" y="-38100"/>
              <a:ext cx="2399445" cy="25059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0" name="Google Shape;90;p1"/>
          <p:cNvSpPr txBox="1"/>
          <p:nvPr/>
        </p:nvSpPr>
        <p:spPr>
          <a:xfrm>
            <a:off x="2028432" y="3252307"/>
            <a:ext cx="10704282" cy="22303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9" u="none" cap="none" strike="noStrike">
                <a:solidFill>
                  <a:srgbClr val="2F2483"/>
                </a:solidFill>
                <a:latin typeface="Poppins Black"/>
                <a:ea typeface="Poppins Black"/>
                <a:cs typeface="Poppins Black"/>
                <a:sym typeface="Poppins Black"/>
              </a:rPr>
              <a:t>GENOMIC LLMS IN PRACTICE</a:t>
            </a:r>
            <a:endParaRPr/>
          </a:p>
        </p:txBody>
      </p:sp>
      <p:sp>
        <p:nvSpPr>
          <p:cNvPr id="91" name="Google Shape;91;p1"/>
          <p:cNvSpPr/>
          <p:nvPr/>
        </p:nvSpPr>
        <p:spPr>
          <a:xfrm>
            <a:off x="11580186" y="-2023820"/>
            <a:ext cx="6455904" cy="6105039"/>
          </a:xfrm>
          <a:custGeom>
            <a:rect b="b" l="l" r="r" t="t"/>
            <a:pathLst>
              <a:path extrusionOk="0" h="6105039" w="6455904">
                <a:moveTo>
                  <a:pt x="0" y="0"/>
                </a:moveTo>
                <a:lnTo>
                  <a:pt x="6455904" y="0"/>
                </a:lnTo>
                <a:lnTo>
                  <a:pt x="6455904" y="6105040"/>
                </a:lnTo>
                <a:lnTo>
                  <a:pt x="0" y="61050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2" name="Google Shape;92;p1"/>
          <p:cNvSpPr/>
          <p:nvPr/>
        </p:nvSpPr>
        <p:spPr>
          <a:xfrm>
            <a:off x="2028432" y="7943378"/>
            <a:ext cx="1449718" cy="1449718"/>
          </a:xfrm>
          <a:custGeom>
            <a:rect b="b" l="l" r="r" t="t"/>
            <a:pathLst>
              <a:path extrusionOk="0" h="1449718" w="1449718">
                <a:moveTo>
                  <a:pt x="0" y="0"/>
                </a:moveTo>
                <a:lnTo>
                  <a:pt x="1449719" y="0"/>
                </a:lnTo>
                <a:lnTo>
                  <a:pt x="1449719" y="1449718"/>
                </a:lnTo>
                <a:lnTo>
                  <a:pt x="0" y="144971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3" name="Google Shape;93;p1"/>
          <p:cNvSpPr/>
          <p:nvPr/>
        </p:nvSpPr>
        <p:spPr>
          <a:xfrm>
            <a:off x="3694738" y="7943378"/>
            <a:ext cx="4232755" cy="1449718"/>
          </a:xfrm>
          <a:custGeom>
            <a:rect b="b" l="l" r="r" t="t"/>
            <a:pathLst>
              <a:path extrusionOk="0" h="1449718" w="4232755">
                <a:moveTo>
                  <a:pt x="0" y="0"/>
                </a:moveTo>
                <a:lnTo>
                  <a:pt x="4232755" y="0"/>
                </a:lnTo>
                <a:lnTo>
                  <a:pt x="4232755" y="1449718"/>
                </a:lnTo>
                <a:lnTo>
                  <a:pt x="0" y="144971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94" name="Google Shape;94;p1"/>
          <p:cNvGrpSpPr/>
          <p:nvPr/>
        </p:nvGrpSpPr>
        <p:grpSpPr>
          <a:xfrm>
            <a:off x="1849184" y="6534689"/>
            <a:ext cx="9110393" cy="951488"/>
            <a:chOff x="0" y="-38100"/>
            <a:chExt cx="2399445" cy="250598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2399445" cy="212498"/>
            </a:xfrm>
            <a:custGeom>
              <a:rect b="b" l="l" r="r" t="t"/>
              <a:pathLst>
                <a:path extrusionOk="0" h="212498" w="2399445">
                  <a:moveTo>
                    <a:pt x="42489" y="0"/>
                  </a:moveTo>
                  <a:lnTo>
                    <a:pt x="2356956" y="0"/>
                  </a:lnTo>
                  <a:cubicBezTo>
                    <a:pt x="2380422" y="0"/>
                    <a:pt x="2399445" y="19023"/>
                    <a:pt x="2399445" y="42489"/>
                  </a:cubicBezTo>
                  <a:lnTo>
                    <a:pt x="2399445" y="170008"/>
                  </a:lnTo>
                  <a:cubicBezTo>
                    <a:pt x="2399445" y="193475"/>
                    <a:pt x="2380422" y="212498"/>
                    <a:pt x="2356956" y="212498"/>
                  </a:cubicBezTo>
                  <a:lnTo>
                    <a:pt x="42489" y="212498"/>
                  </a:lnTo>
                  <a:cubicBezTo>
                    <a:pt x="19023" y="212498"/>
                    <a:pt x="0" y="193475"/>
                    <a:pt x="0" y="170008"/>
                  </a:cubicBezTo>
                  <a:lnTo>
                    <a:pt x="0" y="42489"/>
                  </a:lnTo>
                  <a:cubicBezTo>
                    <a:pt x="0" y="19023"/>
                    <a:pt x="19023" y="0"/>
                    <a:pt x="42489" y="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38100"/>
              <a:ext cx="2399445" cy="25059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002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99" u="none" cap="none" strike="noStrike">
                  <a:solidFill>
                    <a:srgbClr val="2F2483"/>
                  </a:solidFill>
                  <a:latin typeface="Arial"/>
                  <a:ea typeface="Arial"/>
                  <a:cs typeface="Arial"/>
                  <a:sym typeface="Arial"/>
                </a:rPr>
                <a:t>by Megha Hegde, Shashank Ravichandran, Jean-Christophe Nebel, Ragothaman Yennamalli, Farzana Rahman</a:t>
              </a:r>
              <a:endParaRPr/>
            </a:p>
          </p:txBody>
        </p:sp>
      </p:grpSp>
      <p:sp>
        <p:nvSpPr>
          <p:cNvPr id="97" name="Google Shape;97;p1"/>
          <p:cNvSpPr/>
          <p:nvPr/>
        </p:nvSpPr>
        <p:spPr>
          <a:xfrm>
            <a:off x="15453806" y="492516"/>
            <a:ext cx="2269069" cy="2269069"/>
          </a:xfrm>
          <a:custGeom>
            <a:rect b="b" l="l" r="r" t="t"/>
            <a:pathLst>
              <a:path extrusionOk="0" h="2269069" w="2269069">
                <a:moveTo>
                  <a:pt x="0" y="0"/>
                </a:moveTo>
                <a:lnTo>
                  <a:pt x="2269069" y="0"/>
                </a:lnTo>
                <a:lnTo>
                  <a:pt x="2269069" y="2269069"/>
                </a:lnTo>
                <a:lnTo>
                  <a:pt x="0" y="226906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98" name="Google Shape;98;p1"/>
          <p:cNvSpPr txBox="1"/>
          <p:nvPr/>
        </p:nvSpPr>
        <p:spPr>
          <a:xfrm>
            <a:off x="2230974" y="5770099"/>
            <a:ext cx="8552755" cy="4476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99" u="none" cap="none" strike="noStrike">
                <a:solidFill>
                  <a:srgbClr val="2F2483"/>
                </a:solidFill>
                <a:latin typeface="Poppins"/>
                <a:ea typeface="Poppins"/>
                <a:cs typeface="Poppins"/>
                <a:sym typeface="Poppins"/>
              </a:rPr>
              <a:t>A Hands-On Introduction With Huggingface</a:t>
            </a:r>
            <a:endParaRPr/>
          </a:p>
        </p:txBody>
      </p:sp>
      <p:sp>
        <p:nvSpPr>
          <p:cNvPr id="99" name="Google Shape;99;p1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/>
          <p:nvPr/>
        </p:nvSpPr>
        <p:spPr>
          <a:xfrm>
            <a:off x="-1605763" y="-535229"/>
            <a:ext cx="6455904" cy="6105039"/>
          </a:xfrm>
          <a:custGeom>
            <a:rect b="b" l="l" r="r" t="t"/>
            <a:pathLst>
              <a:path extrusionOk="0" h="6105039" w="6455904">
                <a:moveTo>
                  <a:pt x="0" y="0"/>
                </a:moveTo>
                <a:lnTo>
                  <a:pt x="6455903" y="0"/>
                </a:lnTo>
                <a:lnTo>
                  <a:pt x="6455903" y="6105039"/>
                </a:lnTo>
                <a:lnTo>
                  <a:pt x="0" y="610503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5" name="Google Shape;105;p2"/>
          <p:cNvSpPr/>
          <p:nvPr/>
        </p:nvSpPr>
        <p:spPr>
          <a:xfrm>
            <a:off x="14031348" y="-1785840"/>
            <a:ext cx="6455904" cy="6105039"/>
          </a:xfrm>
          <a:custGeom>
            <a:rect b="b" l="l" r="r" t="t"/>
            <a:pathLst>
              <a:path extrusionOk="0" h="6105039" w="6455904">
                <a:moveTo>
                  <a:pt x="0" y="0"/>
                </a:moveTo>
                <a:lnTo>
                  <a:pt x="6455904" y="0"/>
                </a:lnTo>
                <a:lnTo>
                  <a:pt x="6455904" y="6105039"/>
                </a:lnTo>
                <a:lnTo>
                  <a:pt x="0" y="610503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4000"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06" name="Google Shape;106;p2"/>
          <p:cNvGrpSpPr/>
          <p:nvPr/>
        </p:nvGrpSpPr>
        <p:grpSpPr>
          <a:xfrm>
            <a:off x="12245569" y="3258283"/>
            <a:ext cx="5153154" cy="5150417"/>
            <a:chOff x="0" y="-38100"/>
            <a:chExt cx="1542172" cy="1541353"/>
          </a:xfrm>
        </p:grpSpPr>
        <p:sp>
          <p:nvSpPr>
            <p:cNvPr id="107" name="Google Shape;107;p2"/>
            <p:cNvSpPr/>
            <p:nvPr/>
          </p:nvSpPr>
          <p:spPr>
            <a:xfrm>
              <a:off x="0" y="0"/>
              <a:ext cx="1542172" cy="1503253"/>
            </a:xfrm>
            <a:custGeom>
              <a:rect b="b" l="l" r="r" t="t"/>
              <a:pathLst>
                <a:path extrusionOk="0" h="1503253" w="1542172">
                  <a:moveTo>
                    <a:pt x="0" y="0"/>
                  </a:moveTo>
                  <a:lnTo>
                    <a:pt x="1542172" y="0"/>
                  </a:lnTo>
                  <a:lnTo>
                    <a:pt x="1542172" y="1503253"/>
                  </a:lnTo>
                  <a:lnTo>
                    <a:pt x="0" y="1503253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</p:sp>
        <p:sp>
          <p:nvSpPr>
            <p:cNvPr id="108" name="Google Shape;108;p2"/>
            <p:cNvSpPr txBox="1"/>
            <p:nvPr/>
          </p:nvSpPr>
          <p:spPr>
            <a:xfrm>
              <a:off x="0" y="-38100"/>
              <a:ext cx="1542172" cy="15413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2"/>
          <p:cNvSpPr txBox="1"/>
          <p:nvPr/>
        </p:nvSpPr>
        <p:spPr>
          <a:xfrm>
            <a:off x="1098411" y="6009647"/>
            <a:ext cx="8137271" cy="18078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F2483"/>
                </a:solidFill>
                <a:latin typeface="Poppins"/>
                <a:ea typeface="Poppins"/>
                <a:cs typeface="Poppins"/>
                <a:sym typeface="Poppins"/>
              </a:rPr>
              <a:t>Open the following Google Colab notebook: </a:t>
            </a:r>
            <a:r>
              <a:rPr b="0" i="0" lang="en-US" sz="1800" u="sng" cap="none" strike="noStrike">
                <a:solidFill>
                  <a:srgbClr val="2F2483"/>
                </a:solidFill>
                <a:latin typeface="Poppins"/>
                <a:ea typeface="Poppins"/>
                <a:cs typeface="Poppins"/>
                <a:sym typeface="Poppi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https://github.com/meghegde/genomic-llms-in-practice/blob/main/Workshop/Exercise_Finetuning.ipynb</a:t>
            </a:r>
            <a:endParaRPr/>
          </a:p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F2483"/>
                </a:solidFill>
                <a:latin typeface="Poppins"/>
                <a:ea typeface="Poppins"/>
                <a:cs typeface="Poppins"/>
                <a:sym typeface="Poppins"/>
              </a:rPr>
              <a:t>Follow the instructions and fill in the blanks to fine-tune TinyDNABERT.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4263697" y="5865082"/>
            <a:ext cx="6455904" cy="6105039"/>
          </a:xfrm>
          <a:custGeom>
            <a:rect b="b" l="l" r="r" t="t"/>
            <a:pathLst>
              <a:path extrusionOk="0" h="6105039" w="6455904">
                <a:moveTo>
                  <a:pt x="0" y="0"/>
                </a:moveTo>
                <a:lnTo>
                  <a:pt x="6455903" y="0"/>
                </a:lnTo>
                <a:lnTo>
                  <a:pt x="6455903" y="6105040"/>
                </a:lnTo>
                <a:lnTo>
                  <a:pt x="0" y="61050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1" name="Google Shape;111;p2"/>
          <p:cNvSpPr/>
          <p:nvPr/>
        </p:nvSpPr>
        <p:spPr>
          <a:xfrm>
            <a:off x="10523839" y="1878299"/>
            <a:ext cx="6308213" cy="5267358"/>
          </a:xfrm>
          <a:custGeom>
            <a:rect b="b" l="l" r="r" t="t"/>
            <a:pathLst>
              <a:path extrusionOk="0" h="5267358" w="6308213">
                <a:moveTo>
                  <a:pt x="0" y="0"/>
                </a:moveTo>
                <a:lnTo>
                  <a:pt x="6308213" y="0"/>
                </a:lnTo>
                <a:lnTo>
                  <a:pt x="6308213" y="5267358"/>
                </a:lnTo>
                <a:lnTo>
                  <a:pt x="0" y="52673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2" name="Google Shape;112;p2"/>
          <p:cNvSpPr txBox="1"/>
          <p:nvPr/>
        </p:nvSpPr>
        <p:spPr>
          <a:xfrm>
            <a:off x="1098411" y="1990544"/>
            <a:ext cx="8577884" cy="26442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99" u="none" cap="none" strike="noStrike">
                <a:solidFill>
                  <a:srgbClr val="2F2483"/>
                </a:solidFill>
                <a:latin typeface="Poppins Black"/>
                <a:ea typeface="Poppins Black"/>
                <a:cs typeface="Poppins Black"/>
                <a:sym typeface="Poppins Black"/>
              </a:rPr>
              <a:t>TASK 1: FINE-TUNING TINYDNABERT</a:t>
            </a:r>
            <a:endParaRPr/>
          </a:p>
        </p:txBody>
      </p:sp>
      <p:sp>
        <p:nvSpPr>
          <p:cNvPr id="113" name="Google Shape;113;p2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"/>
          <p:cNvSpPr/>
          <p:nvPr/>
        </p:nvSpPr>
        <p:spPr>
          <a:xfrm>
            <a:off x="-1605763" y="-535229"/>
            <a:ext cx="6455904" cy="6105039"/>
          </a:xfrm>
          <a:custGeom>
            <a:rect b="b" l="l" r="r" t="t"/>
            <a:pathLst>
              <a:path extrusionOk="0" h="6105039" w="6455904">
                <a:moveTo>
                  <a:pt x="0" y="0"/>
                </a:moveTo>
                <a:lnTo>
                  <a:pt x="6455903" y="0"/>
                </a:lnTo>
                <a:lnTo>
                  <a:pt x="6455903" y="6105039"/>
                </a:lnTo>
                <a:lnTo>
                  <a:pt x="0" y="610503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9" name="Google Shape;119;p3"/>
          <p:cNvSpPr/>
          <p:nvPr/>
        </p:nvSpPr>
        <p:spPr>
          <a:xfrm>
            <a:off x="14031348" y="-1785840"/>
            <a:ext cx="6455904" cy="6105039"/>
          </a:xfrm>
          <a:custGeom>
            <a:rect b="b" l="l" r="r" t="t"/>
            <a:pathLst>
              <a:path extrusionOk="0" h="6105039" w="6455904">
                <a:moveTo>
                  <a:pt x="0" y="0"/>
                </a:moveTo>
                <a:lnTo>
                  <a:pt x="6455904" y="0"/>
                </a:lnTo>
                <a:lnTo>
                  <a:pt x="6455904" y="6105039"/>
                </a:lnTo>
                <a:lnTo>
                  <a:pt x="0" y="610503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0" name="Google Shape;120;p3"/>
          <p:cNvSpPr/>
          <p:nvPr/>
        </p:nvSpPr>
        <p:spPr>
          <a:xfrm>
            <a:off x="4263697" y="5865082"/>
            <a:ext cx="6455904" cy="6105039"/>
          </a:xfrm>
          <a:custGeom>
            <a:rect b="b" l="l" r="r" t="t"/>
            <a:pathLst>
              <a:path extrusionOk="0" h="6105039" w="6455904">
                <a:moveTo>
                  <a:pt x="0" y="0"/>
                </a:moveTo>
                <a:lnTo>
                  <a:pt x="6455903" y="0"/>
                </a:lnTo>
                <a:lnTo>
                  <a:pt x="6455903" y="6105040"/>
                </a:lnTo>
                <a:lnTo>
                  <a:pt x="0" y="610504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 amt="14000"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1" name="Google Shape;121;p3"/>
          <p:cNvSpPr txBox="1"/>
          <p:nvPr/>
        </p:nvSpPr>
        <p:spPr>
          <a:xfrm>
            <a:off x="1106388" y="1819423"/>
            <a:ext cx="8577884" cy="37765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93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199" u="none" cap="none" strike="noStrike">
                <a:solidFill>
                  <a:srgbClr val="2F2483"/>
                </a:solidFill>
                <a:latin typeface="Poppins Black"/>
                <a:ea typeface="Poppins Black"/>
                <a:cs typeface="Poppins Black"/>
                <a:sym typeface="Poppins Black"/>
              </a:rPr>
              <a:t>TASK 2: FINE-TUNING NUCLEOTIDE TRANSFORMER + INTERPRETING EMBEDDINGS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1106388" y="5848052"/>
            <a:ext cx="8137200" cy="30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F2483"/>
                </a:solidFill>
                <a:latin typeface="Poppins"/>
                <a:ea typeface="Poppins"/>
                <a:cs typeface="Poppins"/>
                <a:sym typeface="Poppins"/>
              </a:rPr>
              <a:t>Open the following Google Colab notebook: </a:t>
            </a:r>
            <a:r>
              <a:rPr b="0" i="0" lang="en-US" sz="1800" u="sng" cap="none" strike="noStrike">
                <a:solidFill>
                  <a:srgbClr val="2F2483"/>
                </a:solidFill>
                <a:latin typeface="Poppins"/>
                <a:ea typeface="Poppins"/>
                <a:cs typeface="Poppins"/>
                <a:sym typeface="Poppi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https://github.com/meghegde/genomic-llms-in-practice/blob/main/Workshop/Exercise_genomic_llm_embeddings_and_interpretability.ipynb</a:t>
            </a:r>
            <a:endParaRPr/>
          </a:p>
          <a:p>
            <a:pPr indent="0" lvl="0" marL="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2F2483"/>
                </a:solidFill>
                <a:latin typeface="Poppins"/>
                <a:ea typeface="Poppins"/>
                <a:cs typeface="Poppins"/>
                <a:sym typeface="Poppins"/>
              </a:rPr>
              <a:t>Follow the instructions and fill in the blanks to fine-tune Nucleotide Transformer and interpret the embeddings.</a:t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grpSp>
        <p:nvGrpSpPr>
          <p:cNvPr id="124" name="Google Shape;124;p3"/>
          <p:cNvGrpSpPr/>
          <p:nvPr/>
        </p:nvGrpSpPr>
        <p:grpSpPr>
          <a:xfrm>
            <a:off x="12253546" y="3096688"/>
            <a:ext cx="5153154" cy="5150417"/>
            <a:chOff x="0" y="-38100"/>
            <a:chExt cx="1542172" cy="1541353"/>
          </a:xfrm>
        </p:grpSpPr>
        <p:sp>
          <p:nvSpPr>
            <p:cNvPr id="125" name="Google Shape;125;p3"/>
            <p:cNvSpPr/>
            <p:nvPr/>
          </p:nvSpPr>
          <p:spPr>
            <a:xfrm>
              <a:off x="0" y="0"/>
              <a:ext cx="1542172" cy="1503253"/>
            </a:xfrm>
            <a:custGeom>
              <a:rect b="b" l="l" r="r" t="t"/>
              <a:pathLst>
                <a:path extrusionOk="0" h="1503253" w="1542172">
                  <a:moveTo>
                    <a:pt x="0" y="0"/>
                  </a:moveTo>
                  <a:lnTo>
                    <a:pt x="1542172" y="0"/>
                  </a:lnTo>
                  <a:lnTo>
                    <a:pt x="1542172" y="1503253"/>
                  </a:lnTo>
                  <a:lnTo>
                    <a:pt x="0" y="1503253"/>
                  </a:ln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</p:sp>
        <p:sp>
          <p:nvSpPr>
            <p:cNvPr id="126" name="Google Shape;126;p3"/>
            <p:cNvSpPr txBox="1"/>
            <p:nvPr/>
          </p:nvSpPr>
          <p:spPr>
            <a:xfrm>
              <a:off x="0" y="-38100"/>
              <a:ext cx="1542172" cy="154135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0800" lIns="50800" spcFirstLastPara="1" rIns="50800" wrap="square" tIns="50800">
              <a:noAutofit/>
            </a:bodyPr>
            <a:lstStyle/>
            <a:p>
              <a:pPr indent="0" lvl="0" marL="0" marR="0" rtl="0" algn="ctr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7" name="Google Shape;127;p3"/>
          <p:cNvSpPr/>
          <p:nvPr/>
        </p:nvSpPr>
        <p:spPr>
          <a:xfrm>
            <a:off x="10531816" y="1716704"/>
            <a:ext cx="6308213" cy="5267358"/>
          </a:xfrm>
          <a:custGeom>
            <a:rect b="b" l="l" r="r" t="t"/>
            <a:pathLst>
              <a:path extrusionOk="0" h="5267358" w="6308213">
                <a:moveTo>
                  <a:pt x="0" y="0"/>
                </a:moveTo>
                <a:lnTo>
                  <a:pt x="6308213" y="0"/>
                </a:lnTo>
                <a:lnTo>
                  <a:pt x="6308213" y="5267358"/>
                </a:lnTo>
                <a:lnTo>
                  <a:pt x="0" y="52673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