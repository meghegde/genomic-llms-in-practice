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Poppins Ultra-Bold" charset="1" panose="00000900000000000000"/>
      <p:regular r:id="rId10"/>
    </p:embeddedFont>
    <p:embeddedFont>
      <p:font typeface="Canva Sans Bold" charset="1" panose="020B0803030501040103"/>
      <p:regular r:id="rId11"/>
    </p:embeddedFont>
    <p:embeddedFont>
      <p:font typeface="Poppins Bold" charset="1" panose="00000800000000000000"/>
      <p:regular r:id="rId12"/>
    </p:embeddedFont>
    <p:embeddedFont>
      <p:font typeface="Canva Sans" charset="1" panose="020B0503030501040103"/>
      <p:regular r:id="rId13"/>
    </p:embeddedFont>
    <p:embeddedFont>
      <p:font typeface="Poppins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github.com/meghegde/genomic-llms-in-practice/blob/main/Workshop/Exercise_Finetuning.ipynb" TargetMode="External" Type="http://schemas.openxmlformats.org/officeDocument/2006/relationships/hyperlink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github.com/meghegde/genomic-llms-in-practice/blob/main/Workshop/Exercise_genomic_llm_embeddings_and_interpretability.ipynb" TargetMode="External" Type="http://schemas.openxmlformats.org/officeDocument/2006/relationships/hyperlink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6F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0094" y="-202382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40"/>
                </a:lnTo>
                <a:lnTo>
                  <a:pt x="0" y="6105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97094" y="4798581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46136" y="4798581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49184" y="5604810"/>
            <a:ext cx="9110393" cy="806827"/>
            <a:chOff x="0" y="0"/>
            <a:chExt cx="2399445" cy="2124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99445" cy="212498"/>
            </a:xfrm>
            <a:custGeom>
              <a:avLst/>
              <a:gdLst/>
              <a:ahLst/>
              <a:cxnLst/>
              <a:rect r="r" b="b" t="t" l="l"/>
              <a:pathLst>
                <a:path h="212498" w="2399445">
                  <a:moveTo>
                    <a:pt x="42489" y="0"/>
                  </a:moveTo>
                  <a:lnTo>
                    <a:pt x="2356956" y="0"/>
                  </a:lnTo>
                  <a:cubicBezTo>
                    <a:pt x="2380422" y="0"/>
                    <a:pt x="2399445" y="19023"/>
                    <a:pt x="2399445" y="42489"/>
                  </a:cubicBezTo>
                  <a:lnTo>
                    <a:pt x="2399445" y="170008"/>
                  </a:lnTo>
                  <a:cubicBezTo>
                    <a:pt x="2399445" y="193475"/>
                    <a:pt x="2380422" y="212498"/>
                    <a:pt x="2356956" y="212498"/>
                  </a:cubicBezTo>
                  <a:lnTo>
                    <a:pt x="42489" y="212498"/>
                  </a:lnTo>
                  <a:cubicBezTo>
                    <a:pt x="19023" y="212498"/>
                    <a:pt x="0" y="193475"/>
                    <a:pt x="0" y="170008"/>
                  </a:cubicBezTo>
                  <a:lnTo>
                    <a:pt x="0" y="42489"/>
                  </a:lnTo>
                  <a:cubicBezTo>
                    <a:pt x="0" y="19023"/>
                    <a:pt x="19023" y="0"/>
                    <a:pt x="42489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399445" cy="250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028432" y="3252307"/>
            <a:ext cx="10704282" cy="2230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77"/>
              </a:lnSpc>
            </a:pPr>
            <a:r>
              <a:rPr lang="en-US" b="true" sz="8699">
                <a:solidFill>
                  <a:srgbClr val="2F248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GENOMIC LLMS IN PRACTICE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580186" y="-202382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40"/>
                </a:lnTo>
                <a:lnTo>
                  <a:pt x="0" y="6105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28432" y="7943378"/>
            <a:ext cx="1449718" cy="1449718"/>
          </a:xfrm>
          <a:custGeom>
            <a:avLst/>
            <a:gdLst/>
            <a:ahLst/>
            <a:cxnLst/>
            <a:rect r="r" b="b" t="t" l="l"/>
            <a:pathLst>
              <a:path h="1449718" w="1449718">
                <a:moveTo>
                  <a:pt x="0" y="0"/>
                </a:moveTo>
                <a:lnTo>
                  <a:pt x="1449719" y="0"/>
                </a:lnTo>
                <a:lnTo>
                  <a:pt x="1449719" y="1449718"/>
                </a:lnTo>
                <a:lnTo>
                  <a:pt x="0" y="1449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694738" y="7943378"/>
            <a:ext cx="4232755" cy="1449718"/>
          </a:xfrm>
          <a:custGeom>
            <a:avLst/>
            <a:gdLst/>
            <a:ahLst/>
            <a:cxnLst/>
            <a:rect r="r" b="b" t="t" l="l"/>
            <a:pathLst>
              <a:path h="1449718" w="4232755">
                <a:moveTo>
                  <a:pt x="0" y="0"/>
                </a:moveTo>
                <a:lnTo>
                  <a:pt x="4232755" y="0"/>
                </a:lnTo>
                <a:lnTo>
                  <a:pt x="4232755" y="1449718"/>
                </a:lnTo>
                <a:lnTo>
                  <a:pt x="0" y="1449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849184" y="6679350"/>
            <a:ext cx="9110393" cy="806827"/>
            <a:chOff x="0" y="0"/>
            <a:chExt cx="2399445" cy="2124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99445" cy="212498"/>
            </a:xfrm>
            <a:custGeom>
              <a:avLst/>
              <a:gdLst/>
              <a:ahLst/>
              <a:cxnLst/>
              <a:rect r="r" b="b" t="t" l="l"/>
              <a:pathLst>
                <a:path h="212498" w="2399445">
                  <a:moveTo>
                    <a:pt x="42489" y="0"/>
                  </a:moveTo>
                  <a:lnTo>
                    <a:pt x="2356956" y="0"/>
                  </a:lnTo>
                  <a:cubicBezTo>
                    <a:pt x="2380422" y="0"/>
                    <a:pt x="2399445" y="19023"/>
                    <a:pt x="2399445" y="42489"/>
                  </a:cubicBezTo>
                  <a:lnTo>
                    <a:pt x="2399445" y="170008"/>
                  </a:lnTo>
                  <a:cubicBezTo>
                    <a:pt x="2399445" y="193475"/>
                    <a:pt x="2380422" y="212498"/>
                    <a:pt x="2356956" y="212498"/>
                  </a:cubicBezTo>
                  <a:lnTo>
                    <a:pt x="42489" y="212498"/>
                  </a:lnTo>
                  <a:cubicBezTo>
                    <a:pt x="19023" y="212498"/>
                    <a:pt x="0" y="193475"/>
                    <a:pt x="0" y="170008"/>
                  </a:cubicBezTo>
                  <a:lnTo>
                    <a:pt x="0" y="42489"/>
                  </a:lnTo>
                  <a:cubicBezTo>
                    <a:pt x="0" y="19023"/>
                    <a:pt x="19023" y="0"/>
                    <a:pt x="42489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399445" cy="250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2F2483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by Megha Hegde, Shashank Ravichandran, Jean-Christophe Nebel, Ragothaman Yennamalli, Farzana Rahman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453806" y="492516"/>
            <a:ext cx="2269069" cy="2269069"/>
          </a:xfrm>
          <a:custGeom>
            <a:avLst/>
            <a:gdLst/>
            <a:ahLst/>
            <a:cxnLst/>
            <a:rect r="r" b="b" t="t" l="l"/>
            <a:pathLst>
              <a:path h="2269069" w="2269069">
                <a:moveTo>
                  <a:pt x="0" y="0"/>
                </a:moveTo>
                <a:lnTo>
                  <a:pt x="2269069" y="0"/>
                </a:lnTo>
                <a:lnTo>
                  <a:pt x="2269069" y="2269069"/>
                </a:lnTo>
                <a:lnTo>
                  <a:pt x="0" y="22690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30974" y="5770099"/>
            <a:ext cx="855275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F2483"/>
                </a:solidFill>
                <a:latin typeface="Poppins Bold"/>
                <a:ea typeface="Poppins Bold"/>
                <a:cs typeface="Poppins Bold"/>
                <a:sym typeface="Poppins Bold"/>
              </a:rPr>
              <a:t>A Hands-On Introduction With Huggingface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245569" y="3385594"/>
            <a:ext cx="5153154" cy="5023106"/>
            <a:chOff x="0" y="0"/>
            <a:chExt cx="1542172" cy="15032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2172" cy="1503253"/>
            </a:xfrm>
            <a:custGeom>
              <a:avLst/>
              <a:gdLst/>
              <a:ahLst/>
              <a:cxnLst/>
              <a:rect r="r" b="b" t="t" l="l"/>
              <a:pathLst>
                <a:path h="1503253" w="1542172">
                  <a:moveTo>
                    <a:pt x="0" y="0"/>
                  </a:moveTo>
                  <a:lnTo>
                    <a:pt x="1542172" y="0"/>
                  </a:lnTo>
                  <a:lnTo>
                    <a:pt x="1542172" y="1503253"/>
                  </a:lnTo>
                  <a:lnTo>
                    <a:pt x="0" y="1503253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42172" cy="1541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98411" y="6009647"/>
            <a:ext cx="8137271" cy="180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1800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Open the following Google Colab notebook: </a:t>
            </a:r>
            <a:r>
              <a:rPr lang="en-US" sz="1800" u="sng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meghegde/genomic-llms-in-practice/blob/main/Workshop/Exercise_Finetuning.ipynb"/>
              </a:rPr>
              <a:t>https://github.com/meghegde/genomic-llms-in-practice/blob/main/Workshop/Exercise_Finetuning.ipynb</a:t>
            </a:r>
          </a:p>
          <a:p>
            <a:pPr algn="l">
              <a:lnSpc>
                <a:spcPts val="3600"/>
              </a:lnSpc>
            </a:pPr>
            <a:r>
              <a:rPr lang="en-US" sz="1800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Follow the instructions and fill in the blanks to fine-tune TinyDNABERT.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263697" y="5865082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40"/>
                </a:lnTo>
                <a:lnTo>
                  <a:pt x="0" y="6105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523839" y="1878299"/>
            <a:ext cx="6308213" cy="5267358"/>
          </a:xfrm>
          <a:custGeom>
            <a:avLst/>
            <a:gdLst/>
            <a:ahLst/>
            <a:cxnLst/>
            <a:rect r="r" b="b" t="t" l="l"/>
            <a:pathLst>
              <a:path h="5267358" w="6308213">
                <a:moveTo>
                  <a:pt x="0" y="0"/>
                </a:moveTo>
                <a:lnTo>
                  <a:pt x="6308213" y="0"/>
                </a:lnTo>
                <a:lnTo>
                  <a:pt x="6308213" y="5267358"/>
                </a:lnTo>
                <a:lnTo>
                  <a:pt x="0" y="52673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98411" y="1990544"/>
            <a:ext cx="8577884" cy="264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3"/>
              </a:lnSpc>
            </a:pPr>
            <a:r>
              <a:rPr lang="en-US" b="true" sz="7099">
                <a:solidFill>
                  <a:srgbClr val="2F248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TASK 1: FINE-TUNING TINYDNABERT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5763" y="-535229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31348" y="-1785840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4" y="0"/>
                </a:lnTo>
                <a:lnTo>
                  <a:pt x="6455904" y="6105039"/>
                </a:lnTo>
                <a:lnTo>
                  <a:pt x="0" y="6105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63697" y="5865082"/>
            <a:ext cx="6455904" cy="6105039"/>
          </a:xfrm>
          <a:custGeom>
            <a:avLst/>
            <a:gdLst/>
            <a:ahLst/>
            <a:cxnLst/>
            <a:rect r="r" b="b" t="t" l="l"/>
            <a:pathLst>
              <a:path h="6105039" w="6455904">
                <a:moveTo>
                  <a:pt x="0" y="0"/>
                </a:moveTo>
                <a:lnTo>
                  <a:pt x="6455903" y="0"/>
                </a:lnTo>
                <a:lnTo>
                  <a:pt x="6455903" y="6105040"/>
                </a:lnTo>
                <a:lnTo>
                  <a:pt x="0" y="6105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06388" y="1819423"/>
            <a:ext cx="8577884" cy="377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27"/>
              </a:lnSpc>
            </a:pPr>
            <a:r>
              <a:rPr lang="en-US" b="true" sz="6199">
                <a:solidFill>
                  <a:srgbClr val="2F248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TASK 2: FINE-TUNING NUCLEOTIDE TRANSFORMER + INTERPRETING EMBEDDINGS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6388" y="5848052"/>
            <a:ext cx="8137271" cy="272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1800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Open the following Google Colab notebook: </a:t>
            </a:r>
            <a:r>
              <a:rPr lang="en-US" sz="1800" u="sng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meghegde/genomic-llms-in-practice/blob/main/Workshop/Exercise_genomic_llm_embeddings_and_interpretability.ipynb"/>
              </a:rPr>
              <a:t>https://github.com/meghegde/genomic-llms-in-practice/blob/main/Workshop/Exercise_genomic_llm_embeddings_and_interpretability.ipynb</a:t>
            </a:r>
          </a:p>
          <a:p>
            <a:pPr algn="just">
              <a:lnSpc>
                <a:spcPts val="3600"/>
              </a:lnSpc>
            </a:pPr>
            <a:r>
              <a:rPr lang="en-US" sz="1800">
                <a:solidFill>
                  <a:srgbClr val="2F2483"/>
                </a:solidFill>
                <a:latin typeface="Poppins"/>
                <a:ea typeface="Poppins"/>
                <a:cs typeface="Poppins"/>
                <a:sym typeface="Poppins"/>
              </a:rPr>
              <a:t>Follow the instructions and fill in the blanks to perform fine-tune Nucleotide Transformer and interpret the embeddings.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253546" y="3223999"/>
            <a:ext cx="5153154" cy="5023106"/>
            <a:chOff x="0" y="0"/>
            <a:chExt cx="1542172" cy="15032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2172" cy="1503253"/>
            </a:xfrm>
            <a:custGeom>
              <a:avLst/>
              <a:gdLst/>
              <a:ahLst/>
              <a:cxnLst/>
              <a:rect r="r" b="b" t="t" l="l"/>
              <a:pathLst>
                <a:path h="1503253" w="1542172">
                  <a:moveTo>
                    <a:pt x="0" y="0"/>
                  </a:moveTo>
                  <a:lnTo>
                    <a:pt x="1542172" y="0"/>
                  </a:lnTo>
                  <a:lnTo>
                    <a:pt x="1542172" y="1503253"/>
                  </a:lnTo>
                  <a:lnTo>
                    <a:pt x="0" y="1503253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42172" cy="1541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531816" y="1716704"/>
            <a:ext cx="6308213" cy="5267358"/>
          </a:xfrm>
          <a:custGeom>
            <a:avLst/>
            <a:gdLst/>
            <a:ahLst/>
            <a:cxnLst/>
            <a:rect r="r" b="b" t="t" l="l"/>
            <a:pathLst>
              <a:path h="5267358" w="6308213">
                <a:moveTo>
                  <a:pt x="0" y="0"/>
                </a:moveTo>
                <a:lnTo>
                  <a:pt x="6308213" y="0"/>
                </a:lnTo>
                <a:lnTo>
                  <a:pt x="6308213" y="5267358"/>
                </a:lnTo>
                <a:lnTo>
                  <a:pt x="0" y="52673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DAHK27CXOuQ</dc:identifier>
  <dcterms:modified xsi:type="dcterms:W3CDTF">2011-08-01T06:04:30Z</dcterms:modified>
  <cp:revision>1</cp:revision>
  <dc:title>3_Workshop_Briefing</dc:title>
</cp:coreProperties>
</file>