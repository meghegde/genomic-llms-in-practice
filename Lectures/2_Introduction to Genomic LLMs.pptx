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5"/>
  </p:notesMasterIdLst>
  <p:sldIdLst>
    <p:sldId id="321" r:id="rId2"/>
    <p:sldId id="256" r:id="rId3"/>
    <p:sldId id="290" r:id="rId4"/>
    <p:sldId id="294" r:id="rId5"/>
    <p:sldId id="295" r:id="rId6"/>
    <p:sldId id="296" r:id="rId7"/>
    <p:sldId id="298" r:id="rId8"/>
    <p:sldId id="297" r:id="rId9"/>
    <p:sldId id="308" r:id="rId10"/>
    <p:sldId id="265" r:id="rId11"/>
    <p:sldId id="266" r:id="rId12"/>
    <p:sldId id="306" r:id="rId13"/>
    <p:sldId id="318" r:id="rId14"/>
    <p:sldId id="319" r:id="rId15"/>
    <p:sldId id="299" r:id="rId16"/>
    <p:sldId id="315" r:id="rId17"/>
    <p:sldId id="314" r:id="rId18"/>
    <p:sldId id="313" r:id="rId19"/>
    <p:sldId id="316" r:id="rId20"/>
    <p:sldId id="305" r:id="rId21"/>
    <p:sldId id="276" r:id="rId22"/>
    <p:sldId id="292" r:id="rId23"/>
    <p:sldId id="320" r:id="rId24"/>
  </p:sldIdLst>
  <p:sldSz cx="12192000" cy="6858000"/>
  <p:notesSz cx="6858000" cy="9144000"/>
  <p:embeddedFontLst>
    <p:embeddedFont>
      <p:font typeface="Cambria Math" panose="02040503050406030204" pitchFamily="18"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1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3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84AB3-2AFA-46EE-985E-1C5C73C9B119}" v="554" dt="2024-07-08T17:53:08.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27" autoAdjust="0"/>
  </p:normalViewPr>
  <p:slideViewPr>
    <p:cSldViewPr snapToGrid="0">
      <p:cViewPr varScale="1">
        <p:scale>
          <a:sx n="100" d="100"/>
          <a:sy n="100" d="100"/>
        </p:scale>
        <p:origin x="954" y="78"/>
      </p:cViewPr>
      <p:guideLst>
        <p:guide orient="horz" pos="261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7080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CD594-8498-B679-537E-507E6DDE8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66375-AFB4-FE1F-8944-38361EE2F3D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F0B63BF-FD10-0A34-1A26-9A4F77BDBE93}"/>
                  </a:ext>
                </a:extLst>
              </p:cNvPr>
              <p:cNvSpPr>
                <a:spLocks noGrp="1"/>
              </p:cNvSpPr>
              <p:nvPr>
                <p:ph type="body" idx="1"/>
              </p:nvPr>
            </p:nvSpPr>
            <p:spPr/>
            <p:txBody>
              <a:bodyPr/>
              <a:lstStyle/>
              <a:p>
                <a:pPr fontAlgn="t"/>
                <a:r>
                  <a:rPr lang="en-GB" sz="1200" b="0" i="0" u="none" strike="noStrike" cap="none" dirty="0">
                    <a:solidFill>
                      <a:schemeClr val="dk1"/>
                    </a:solidFill>
                    <a:effectLst/>
                    <a:latin typeface="Calibri"/>
                    <a:ea typeface="Calibri"/>
                    <a:cs typeface="Calibri"/>
                    <a:sym typeface="Calibri"/>
                  </a:rPr>
                  <a:t>The </a:t>
                </a:r>
                <a:r>
                  <a:rPr lang="en-GB" sz="1200" b="1" i="0" u="none" strike="noStrike" cap="none" dirty="0">
                    <a:solidFill>
                      <a:schemeClr val="dk1"/>
                    </a:solidFill>
                    <a:effectLst/>
                    <a:latin typeface="Calibri"/>
                    <a:ea typeface="Calibri"/>
                    <a:cs typeface="Calibri"/>
                    <a:sym typeface="Calibri"/>
                  </a:rPr>
                  <a:t>F1 score</a:t>
                </a:r>
                <a:r>
                  <a:rPr lang="en-GB" sz="1200" b="0" i="0" u="none" strike="noStrike" cap="none" dirty="0">
                    <a:solidFill>
                      <a:schemeClr val="dk1"/>
                    </a:solidFill>
                    <a:effectLst/>
                    <a:latin typeface="Calibri"/>
                    <a:ea typeface="Calibri"/>
                    <a:cs typeface="Calibri"/>
                    <a:sym typeface="Calibri"/>
                  </a:rPr>
                  <a:t> is the </a:t>
                </a:r>
                <a:r>
                  <a:rPr lang="en-GB" sz="1200" b="1" i="0" u="none" strike="noStrike" cap="none" dirty="0">
                    <a:solidFill>
                      <a:schemeClr val="dk1"/>
                    </a:solidFill>
                    <a:effectLst/>
                    <a:latin typeface="Calibri"/>
                    <a:ea typeface="Calibri"/>
                    <a:cs typeface="Calibri"/>
                    <a:sym typeface="Calibri"/>
                  </a:rPr>
                  <a:t>harmonic mean of precision and recall</a:t>
                </a:r>
                <a:r>
                  <a:rPr lang="en-GB" sz="1200" b="0" i="0" u="none" strike="noStrike" cap="none" dirty="0">
                    <a:solidFill>
                      <a:schemeClr val="dk1"/>
                    </a:solidFill>
                    <a:effectLst/>
                    <a:latin typeface="Calibri"/>
                    <a:ea typeface="Calibri"/>
                    <a:cs typeface="Calibri"/>
                    <a:sym typeface="Calibri"/>
                  </a:rPr>
                  <a:t>:</a:t>
                </a:r>
              </a:p>
              <a:p>
                <a:pPr/>
                <a14:m>
                  <m:oMathPara xmlns:m="http://schemas.openxmlformats.org/officeDocument/2006/math">
                    <m:oMath>
                      <m:r>
                        <a:rPr lang="en-GB" sz="1200" b="0" i="1" u="none" strike="noStrike" cap="none">
                          <a:solidFill>
                            <a:schemeClr val="dk1"/>
                          </a:solidFill>
                          <a:latin typeface="Cambria Math" panose="02040503050406030204" pitchFamily="18" charset="0"/>
                          <a:ea typeface="Calibri"/>
                          <a:cs typeface="Calibri"/>
                          <a:sym typeface="Calibri"/>
                        </a:rPr>
                        <m:t>𝐹</m:t>
                      </m:r>
                      <m:r>
                        <a:rPr lang="en-GB" sz="1200" b="0" i="0" u="none" strike="noStrike" cap="none">
                          <a:solidFill>
                            <a:schemeClr val="dk1"/>
                          </a:solidFill>
                          <a:latin typeface="Cambria Math" panose="02040503050406030204" pitchFamily="18" charset="0"/>
                          <a:ea typeface="Calibri"/>
                          <a:cs typeface="Calibri"/>
                          <a:sym typeface="Calibri"/>
                        </a:rPr>
                        <m:t>1=2×</m:t>
                      </m:r>
                      <m:f>
                        <m:fPr>
                          <m:ctrlPr>
                            <a:rPr lang="en-GB" sz="1200" b="0" i="0" u="none" strike="noStrike" cap="none">
                              <a:solidFill>
                                <a:schemeClr val="dk1"/>
                              </a:solidFill>
                              <a:latin typeface="Calibri"/>
                              <a:ea typeface="Calibri"/>
                              <a:cs typeface="Calibri"/>
                              <a:sym typeface="Calibri"/>
                            </a:rPr>
                          </m:ctrlPr>
                        </m:fPr>
                        <m:num>
                          <m:r>
                            <m:rPr>
                              <m:nor/>
                            </m:rPr>
                            <a:rPr lang="en-GB" sz="1200" b="0" i="0" u="none" strike="noStrike" cap="none">
                              <a:solidFill>
                                <a:schemeClr val="dk1"/>
                              </a:solidFill>
                              <a:latin typeface="Calibri"/>
                              <a:ea typeface="Calibri"/>
                              <a:cs typeface="Calibri"/>
                              <a:sym typeface="Calibri"/>
                            </a:rPr>
                            <m:t>Precision</m:t>
                          </m:r>
                          <m:r>
                            <a:rPr lang="en-GB" sz="1200" b="0" i="0" u="none" strike="noStrike" cap="none">
                              <a:solidFill>
                                <a:schemeClr val="dk1"/>
                              </a:solidFill>
                              <a:latin typeface="Cambria Math" panose="02040503050406030204" pitchFamily="18" charset="0"/>
                              <a:ea typeface="Calibri"/>
                              <a:cs typeface="Calibri"/>
                              <a:sym typeface="Calibri"/>
                            </a:rPr>
                            <m:t>×</m:t>
                          </m:r>
                          <m:r>
                            <m:rPr>
                              <m:nor/>
                            </m:rPr>
                            <a:rPr lang="en-GB" sz="1200" b="0" i="0" u="none" strike="noStrike" cap="none">
                              <a:solidFill>
                                <a:schemeClr val="dk1"/>
                              </a:solidFill>
                              <a:latin typeface="Calibri"/>
                              <a:ea typeface="Calibri"/>
                              <a:cs typeface="Calibri"/>
                              <a:sym typeface="Calibri"/>
                            </a:rPr>
                            <m:t>Recall</m:t>
                          </m:r>
                        </m:num>
                        <m:den>
                          <m:r>
                            <m:rPr>
                              <m:nor/>
                            </m:rPr>
                            <a:rPr lang="en-GB" sz="1200" b="0" i="0" u="none" strike="noStrike" cap="none">
                              <a:solidFill>
                                <a:schemeClr val="dk1"/>
                              </a:solidFill>
                              <a:latin typeface="Calibri"/>
                              <a:ea typeface="Calibri"/>
                              <a:cs typeface="Calibri"/>
                              <a:sym typeface="Calibri"/>
                            </a:rPr>
                            <m:t>Precision</m:t>
                          </m:r>
                          <m:r>
                            <a:rPr lang="en-GB" sz="1200" b="0" i="0" u="none" strike="noStrike" cap="none">
                              <a:solidFill>
                                <a:schemeClr val="dk1"/>
                              </a:solidFill>
                              <a:latin typeface="Cambria Math" panose="02040503050406030204" pitchFamily="18" charset="0"/>
                              <a:ea typeface="Calibri"/>
                              <a:cs typeface="Calibri"/>
                              <a:sym typeface="Calibri"/>
                            </a:rPr>
                            <m:t>+</m:t>
                          </m:r>
                          <m:r>
                            <m:rPr>
                              <m:nor/>
                            </m:rPr>
                            <a:rPr lang="en-GB" sz="1200" b="0" i="0" u="none" strike="noStrike" cap="none">
                              <a:solidFill>
                                <a:schemeClr val="dk1"/>
                              </a:solidFill>
                              <a:latin typeface="Calibri"/>
                              <a:ea typeface="Calibri"/>
                              <a:cs typeface="Calibri"/>
                              <a:sym typeface="Calibri"/>
                            </a:rPr>
                            <m:t>Recall</m:t>
                          </m:r>
                        </m:den>
                      </m:f>
                    </m:oMath>
                  </m:oMathPara>
                </a14:m>
                <a:endParaRPr lang="ar-AE" b="0" dirty="0"/>
              </a:p>
              <a:p>
                <a:pPr fontAlgn="t"/>
                <a:r>
                  <a:rPr lang="en-GB" sz="1200" b="0" i="0" u="none" strike="noStrike" cap="none" dirty="0">
                    <a:solidFill>
                      <a:schemeClr val="dk1"/>
                    </a:solidFill>
                    <a:effectLst/>
                    <a:latin typeface="Calibri"/>
                    <a:ea typeface="Calibri"/>
                    <a:cs typeface="Calibri"/>
                    <a:sym typeface="Calibri"/>
                  </a:rPr>
                  <a:t>Where:</a:t>
                </a:r>
              </a:p>
              <a:p>
                <a:pPr fontAlgn="t"/>
                <a:r>
                  <a:rPr lang="en-GB" sz="1200" b="1" i="0" u="none" strike="noStrike" cap="none" dirty="0">
                    <a:solidFill>
                      <a:schemeClr val="dk1"/>
                    </a:solidFill>
                    <a:effectLst/>
                    <a:latin typeface="Calibri"/>
                    <a:ea typeface="Calibri"/>
                    <a:cs typeface="Calibri"/>
                    <a:sym typeface="Calibri"/>
                  </a:rPr>
                  <a:t>Precision</a:t>
                </a:r>
                <a:r>
                  <a:rPr lang="en-GB" sz="1200" b="0" i="0" u="none" strike="noStrike" cap="none" dirty="0">
                    <a:solidFill>
                      <a:schemeClr val="dk1"/>
                    </a:solidFill>
                    <a:effectLst/>
                    <a:latin typeface="Calibri"/>
                    <a:ea typeface="Calibri"/>
                    <a:cs typeface="Calibri"/>
                    <a:sym typeface="Calibri"/>
                  </a:rPr>
                  <a:t> = How many predicted positives are actually correct</a:t>
                </a:r>
              </a:p>
              <a:p>
                <a:pPr fontAlgn="t"/>
                <a:r>
                  <a:rPr lang="en-GB" sz="1200" b="1" i="0" u="none" strike="noStrike" cap="none" dirty="0">
                    <a:solidFill>
                      <a:schemeClr val="dk1"/>
                    </a:solidFill>
                    <a:effectLst/>
                    <a:latin typeface="Calibri"/>
                    <a:ea typeface="Calibri"/>
                    <a:cs typeface="Calibri"/>
                    <a:sym typeface="Calibri"/>
                  </a:rPr>
                  <a:t>Recall</a:t>
                </a:r>
                <a:r>
                  <a:rPr lang="en-GB" sz="1200" b="0" i="0" u="none" strike="noStrike" cap="none" dirty="0">
                    <a:solidFill>
                      <a:schemeClr val="dk1"/>
                    </a:solidFill>
                    <a:effectLst/>
                    <a:latin typeface="Calibri"/>
                    <a:ea typeface="Calibri"/>
                    <a:cs typeface="Calibri"/>
                    <a:sym typeface="Calibri"/>
                  </a:rPr>
                  <a:t> = How many actual positives were correctly found</a:t>
                </a:r>
              </a:p>
              <a:p>
                <a:endParaRPr lang="en-GB" dirty="0"/>
              </a:p>
            </p:txBody>
          </p:sp>
        </mc:Choice>
        <mc:Fallback xmlns="">
          <p:sp>
            <p:nvSpPr>
              <p:cNvPr id="3" name="Notes Placeholder 2">
                <a:extLst>
                  <a:ext uri="{FF2B5EF4-FFF2-40B4-BE49-F238E27FC236}">
                    <a16:creationId xmlns:a16="http://schemas.microsoft.com/office/drawing/2014/main" id="{5F0B63BF-FD10-0A34-1A26-9A4F77BDBE93}"/>
                  </a:ext>
                </a:extLst>
              </p:cNvPr>
              <p:cNvSpPr>
                <a:spLocks noGrp="1"/>
              </p:cNvSpPr>
              <p:nvPr>
                <p:ph type="body" idx="1"/>
              </p:nvPr>
            </p:nvSpPr>
            <p:spPr/>
            <p:txBody>
              <a:bodyPr/>
              <a:lstStyle/>
              <a:p>
                <a:pPr fontAlgn="t"/>
                <a:r>
                  <a:rPr lang="en-GB" sz="1200" b="0" i="0" u="none" strike="noStrike" cap="none" dirty="0">
                    <a:solidFill>
                      <a:schemeClr val="dk1"/>
                    </a:solidFill>
                    <a:effectLst/>
                    <a:latin typeface="Calibri"/>
                    <a:ea typeface="Calibri"/>
                    <a:cs typeface="Calibri"/>
                    <a:sym typeface="Calibri"/>
                  </a:rPr>
                  <a:t>The </a:t>
                </a:r>
                <a:r>
                  <a:rPr lang="en-GB" sz="1200" b="1" i="0" u="none" strike="noStrike" cap="none" dirty="0">
                    <a:solidFill>
                      <a:schemeClr val="dk1"/>
                    </a:solidFill>
                    <a:effectLst/>
                    <a:latin typeface="Calibri"/>
                    <a:ea typeface="Calibri"/>
                    <a:cs typeface="Calibri"/>
                    <a:sym typeface="Calibri"/>
                  </a:rPr>
                  <a:t>F1 score</a:t>
                </a:r>
                <a:r>
                  <a:rPr lang="en-GB" sz="1200" b="0" i="0" u="none" strike="noStrike" cap="none" dirty="0">
                    <a:solidFill>
                      <a:schemeClr val="dk1"/>
                    </a:solidFill>
                    <a:effectLst/>
                    <a:latin typeface="Calibri"/>
                    <a:ea typeface="Calibri"/>
                    <a:cs typeface="Calibri"/>
                    <a:sym typeface="Calibri"/>
                  </a:rPr>
                  <a:t> is the </a:t>
                </a:r>
                <a:r>
                  <a:rPr lang="en-GB" sz="1200" b="1" i="0" u="none" strike="noStrike" cap="none" dirty="0">
                    <a:solidFill>
                      <a:schemeClr val="dk1"/>
                    </a:solidFill>
                    <a:effectLst/>
                    <a:latin typeface="Calibri"/>
                    <a:ea typeface="Calibri"/>
                    <a:cs typeface="Calibri"/>
                    <a:sym typeface="Calibri"/>
                  </a:rPr>
                  <a:t>harmonic mean of precision and recall</a:t>
                </a:r>
                <a:r>
                  <a:rPr lang="en-GB" sz="1200" b="0" i="0" u="none" strike="noStrike" cap="none" dirty="0">
                    <a:solidFill>
                      <a:schemeClr val="dk1"/>
                    </a:solidFill>
                    <a:effectLst/>
                    <a:latin typeface="Calibri"/>
                    <a:ea typeface="Calibri"/>
                    <a:cs typeface="Calibri"/>
                    <a:sym typeface="Calibri"/>
                  </a:rPr>
                  <a:t>:</a:t>
                </a:r>
              </a:p>
              <a:p>
                <a:r>
                  <a:rPr lang="en-GB" sz="1200" b="0" i="0" u="none" strike="noStrike" cap="none">
                    <a:solidFill>
                      <a:schemeClr val="dk1"/>
                    </a:solidFill>
                    <a:latin typeface="Calibri"/>
                    <a:ea typeface="Calibri"/>
                    <a:cs typeface="Calibri"/>
                    <a:sym typeface="Calibri"/>
                  </a:rPr>
                  <a:t>𝐹1=2×</a:t>
                </a:r>
                <a:r>
                  <a:rPr lang="ar-AE" sz="1200" b="0" i="0" u="none" strike="noStrike" cap="none">
                    <a:solidFill>
                      <a:schemeClr val="dk1"/>
                    </a:solidFill>
                    <a:latin typeface="Calibri"/>
                    <a:ea typeface="Calibri"/>
                    <a:cs typeface="Calibri"/>
                    <a:sym typeface="Calibri"/>
                  </a:rPr>
                  <a:t>(</a:t>
                </a:r>
                <a:r>
                  <a:rPr lang="en-GB" sz="1200" b="0" i="0" u="none" strike="noStrike" cap="none">
                    <a:solidFill>
                      <a:schemeClr val="dk1"/>
                    </a:solidFill>
                    <a:latin typeface="Calibri"/>
                    <a:ea typeface="Calibri"/>
                    <a:cs typeface="Calibri"/>
                    <a:sym typeface="Calibri"/>
                  </a:rPr>
                  <a:t>"Precision" ×"Recall</a:t>
                </a:r>
                <a:r>
                  <a:rPr lang="ar-AE" sz="1200" b="0" i="0" u="none" strike="noStrike" cap="none">
                    <a:solidFill>
                      <a:schemeClr val="dk1"/>
                    </a:solidFill>
                    <a:latin typeface="Calibri"/>
                    <a:ea typeface="Calibri"/>
                    <a:cs typeface="Calibri"/>
                    <a:sym typeface="Calibri"/>
                  </a:rPr>
                  <a:t>" )/(</a:t>
                </a:r>
                <a:r>
                  <a:rPr lang="en-GB" sz="1200" b="0" i="0" u="none" strike="noStrike" cap="none">
                    <a:solidFill>
                      <a:schemeClr val="dk1"/>
                    </a:solidFill>
                    <a:latin typeface="Calibri"/>
                    <a:ea typeface="Calibri"/>
                    <a:cs typeface="Calibri"/>
                    <a:sym typeface="Calibri"/>
                  </a:rPr>
                  <a:t>"Precision" +"Recall</a:t>
                </a:r>
                <a:r>
                  <a:rPr lang="ar-AE" sz="1200" b="0" i="0" u="none" strike="noStrike" cap="none">
                    <a:solidFill>
                      <a:schemeClr val="dk1"/>
                    </a:solidFill>
                    <a:latin typeface="Calibri"/>
                    <a:ea typeface="Calibri"/>
                    <a:cs typeface="Calibri"/>
                    <a:sym typeface="Calibri"/>
                  </a:rPr>
                  <a:t>" )</a:t>
                </a:r>
                <a:endParaRPr lang="ar-AE" b="0" dirty="0"/>
              </a:p>
              <a:p>
                <a:pPr fontAlgn="t"/>
                <a:r>
                  <a:rPr lang="en-GB" sz="1200" b="0" i="0" u="none" strike="noStrike" cap="none" dirty="0">
                    <a:solidFill>
                      <a:schemeClr val="dk1"/>
                    </a:solidFill>
                    <a:effectLst/>
                    <a:latin typeface="Calibri"/>
                    <a:ea typeface="Calibri"/>
                    <a:cs typeface="Calibri"/>
                    <a:sym typeface="Calibri"/>
                  </a:rPr>
                  <a:t>Where:</a:t>
                </a:r>
              </a:p>
              <a:p>
                <a:pPr fontAlgn="t"/>
                <a:r>
                  <a:rPr lang="en-GB" sz="1200" b="1" i="0" u="none" strike="noStrike" cap="none" dirty="0">
                    <a:solidFill>
                      <a:schemeClr val="dk1"/>
                    </a:solidFill>
                    <a:effectLst/>
                    <a:latin typeface="Calibri"/>
                    <a:ea typeface="Calibri"/>
                    <a:cs typeface="Calibri"/>
                    <a:sym typeface="Calibri"/>
                  </a:rPr>
                  <a:t>Precision</a:t>
                </a:r>
                <a:r>
                  <a:rPr lang="en-GB" sz="1200" b="0" i="0" u="none" strike="noStrike" cap="none" dirty="0">
                    <a:solidFill>
                      <a:schemeClr val="dk1"/>
                    </a:solidFill>
                    <a:effectLst/>
                    <a:latin typeface="Calibri"/>
                    <a:ea typeface="Calibri"/>
                    <a:cs typeface="Calibri"/>
                    <a:sym typeface="Calibri"/>
                  </a:rPr>
                  <a:t> = How many predicted positives are actually correct</a:t>
                </a:r>
              </a:p>
              <a:p>
                <a:pPr fontAlgn="t"/>
                <a:r>
                  <a:rPr lang="en-GB" sz="1200" b="1" i="0" u="none" strike="noStrike" cap="none" dirty="0">
                    <a:solidFill>
                      <a:schemeClr val="dk1"/>
                    </a:solidFill>
                    <a:effectLst/>
                    <a:latin typeface="Calibri"/>
                    <a:ea typeface="Calibri"/>
                    <a:cs typeface="Calibri"/>
                    <a:sym typeface="Calibri"/>
                  </a:rPr>
                  <a:t>Recall</a:t>
                </a:r>
                <a:r>
                  <a:rPr lang="en-GB" sz="1200" b="0" i="0" u="none" strike="noStrike" cap="none" dirty="0">
                    <a:solidFill>
                      <a:schemeClr val="dk1"/>
                    </a:solidFill>
                    <a:effectLst/>
                    <a:latin typeface="Calibri"/>
                    <a:ea typeface="Calibri"/>
                    <a:cs typeface="Calibri"/>
                    <a:sym typeface="Calibri"/>
                  </a:rPr>
                  <a:t> = How many actual positives were correctly found</a:t>
                </a:r>
              </a:p>
              <a:p>
                <a:endParaRPr lang="en-GB" dirty="0"/>
              </a:p>
            </p:txBody>
          </p:sp>
        </mc:Fallback>
      </mc:AlternateContent>
      <p:sp>
        <p:nvSpPr>
          <p:cNvPr id="4" name="Slide Number Placeholder 3">
            <a:extLst>
              <a:ext uri="{FF2B5EF4-FFF2-40B4-BE49-F238E27FC236}">
                <a16:creationId xmlns:a16="http://schemas.microsoft.com/office/drawing/2014/main" id="{FA417D72-BC2F-90A6-C84B-E55F74F9374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16764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5F97E-E488-440D-9A75-342873BC9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A6959-7BED-0478-7B6F-B7C7E0C2A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DE8E0-492C-DBCE-8BC3-D7EA5222AD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61D622-BAD0-9563-0E48-5B92437448E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2634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BDDA-9BEA-AACB-3016-6FC5D404F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1BC74-2435-CF76-F5AE-F128A493D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16041-45E4-FDE1-4821-687AC9074C57}"/>
              </a:ext>
            </a:extLst>
          </p:cNvPr>
          <p:cNvSpPr>
            <a:spLocks noGrp="1"/>
          </p:cNvSpPr>
          <p:nvPr>
            <p:ph type="body" idx="1"/>
          </p:nvPr>
        </p:nvSpPr>
        <p:spPr/>
        <p:txBody>
          <a:bodyPr/>
          <a:lstStyle/>
          <a:p>
            <a:r>
              <a:rPr lang="en-GB" sz="1200" b="0" i="0" u="none" strike="noStrike" cap="none" dirty="0">
                <a:solidFill>
                  <a:schemeClr val="dk1"/>
                </a:solidFill>
                <a:effectLst/>
                <a:latin typeface="Calibri"/>
                <a:ea typeface="Calibri"/>
                <a:cs typeface="Calibri"/>
                <a:sym typeface="Calibri"/>
              </a:rPr>
              <a:t>A </a:t>
            </a:r>
            <a:r>
              <a:rPr lang="en-GB" sz="1200" b="1" i="0" u="none" strike="noStrike" cap="none" dirty="0">
                <a:solidFill>
                  <a:schemeClr val="dk1"/>
                </a:solidFill>
                <a:effectLst/>
                <a:latin typeface="Calibri"/>
                <a:ea typeface="Calibri"/>
                <a:cs typeface="Calibri"/>
                <a:sym typeface="Calibri"/>
              </a:rPr>
              <a:t>bi-directional long short-term memory network </a:t>
            </a:r>
            <a:r>
              <a:rPr lang="en-GB" sz="1200" b="0" i="0" u="none" strike="noStrike" cap="none" dirty="0">
                <a:solidFill>
                  <a:schemeClr val="dk1"/>
                </a:solidFill>
                <a:effectLst/>
                <a:latin typeface="Calibri"/>
                <a:ea typeface="Calibri"/>
                <a:cs typeface="Calibri"/>
                <a:sym typeface="Calibri"/>
              </a:rPr>
              <a:t>(BLSTM) is a variant of the RNN that combines the outputs of two RNNs, one processing the sequence from left to right, the other one from right to left. Instead of regular hidden units, the two RNNs contain LSTM blocks, which are smart network units that can remember a value for an arbitrary length of time. </a:t>
            </a:r>
            <a:endParaRPr lang="en-GB" dirty="0"/>
          </a:p>
        </p:txBody>
      </p:sp>
      <p:sp>
        <p:nvSpPr>
          <p:cNvPr id="4" name="Slide Number Placeholder 3">
            <a:extLst>
              <a:ext uri="{FF2B5EF4-FFF2-40B4-BE49-F238E27FC236}">
                <a16:creationId xmlns:a16="http://schemas.microsoft.com/office/drawing/2014/main" id="{3AC08B1E-2CCE-3477-13A1-3F49A7BBC32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6</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72437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40EC-126E-80E7-3957-BA8950A8B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1970E-207A-2D25-128F-2AAA2942F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45CF1-688E-187B-BFD9-7A34D8127B9B}"/>
              </a:ext>
            </a:extLst>
          </p:cNvPr>
          <p:cNvSpPr>
            <a:spLocks noGrp="1"/>
          </p:cNvSpPr>
          <p:nvPr>
            <p:ph type="body" idx="1"/>
          </p:nvPr>
        </p:nvSpPr>
        <p:spPr/>
        <p:txBody>
          <a:bodyPr/>
          <a:lstStyle/>
          <a:p>
            <a:r>
              <a:rPr lang="en-GB" sz="1200" b="0" i="0" u="none" strike="noStrike" cap="none" dirty="0">
                <a:solidFill>
                  <a:schemeClr val="dk1"/>
                </a:solidFill>
                <a:effectLst/>
                <a:latin typeface="Calibri"/>
                <a:ea typeface="Calibri"/>
                <a:cs typeface="Calibri"/>
                <a:sym typeface="Calibri"/>
              </a:rPr>
              <a:t>A </a:t>
            </a:r>
            <a:r>
              <a:rPr lang="en-GB" sz="1200" b="1" i="0" u="none" strike="noStrike" cap="none" dirty="0">
                <a:solidFill>
                  <a:schemeClr val="dk1"/>
                </a:solidFill>
                <a:effectLst/>
                <a:latin typeface="Calibri"/>
                <a:ea typeface="Calibri"/>
                <a:cs typeface="Calibri"/>
                <a:sym typeface="Calibri"/>
              </a:rPr>
              <a:t>bi-directional long short-term memory network </a:t>
            </a:r>
            <a:r>
              <a:rPr lang="en-GB" sz="1200" b="0" i="0" u="none" strike="noStrike" cap="none" dirty="0">
                <a:solidFill>
                  <a:schemeClr val="dk1"/>
                </a:solidFill>
                <a:effectLst/>
                <a:latin typeface="Calibri"/>
                <a:ea typeface="Calibri"/>
                <a:cs typeface="Calibri"/>
                <a:sym typeface="Calibri"/>
              </a:rPr>
              <a:t>(BLSTM) is a variant of the RNN that combines the outputs of two RNNs, one processing the sequence from left to right, the other one from right to left. Instead of regular hidden units, the two RNNs contain LSTM blocks, which are smart network units that can remember a value for an arbitrary length of time. </a:t>
            </a:r>
            <a:endParaRPr lang="en-GB" dirty="0"/>
          </a:p>
        </p:txBody>
      </p:sp>
      <p:sp>
        <p:nvSpPr>
          <p:cNvPr id="4" name="Slide Number Placeholder 3">
            <a:extLst>
              <a:ext uri="{FF2B5EF4-FFF2-40B4-BE49-F238E27FC236}">
                <a16:creationId xmlns:a16="http://schemas.microsoft.com/office/drawing/2014/main" id="{8AE7B89B-2BA9-08D7-0CC1-9D9E1C6F41F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190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0226B-FF04-31F6-424E-CB54BC6C3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AC9E6-385D-3D37-D6F7-89695B73C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339FB-7027-D46B-EAD7-55B9CC6F2501}"/>
              </a:ext>
            </a:extLst>
          </p:cNvPr>
          <p:cNvSpPr>
            <a:spLocks noGrp="1"/>
          </p:cNvSpPr>
          <p:nvPr>
            <p:ph type="body" idx="1"/>
          </p:nvPr>
        </p:nvSpPr>
        <p:spPr/>
        <p:txBody>
          <a:bodyPr/>
          <a:lstStyle/>
          <a:p>
            <a:r>
              <a:rPr lang="en-GB" sz="1200" b="0" i="0" u="none" strike="noStrike" cap="none" dirty="0">
                <a:solidFill>
                  <a:schemeClr val="dk1"/>
                </a:solidFill>
                <a:effectLst/>
                <a:latin typeface="Calibri"/>
                <a:ea typeface="Calibri"/>
                <a:cs typeface="Calibri"/>
                <a:sym typeface="Calibri"/>
              </a:rPr>
              <a:t>A </a:t>
            </a:r>
            <a:r>
              <a:rPr lang="en-GB" sz="1200" b="1" i="0" u="none" strike="noStrike" cap="none" dirty="0">
                <a:solidFill>
                  <a:schemeClr val="dk1"/>
                </a:solidFill>
                <a:effectLst/>
                <a:latin typeface="Calibri"/>
                <a:ea typeface="Calibri"/>
                <a:cs typeface="Calibri"/>
                <a:sym typeface="Calibri"/>
              </a:rPr>
              <a:t>bi-directional long short-term memory network </a:t>
            </a:r>
            <a:r>
              <a:rPr lang="en-GB" sz="1200" b="0" i="0" u="none" strike="noStrike" cap="none" dirty="0">
                <a:solidFill>
                  <a:schemeClr val="dk1"/>
                </a:solidFill>
                <a:effectLst/>
                <a:latin typeface="Calibri"/>
                <a:ea typeface="Calibri"/>
                <a:cs typeface="Calibri"/>
                <a:sym typeface="Calibri"/>
              </a:rPr>
              <a:t>(BLSTM) is a variant of the RNN that combines the outputs of two RNNs, one processing the sequence from left to right, the other one from right to left. Instead of regular hidden units, the two RNNs contain LSTM blocks, which are smart network units that can remember a value for an arbitrary length of time. </a:t>
            </a:r>
            <a:endParaRPr lang="en-GB" dirty="0"/>
          </a:p>
        </p:txBody>
      </p:sp>
      <p:sp>
        <p:nvSpPr>
          <p:cNvPr id="4" name="Slide Number Placeholder 3">
            <a:extLst>
              <a:ext uri="{FF2B5EF4-FFF2-40B4-BE49-F238E27FC236}">
                <a16:creationId xmlns:a16="http://schemas.microsoft.com/office/drawing/2014/main" id="{8543278B-FE61-08AA-29E9-9BB6526EEE4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2383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3A4D66D-4927-F782-4FC7-65FBA3247BC1}"/>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303295C2-D7C4-2A43-5FCA-CF605BB4ED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A4E11871-2664-59CD-C0B7-83741F09C6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533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06" name="Google Shape;20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GB"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B4D9CA9A-7232-65D3-1FB2-4A9833082356}"/>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A98F6618-6F86-09F6-A0B1-C9023FFEBF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a:extLst>
              <a:ext uri="{FF2B5EF4-FFF2-40B4-BE49-F238E27FC236}">
                <a16:creationId xmlns:a16="http://schemas.microsoft.com/office/drawing/2014/main" id="{8E284042-A797-5389-F9DB-12817EE0FA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004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49326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0228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75658-6A4D-C0AA-7128-21CC64C8F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EB738-8CC9-82C2-9FE5-F1F796B5E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163A7-A6D3-7606-3C2F-C5ACC4AA249E}"/>
              </a:ext>
            </a:extLst>
          </p:cNvPr>
          <p:cNvSpPr>
            <a:spLocks noGrp="1"/>
          </p:cNvSpPr>
          <p:nvPr>
            <p:ph type="body" idx="1"/>
          </p:nvPr>
        </p:nvSpPr>
        <p:spPr/>
        <p:txBody>
          <a:bodyPr/>
          <a:lstStyle/>
          <a:p>
            <a:r>
              <a:rPr lang="en-GB" sz="1200" b="0" i="0" u="none" strike="noStrike" cap="none" dirty="0">
                <a:solidFill>
                  <a:schemeClr val="dk1"/>
                </a:solidFill>
                <a:effectLst/>
                <a:latin typeface="Calibri"/>
                <a:ea typeface="Calibri"/>
                <a:cs typeface="Calibri"/>
                <a:sym typeface="Calibri"/>
              </a:rPr>
              <a:t>A </a:t>
            </a:r>
            <a:r>
              <a:rPr lang="en-GB" sz="1200" b="1" i="0" u="none" strike="noStrike" cap="none" dirty="0">
                <a:solidFill>
                  <a:schemeClr val="dk1"/>
                </a:solidFill>
                <a:effectLst/>
                <a:latin typeface="Calibri"/>
                <a:ea typeface="Calibri"/>
                <a:cs typeface="Calibri"/>
                <a:sym typeface="Calibri"/>
              </a:rPr>
              <a:t>bi-directional long short-term memory network </a:t>
            </a:r>
            <a:r>
              <a:rPr lang="en-GB" sz="1200" b="0" i="0" u="none" strike="noStrike" cap="none" dirty="0">
                <a:solidFill>
                  <a:schemeClr val="dk1"/>
                </a:solidFill>
                <a:effectLst/>
                <a:latin typeface="Calibri"/>
                <a:ea typeface="Calibri"/>
                <a:cs typeface="Calibri"/>
                <a:sym typeface="Calibri"/>
              </a:rPr>
              <a:t>(BLSTM) is a variant of the RNN that combines the outputs of two RNNs, one processing the sequence from left to right, the other one from right to left. Instead of regular hidden units, the two RNNs contain LSTM blocks, which are smart network units that can remember a value for an arbitrary length of time. </a:t>
            </a:r>
            <a:endParaRPr lang="en-GB" dirty="0"/>
          </a:p>
        </p:txBody>
      </p:sp>
      <p:sp>
        <p:nvSpPr>
          <p:cNvPr id="4" name="Slide Number Placeholder 3">
            <a:extLst>
              <a:ext uri="{FF2B5EF4-FFF2-40B4-BE49-F238E27FC236}">
                <a16:creationId xmlns:a16="http://schemas.microsoft.com/office/drawing/2014/main" id="{0B7D2D96-B9FD-BE53-9312-CEB506A285E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2792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93D6151-8ED5-B592-7A92-F1F8948E1745}"/>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85A26154-8FAE-27B0-4ED4-D1D59B7D8A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b="1" i="0" u="none" strike="noStrike" cap="none" dirty="0">
                <a:solidFill>
                  <a:schemeClr val="dk1"/>
                </a:solidFill>
                <a:effectLst/>
                <a:latin typeface="Calibri"/>
                <a:ea typeface="Calibri"/>
                <a:cs typeface="Calibri"/>
                <a:sym typeface="Calibri"/>
              </a:rPr>
              <a:t>BERT &amp; GPT (2018)</a:t>
            </a:r>
            <a:r>
              <a:rPr lang="en-GB" sz="1200" b="0" i="0" u="none" strike="noStrike" cap="none" dirty="0">
                <a:solidFill>
                  <a:schemeClr val="dk1"/>
                </a:solidFill>
                <a:effectLst/>
                <a:latin typeface="Calibri"/>
                <a:ea typeface="Calibri"/>
                <a:cs typeface="Calibri"/>
                <a:sym typeface="Calibri"/>
              </a:rPr>
              <a:t> — the two foundational Transformer directions that defined modern NLP.</a:t>
            </a:r>
          </a:p>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CF2BA61F-3A93-FDBB-78F3-F5C0C71549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454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EBEEFD46-0C31-8FBC-936F-52614C725D84}"/>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5A6BD0AD-6FBA-4C55-01D9-365F6DA8A1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60C846D5-4C05-52F2-CF45-DD843F2540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849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57A3E1BF-6BB0-03EF-270F-8C68393A9724}"/>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5922DB8C-C515-DCDC-08FD-DFE198D0EE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DF368224-CE67-4200-91AF-E142976BBC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301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30C86E66-9361-F5A2-ADFA-897BFFF58285}"/>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40827814-951C-248F-629C-7778DC80EA8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017A8572-1160-B015-0261-C6A7753554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952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D1E6970F-4823-9A87-F7D3-FE944B305EE5}"/>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999881D8-DEF8-48D5-5233-4F575C4276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4:notes">
            <a:extLst>
              <a:ext uri="{FF2B5EF4-FFF2-40B4-BE49-F238E27FC236}">
                <a16:creationId xmlns:a16="http://schemas.microsoft.com/office/drawing/2014/main" id="{0FD27BA3-0053-BF6A-6EF3-77BD46E2AE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9655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“Genomic LLMs are evolving from sequence predictors to comprehensive models of biological systems.”</a:t>
            </a:r>
          </a:p>
          <a:p>
            <a:pPr marL="0" lvl="0" indent="0" algn="l" rtl="0">
              <a:spcBef>
                <a:spcPts val="0"/>
              </a:spcBef>
              <a:spcAft>
                <a:spcPts val="0"/>
              </a:spcAft>
              <a:buNone/>
            </a:pPr>
            <a:endParaRPr dirty="0"/>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7841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5579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mikecaptain.com/resources/pdf/GPT-1.pdf"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AD735-08C9-7B7A-482D-F840A1351B0C}"/>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EFD1B103-D124-6DA8-3A49-3E7701D680A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127BB44-66D6-00E3-2345-1CD35E9C34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pic>
        <p:nvPicPr>
          <p:cNvPr id="7" name="Picture 6">
            <a:extLst>
              <a:ext uri="{FF2B5EF4-FFF2-40B4-BE49-F238E27FC236}">
                <a16:creationId xmlns:a16="http://schemas.microsoft.com/office/drawing/2014/main" id="{76C580B1-08AA-A839-296F-7875699DF82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04889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2" name="Picture 1">
            <a:extLst>
              <a:ext uri="{FF2B5EF4-FFF2-40B4-BE49-F238E27FC236}">
                <a16:creationId xmlns:a16="http://schemas.microsoft.com/office/drawing/2014/main" id="{35600534-D9AA-1052-AC72-61792FC69F06}"/>
              </a:ext>
            </a:extLst>
          </p:cNvPr>
          <p:cNvPicPr>
            <a:picLocks noChangeAspect="1"/>
          </p:cNvPicPr>
          <p:nvPr/>
        </p:nvPicPr>
        <p:blipFill>
          <a:blip r:embed="rId3"/>
          <a:stretch>
            <a:fillRect/>
          </a:stretch>
        </p:blipFill>
        <p:spPr>
          <a:xfrm>
            <a:off x="11019563" y="5696029"/>
            <a:ext cx="1076849" cy="1076849"/>
          </a:xfrm>
          <a:prstGeom prst="rect">
            <a:avLst/>
          </a:prstGeom>
        </p:spPr>
      </p:pic>
      <p:sp>
        <p:nvSpPr>
          <p:cNvPr id="88" name="Google Shape;88;p13"/>
          <p:cNvSpPr txBox="1">
            <a:spLocks noGrp="1"/>
          </p:cNvSpPr>
          <p:nvPr>
            <p:ph type="ctrTitle"/>
          </p:nvPr>
        </p:nvSpPr>
        <p:spPr>
          <a:xfrm>
            <a:off x="327829" y="2003536"/>
            <a:ext cx="11536200" cy="2091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5400"/>
              <a:buFont typeface="Calibri"/>
              <a:buNone/>
            </a:pPr>
            <a:r>
              <a:rPr lang="en-GB" sz="4800" b="1" dirty="0">
                <a:solidFill>
                  <a:srgbClr val="274E13"/>
                </a:solidFill>
                <a:latin typeface="Calibri"/>
                <a:ea typeface="Calibri"/>
                <a:cs typeface="Calibri"/>
                <a:sym typeface="Calibri"/>
              </a:rPr>
              <a:t>Introduction to Genomic Large Language Models (LLMs)</a:t>
            </a:r>
            <a:br>
              <a:rPr lang="en-GB" sz="4800" b="1" dirty="0">
                <a:solidFill>
                  <a:srgbClr val="274E13"/>
                </a:solidFill>
                <a:latin typeface="Calibri"/>
                <a:ea typeface="Calibri"/>
                <a:cs typeface="Calibri"/>
                <a:sym typeface="Calibri"/>
              </a:rPr>
            </a:br>
            <a:endParaRPr sz="4300" b="1" dirty="0">
              <a:solidFill>
                <a:srgbClr val="274E13"/>
              </a:solidFill>
            </a:endParaRPr>
          </a:p>
        </p:txBody>
      </p:sp>
      <p:sp>
        <p:nvSpPr>
          <p:cNvPr id="89" name="Google Shape;89;p13"/>
          <p:cNvSpPr txBox="1">
            <a:spLocks noGrp="1"/>
          </p:cNvSpPr>
          <p:nvPr>
            <p:ph type="subTitle" idx="1"/>
          </p:nvPr>
        </p:nvSpPr>
        <p:spPr>
          <a:xfrm>
            <a:off x="1523923" y="4169775"/>
            <a:ext cx="9144000" cy="2383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GB" b="1" dirty="0"/>
              <a:t>Tutorial VT1: Genomic LLMs in Practice </a:t>
            </a:r>
          </a:p>
          <a:p>
            <a:pPr marL="0" lvl="0" indent="0" algn="ctr" rtl="0">
              <a:lnSpc>
                <a:spcPct val="90000"/>
              </a:lnSpc>
              <a:spcBef>
                <a:spcPts val="0"/>
              </a:spcBef>
              <a:spcAft>
                <a:spcPts val="0"/>
              </a:spcAft>
              <a:buClr>
                <a:schemeClr val="dk1"/>
              </a:buClr>
              <a:buSzPts val="2400"/>
              <a:buNone/>
            </a:pPr>
            <a:r>
              <a:rPr lang="en-GB" b="1" dirty="0"/>
              <a:t>– A Hands-On Introduction with Hugging Face</a:t>
            </a:r>
          </a:p>
          <a:p>
            <a:pPr marL="0" lvl="0" indent="0" algn="ctr" rtl="0">
              <a:lnSpc>
                <a:spcPct val="90000"/>
              </a:lnSpc>
              <a:spcBef>
                <a:spcPts val="0"/>
              </a:spcBef>
              <a:spcAft>
                <a:spcPts val="0"/>
              </a:spcAft>
              <a:buClr>
                <a:schemeClr val="dk1"/>
              </a:buClr>
              <a:buSzPts val="2400"/>
              <a:buNone/>
            </a:pPr>
            <a:endParaRPr lang="en-GB" b="1" dirty="0"/>
          </a:p>
          <a:p>
            <a:pPr marL="0" lvl="0" indent="0" algn="ctr" rtl="0">
              <a:lnSpc>
                <a:spcPct val="90000"/>
              </a:lnSpc>
              <a:spcBef>
                <a:spcPts val="0"/>
              </a:spcBef>
              <a:spcAft>
                <a:spcPts val="0"/>
              </a:spcAft>
              <a:buClr>
                <a:schemeClr val="dk1"/>
              </a:buClr>
              <a:buSzPts val="2400"/>
              <a:buNone/>
            </a:pPr>
            <a:r>
              <a:rPr lang="en-GB" dirty="0"/>
              <a:t>Presented by Prof. Jean-Christophe (JC) Nebel</a:t>
            </a:r>
            <a:endParaRPr dirty="0"/>
          </a:p>
          <a:p>
            <a:pPr marL="0" lvl="0" indent="0" algn="ctr" rtl="0">
              <a:lnSpc>
                <a:spcPct val="90000"/>
              </a:lnSpc>
              <a:spcBef>
                <a:spcPts val="1000"/>
              </a:spcBef>
              <a:spcAft>
                <a:spcPts val="0"/>
              </a:spcAft>
              <a:buClr>
                <a:schemeClr val="dk1"/>
              </a:buClr>
              <a:buSzPts val="2400"/>
              <a:buNone/>
            </a:pPr>
            <a:r>
              <a:rPr lang="en-GB" dirty="0"/>
              <a:t>     </a:t>
            </a:r>
            <a:endParaRPr dirty="0"/>
          </a:p>
          <a:p>
            <a:pPr marL="0" lvl="0" indent="0" algn="ctr" rtl="0">
              <a:lnSpc>
                <a:spcPct val="90000"/>
              </a:lnSpc>
              <a:spcBef>
                <a:spcPts val="1000"/>
              </a:spcBef>
              <a:spcAft>
                <a:spcPts val="0"/>
              </a:spcAft>
              <a:buClr>
                <a:schemeClr val="dk1"/>
              </a:buClr>
              <a:buSzPts val="2200"/>
              <a:buNone/>
            </a:pPr>
            <a:endParaRPr sz="2200" dirty="0"/>
          </a:p>
        </p:txBody>
      </p:sp>
      <p:sp>
        <p:nvSpPr>
          <p:cNvPr id="4" name="TextBox 3">
            <a:extLst>
              <a:ext uri="{FF2B5EF4-FFF2-40B4-BE49-F238E27FC236}">
                <a16:creationId xmlns:a16="http://schemas.microsoft.com/office/drawing/2014/main" id="{12A51D83-2238-DF6E-2D6F-381D237331B1}"/>
              </a:ext>
            </a:extLst>
          </p:cNvPr>
          <p:cNvSpPr txBox="1"/>
          <p:nvPr/>
        </p:nvSpPr>
        <p:spPr>
          <a:xfrm>
            <a:off x="3047036" y="4018786"/>
            <a:ext cx="6094070" cy="307777"/>
          </a:xfrm>
          <a:prstGeom prst="rect">
            <a:avLst/>
          </a:prstGeom>
          <a:noFill/>
        </p:spPr>
        <p:txBody>
          <a:bodyPr wrap="square">
            <a:spAutoFit/>
          </a:bodyPr>
          <a:lstStyle/>
          <a:p>
            <a:r>
              <a:rPr lang="en-GB" b="0" dirty="0">
                <a:effectLst/>
              </a:rPr>
              <a:t> </a:t>
            </a:r>
            <a:endParaRPr lang="en-GB" dirty="0"/>
          </a:p>
        </p:txBody>
      </p:sp>
      <p:pic>
        <p:nvPicPr>
          <p:cNvPr id="6" name="Picture 5">
            <a:extLst>
              <a:ext uri="{FF2B5EF4-FFF2-40B4-BE49-F238E27FC236}">
                <a16:creationId xmlns:a16="http://schemas.microsoft.com/office/drawing/2014/main" id="{587FA55A-ADCB-701B-AD2C-AAC4E17E4EAF}"/>
              </a:ext>
            </a:extLst>
          </p:cNvPr>
          <p:cNvPicPr>
            <a:picLocks noChangeAspect="1"/>
          </p:cNvPicPr>
          <p:nvPr/>
        </p:nvPicPr>
        <p:blipFill>
          <a:blip r:embed="rId4"/>
          <a:stretch>
            <a:fillRect/>
          </a:stretch>
        </p:blipFill>
        <p:spPr>
          <a:xfrm>
            <a:off x="10960490" y="157859"/>
            <a:ext cx="1076848" cy="10768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1804-9D70-F1E5-CFAE-69A9958AFD2B}"/>
              </a:ext>
            </a:extLst>
          </p:cNvPr>
          <p:cNvSpPr>
            <a:spLocks noGrp="1"/>
          </p:cNvSpPr>
          <p:nvPr>
            <p:ph type="title"/>
          </p:nvPr>
        </p:nvSpPr>
        <p:spPr>
          <a:xfrm>
            <a:off x="838200" y="13351"/>
            <a:ext cx="11339764" cy="1325563"/>
          </a:xfrm>
        </p:spPr>
        <p:txBody>
          <a:bodyPr>
            <a:normAutofit/>
          </a:bodyPr>
          <a:lstStyle/>
          <a:p>
            <a:r>
              <a:rPr lang="en-GB" sz="3400" b="1" dirty="0"/>
              <a:t>Genomic LLMs: Back to the ‘50s revolutions</a:t>
            </a:r>
          </a:p>
        </p:txBody>
      </p:sp>
      <p:sp>
        <p:nvSpPr>
          <p:cNvPr id="3" name="Text Placeholder 2">
            <a:extLst>
              <a:ext uri="{FF2B5EF4-FFF2-40B4-BE49-F238E27FC236}">
                <a16:creationId xmlns:a16="http://schemas.microsoft.com/office/drawing/2014/main" id="{8A58D4EE-8C22-D30B-81A9-79F1BCCE7BA4}"/>
              </a:ext>
            </a:extLst>
          </p:cNvPr>
          <p:cNvSpPr>
            <a:spLocks noGrp="1"/>
          </p:cNvSpPr>
          <p:nvPr>
            <p:ph type="body" idx="1"/>
          </p:nvPr>
        </p:nvSpPr>
        <p:spPr>
          <a:xfrm>
            <a:off x="838200" y="1541820"/>
            <a:ext cx="8648700" cy="4351338"/>
          </a:xfrm>
        </p:spPr>
        <p:txBody>
          <a:bodyPr>
            <a:noAutofit/>
          </a:bodyPr>
          <a:lstStyle/>
          <a:p>
            <a:pPr marL="114300" indent="0">
              <a:buNone/>
            </a:pPr>
            <a:r>
              <a:rPr lang="en-GB" sz="2400" b="1" dirty="0"/>
              <a:t>Discovery of the structure of DNA </a:t>
            </a:r>
            <a:r>
              <a:rPr lang="en-GB" sz="2000" dirty="0"/>
              <a:t>- </a:t>
            </a:r>
            <a:r>
              <a:rPr lang="en-GB" sz="1600" dirty="0"/>
              <a:t>Watson, Crick and Franklin (1953) [1]</a:t>
            </a:r>
          </a:p>
          <a:p>
            <a:pPr marL="571500" lvl="1" indent="0">
              <a:spcAft>
                <a:spcPts val="1200"/>
              </a:spcAft>
              <a:buNone/>
            </a:pPr>
            <a:r>
              <a:rPr lang="en-GB" sz="1800" dirty="0"/>
              <a:t>Led to formulation of a </a:t>
            </a:r>
            <a:r>
              <a:rPr lang="en-GB" sz="1800" b="1" dirty="0"/>
              <a:t>linguistic metaphor </a:t>
            </a:r>
            <a:r>
              <a:rPr lang="en-GB" sz="1800" dirty="0"/>
              <a:t>in molecular biology: ‘the sequence of the bases is the </a:t>
            </a:r>
            <a:r>
              <a:rPr lang="en-GB" sz="1800" b="1" dirty="0"/>
              <a:t>code</a:t>
            </a:r>
            <a:r>
              <a:rPr lang="en-GB" sz="1800" dirty="0"/>
              <a:t> which carries the genetic </a:t>
            </a:r>
            <a:r>
              <a:rPr lang="en-GB" sz="1800" b="1" dirty="0"/>
              <a:t>information</a:t>
            </a:r>
            <a:r>
              <a:rPr lang="en-GB" sz="1800" dirty="0"/>
              <a:t>’</a:t>
            </a:r>
          </a:p>
          <a:p>
            <a:pPr marL="114300" indent="0">
              <a:buNone/>
            </a:pPr>
            <a:r>
              <a:rPr lang="en-GB" sz="2400" b="1" dirty="0"/>
              <a:t>Language as generative system </a:t>
            </a:r>
            <a:r>
              <a:rPr lang="en-GB" sz="1600" dirty="0"/>
              <a:t>– Linguist/philosopher Chomsky (1957) [2]</a:t>
            </a:r>
          </a:p>
          <a:p>
            <a:pPr marL="571500" lvl="1" indent="0">
              <a:buNone/>
            </a:pPr>
            <a:r>
              <a:rPr lang="en-GB" sz="1800" dirty="0"/>
              <a:t>Language is reconceived as a </a:t>
            </a:r>
            <a:r>
              <a:rPr lang="en-GB" sz="1800" b="1" dirty="0"/>
              <a:t>formal system generating infinite structures from finite rules</a:t>
            </a:r>
          </a:p>
          <a:p>
            <a:pPr>
              <a:buFont typeface="Wingdings" panose="05000000000000000000" pitchFamily="2" charset="2"/>
              <a:buChar char="Ø"/>
            </a:pPr>
            <a:r>
              <a:rPr lang="en-GB" sz="2000" dirty="0"/>
              <a:t>Complex natural phenomena can be interpreted as systems of discrete symbols governed by combinatorial rules</a:t>
            </a:r>
          </a:p>
          <a:p>
            <a:pPr marL="114300" indent="0">
              <a:buNone/>
            </a:pPr>
            <a:endParaRPr lang="en-GB" sz="1600" dirty="0"/>
          </a:p>
          <a:p>
            <a:pPr marL="114300" indent="0">
              <a:buNone/>
            </a:pPr>
            <a:r>
              <a:rPr lang="en-GB" sz="2400" b="1" dirty="0"/>
              <a:t>Can machines think? </a:t>
            </a:r>
            <a:r>
              <a:rPr lang="en-GB" sz="2000" dirty="0"/>
              <a:t>Reframed into </a:t>
            </a:r>
            <a:r>
              <a:rPr lang="en-GB" sz="2000" i="1" dirty="0"/>
              <a:t>the imitation game</a:t>
            </a:r>
            <a:r>
              <a:rPr lang="en-GB" sz="1600" dirty="0"/>
              <a:t> – Turing (1950) [3]</a:t>
            </a:r>
            <a:endParaRPr lang="en-GB" sz="2000" b="1" dirty="0"/>
          </a:p>
          <a:p>
            <a:pPr>
              <a:buFont typeface="Wingdings" panose="05000000000000000000" pitchFamily="2" charset="2"/>
              <a:buChar char="Ø"/>
            </a:pPr>
            <a:r>
              <a:rPr lang="en-GB" sz="2000" dirty="0"/>
              <a:t>Establishment of Artificial Intelligence as a scientific field</a:t>
            </a:r>
            <a:r>
              <a:rPr lang="en-GB" sz="1600" dirty="0"/>
              <a:t>	– Dartmouth Summer Research Project on Artificial Intelligence in 1956 [4]</a:t>
            </a:r>
          </a:p>
          <a:p>
            <a:pPr>
              <a:buFont typeface="Wingdings" panose="05000000000000000000" pitchFamily="2" charset="2"/>
              <a:buChar char="Ø"/>
            </a:pPr>
            <a:endParaRPr lang="en-GB" sz="2000" dirty="0"/>
          </a:p>
          <a:p>
            <a:pPr>
              <a:buFont typeface="Wingdings" panose="05000000000000000000" pitchFamily="2" charset="2"/>
              <a:buChar char="Ø"/>
            </a:pPr>
            <a:endParaRPr lang="en-GB" sz="2000" dirty="0"/>
          </a:p>
        </p:txBody>
      </p:sp>
      <p:grpSp>
        <p:nvGrpSpPr>
          <p:cNvPr id="8" name="Group 7">
            <a:extLst>
              <a:ext uri="{FF2B5EF4-FFF2-40B4-BE49-F238E27FC236}">
                <a16:creationId xmlns:a16="http://schemas.microsoft.com/office/drawing/2014/main" id="{94682614-AD5F-1C31-E1F2-6E21F9035EDE}"/>
              </a:ext>
            </a:extLst>
          </p:cNvPr>
          <p:cNvGrpSpPr/>
          <p:nvPr/>
        </p:nvGrpSpPr>
        <p:grpSpPr>
          <a:xfrm>
            <a:off x="9262771" y="533398"/>
            <a:ext cx="2264228" cy="2799186"/>
            <a:chOff x="7052268" y="1286764"/>
            <a:chExt cx="5139732" cy="6395942"/>
          </a:xfrm>
        </p:grpSpPr>
        <p:pic>
          <p:nvPicPr>
            <p:cNvPr id="7" name="Picture 6">
              <a:extLst>
                <a:ext uri="{FF2B5EF4-FFF2-40B4-BE49-F238E27FC236}">
                  <a16:creationId xmlns:a16="http://schemas.microsoft.com/office/drawing/2014/main" id="{A9E1B538-677A-0EF8-22AC-3FC7292B12A9}"/>
                </a:ext>
              </a:extLst>
            </p:cNvPr>
            <p:cNvPicPr>
              <a:picLocks noChangeAspect="1"/>
            </p:cNvPicPr>
            <p:nvPr/>
          </p:nvPicPr>
          <p:blipFill>
            <a:blip r:embed="rId3"/>
            <a:stretch>
              <a:fillRect/>
            </a:stretch>
          </p:blipFill>
          <p:spPr>
            <a:xfrm>
              <a:off x="7052268" y="1286764"/>
              <a:ext cx="5139732" cy="4677155"/>
            </a:xfrm>
            <a:prstGeom prst="rect">
              <a:avLst/>
            </a:prstGeom>
          </p:spPr>
        </p:pic>
        <p:pic>
          <p:nvPicPr>
            <p:cNvPr id="1026" name="Picture 2">
              <a:extLst>
                <a:ext uri="{FF2B5EF4-FFF2-40B4-BE49-F238E27FC236}">
                  <a16:creationId xmlns:a16="http://schemas.microsoft.com/office/drawing/2014/main" id="{46D527FC-2408-504C-6865-5FD2353AD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2268" y="4791606"/>
              <a:ext cx="5139732" cy="28911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9">
            <a:extLst>
              <a:ext uri="{FF2B5EF4-FFF2-40B4-BE49-F238E27FC236}">
                <a16:creationId xmlns:a16="http://schemas.microsoft.com/office/drawing/2014/main" id="{0BC0E40C-FACA-DE6B-D1FF-0074958D2A6B}"/>
              </a:ext>
            </a:extLst>
          </p:cNvPr>
          <p:cNvPicPr>
            <a:picLocks noChangeAspect="1"/>
          </p:cNvPicPr>
          <p:nvPr/>
        </p:nvPicPr>
        <p:blipFill>
          <a:blip r:embed="rId5"/>
          <a:stretch>
            <a:fillRect/>
          </a:stretch>
        </p:blipFill>
        <p:spPr>
          <a:xfrm>
            <a:off x="9283047" y="3363065"/>
            <a:ext cx="2327928" cy="1488336"/>
          </a:xfrm>
          <a:prstGeom prst="rect">
            <a:avLst/>
          </a:prstGeom>
        </p:spPr>
      </p:pic>
      <p:pic>
        <p:nvPicPr>
          <p:cNvPr id="13" name="Picture 12">
            <a:extLst>
              <a:ext uri="{FF2B5EF4-FFF2-40B4-BE49-F238E27FC236}">
                <a16:creationId xmlns:a16="http://schemas.microsoft.com/office/drawing/2014/main" id="{3C508F95-30B8-44EF-F64E-AF8CF1719C4B}"/>
              </a:ext>
            </a:extLst>
          </p:cNvPr>
          <p:cNvPicPr>
            <a:picLocks noChangeAspect="1"/>
          </p:cNvPicPr>
          <p:nvPr/>
        </p:nvPicPr>
        <p:blipFill>
          <a:blip r:embed="rId6"/>
          <a:stretch>
            <a:fillRect/>
          </a:stretch>
        </p:blipFill>
        <p:spPr>
          <a:xfrm>
            <a:off x="9283046" y="4873030"/>
            <a:ext cx="2313893" cy="1542595"/>
          </a:xfrm>
          <a:prstGeom prst="rect">
            <a:avLst/>
          </a:prstGeom>
        </p:spPr>
      </p:pic>
      <p:sp>
        <p:nvSpPr>
          <p:cNvPr id="4" name="Slide Number Placeholder 3">
            <a:extLst>
              <a:ext uri="{FF2B5EF4-FFF2-40B4-BE49-F238E27FC236}">
                <a16:creationId xmlns:a16="http://schemas.microsoft.com/office/drawing/2014/main" id="{320AD35C-F1B7-E438-911E-D789FEB1E5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spTree>
    <p:extLst>
      <p:ext uri="{BB962C8B-B14F-4D97-AF65-F5344CB8AC3E}">
        <p14:creationId xmlns:p14="http://schemas.microsoft.com/office/powerpoint/2010/main" val="3644837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9AC8-78DD-E88E-FF7F-B35A8600EA4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80B62BB-7426-3A01-0DB0-081AA4E9A29A}"/>
              </a:ext>
            </a:extLst>
          </p:cNvPr>
          <p:cNvPicPr>
            <a:picLocks noChangeAspect="1"/>
          </p:cNvPicPr>
          <p:nvPr/>
        </p:nvPicPr>
        <p:blipFill>
          <a:blip r:embed="rId3"/>
          <a:stretch>
            <a:fillRect/>
          </a:stretch>
        </p:blipFill>
        <p:spPr>
          <a:xfrm>
            <a:off x="8122928" y="2834513"/>
            <a:ext cx="3747796" cy="3329437"/>
          </a:xfrm>
          <a:prstGeom prst="rect">
            <a:avLst/>
          </a:prstGeom>
        </p:spPr>
      </p:pic>
      <p:sp>
        <p:nvSpPr>
          <p:cNvPr id="3" name="Text Placeholder 2">
            <a:extLst>
              <a:ext uri="{FF2B5EF4-FFF2-40B4-BE49-F238E27FC236}">
                <a16:creationId xmlns:a16="http://schemas.microsoft.com/office/drawing/2014/main" id="{84E3D3D6-300E-5003-A33F-7DF38DDB0F54}"/>
              </a:ext>
            </a:extLst>
          </p:cNvPr>
          <p:cNvSpPr>
            <a:spLocks noGrp="1"/>
          </p:cNvSpPr>
          <p:nvPr>
            <p:ph type="body" idx="1"/>
          </p:nvPr>
        </p:nvSpPr>
        <p:spPr>
          <a:xfrm>
            <a:off x="6120883" y="2391685"/>
            <a:ext cx="5971590" cy="916371"/>
          </a:xfrm>
        </p:spPr>
        <p:txBody>
          <a:bodyPr>
            <a:noAutofit/>
          </a:bodyPr>
          <a:lstStyle/>
          <a:p>
            <a:pPr marL="114300" indent="0">
              <a:buNone/>
            </a:pPr>
            <a:r>
              <a:rPr lang="en-GB" sz="2000" b="1" dirty="0"/>
              <a:t>Rule-based systems </a:t>
            </a:r>
            <a:r>
              <a:rPr lang="en-GB" sz="2000" dirty="0"/>
              <a:t>– e.g., grammar-based binding site descriptors [5]</a:t>
            </a:r>
          </a:p>
          <a:p>
            <a:pPr marL="114300" indent="0">
              <a:buNone/>
            </a:pPr>
            <a:endParaRPr lang="en-GB" sz="2000" dirty="0"/>
          </a:p>
          <a:p>
            <a:pPr marL="114300" indent="0">
              <a:buNone/>
            </a:pPr>
            <a:endParaRPr lang="en-GB" sz="2000" dirty="0"/>
          </a:p>
          <a:p>
            <a:pPr marL="114300" indent="0">
              <a:buNone/>
            </a:pPr>
            <a:endParaRPr lang="en-GB" sz="2000" dirty="0"/>
          </a:p>
          <a:p>
            <a:pPr marL="114300" indent="0">
              <a:buNone/>
            </a:pPr>
            <a:endParaRPr lang="en-GB" sz="2000" dirty="0"/>
          </a:p>
          <a:p>
            <a:pPr marL="114300" indent="0">
              <a:buNone/>
            </a:pPr>
            <a:endParaRPr lang="en-GB" sz="2000" dirty="0"/>
          </a:p>
          <a:p>
            <a:pPr marL="114300" indent="0">
              <a:buNone/>
            </a:pPr>
            <a:endParaRPr lang="en-GB" sz="2000" dirty="0"/>
          </a:p>
        </p:txBody>
      </p:sp>
      <p:sp>
        <p:nvSpPr>
          <p:cNvPr id="2" name="Title 1">
            <a:extLst>
              <a:ext uri="{FF2B5EF4-FFF2-40B4-BE49-F238E27FC236}">
                <a16:creationId xmlns:a16="http://schemas.microsoft.com/office/drawing/2014/main" id="{222544C2-35C1-7BF8-F868-6AF899D72396}"/>
              </a:ext>
            </a:extLst>
          </p:cNvPr>
          <p:cNvSpPr>
            <a:spLocks noGrp="1"/>
          </p:cNvSpPr>
          <p:nvPr>
            <p:ph type="title"/>
          </p:nvPr>
        </p:nvSpPr>
        <p:spPr>
          <a:xfrm>
            <a:off x="838200" y="1230"/>
            <a:ext cx="11353800" cy="1325563"/>
          </a:xfrm>
        </p:spPr>
        <p:txBody>
          <a:bodyPr>
            <a:normAutofit/>
          </a:bodyPr>
          <a:lstStyle/>
          <a:p>
            <a:r>
              <a:rPr lang="en-GB" sz="3600" b="1" dirty="0"/>
              <a:t>AI-Driven Natural Language Processing for Genomics</a:t>
            </a:r>
          </a:p>
        </p:txBody>
      </p:sp>
      <p:sp>
        <p:nvSpPr>
          <p:cNvPr id="11" name="Oval 10">
            <a:extLst>
              <a:ext uri="{FF2B5EF4-FFF2-40B4-BE49-F238E27FC236}">
                <a16:creationId xmlns:a16="http://schemas.microsoft.com/office/drawing/2014/main" id="{4BC73D61-C8A6-1097-01F0-BF1273277441}"/>
              </a:ext>
            </a:extLst>
          </p:cNvPr>
          <p:cNvSpPr/>
          <p:nvPr/>
        </p:nvSpPr>
        <p:spPr>
          <a:xfrm>
            <a:off x="8250335" y="1651615"/>
            <a:ext cx="2889377" cy="68103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Symbolic AI</a:t>
            </a:r>
            <a:endParaRPr lang="en-GB" dirty="0"/>
          </a:p>
        </p:txBody>
      </p:sp>
      <p:cxnSp>
        <p:nvCxnSpPr>
          <p:cNvPr id="15" name="Straight Arrow Connector 14">
            <a:extLst>
              <a:ext uri="{FF2B5EF4-FFF2-40B4-BE49-F238E27FC236}">
                <a16:creationId xmlns:a16="http://schemas.microsoft.com/office/drawing/2014/main" id="{01A82B6F-838B-8014-7F8F-0715210E723C}"/>
              </a:ext>
            </a:extLst>
          </p:cNvPr>
          <p:cNvCxnSpPr/>
          <p:nvPr/>
        </p:nvCxnSpPr>
        <p:spPr>
          <a:xfrm>
            <a:off x="6096000" y="1992133"/>
            <a:ext cx="129384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9FAAFF6A-A318-6B72-7CF9-5B766BAEF529}"/>
              </a:ext>
            </a:extLst>
          </p:cNvPr>
          <p:cNvPicPr>
            <a:picLocks noChangeAspect="1"/>
          </p:cNvPicPr>
          <p:nvPr/>
        </p:nvPicPr>
        <p:blipFill>
          <a:blip r:embed="rId4"/>
          <a:stretch>
            <a:fillRect/>
          </a:stretch>
        </p:blipFill>
        <p:spPr>
          <a:xfrm>
            <a:off x="11202030" y="5694053"/>
            <a:ext cx="655281" cy="614557"/>
          </a:xfrm>
          <a:prstGeom prst="rect">
            <a:avLst/>
          </a:prstGeom>
        </p:spPr>
      </p:pic>
      <p:pic>
        <p:nvPicPr>
          <p:cNvPr id="19" name="Picture 18">
            <a:extLst>
              <a:ext uri="{FF2B5EF4-FFF2-40B4-BE49-F238E27FC236}">
                <a16:creationId xmlns:a16="http://schemas.microsoft.com/office/drawing/2014/main" id="{12B28C09-7F00-4E51-1832-D355DBC5F575}"/>
              </a:ext>
            </a:extLst>
          </p:cNvPr>
          <p:cNvPicPr>
            <a:picLocks noChangeAspect="1"/>
          </p:cNvPicPr>
          <p:nvPr/>
        </p:nvPicPr>
        <p:blipFill>
          <a:blip r:embed="rId5"/>
          <a:stretch>
            <a:fillRect/>
          </a:stretch>
        </p:blipFill>
        <p:spPr>
          <a:xfrm>
            <a:off x="6761587" y="3549943"/>
            <a:ext cx="1115588" cy="1805776"/>
          </a:xfrm>
          <a:prstGeom prst="rect">
            <a:avLst/>
          </a:prstGeom>
        </p:spPr>
      </p:pic>
      <p:sp>
        <p:nvSpPr>
          <p:cNvPr id="7" name="Text Placeholder 2">
            <a:extLst>
              <a:ext uri="{FF2B5EF4-FFF2-40B4-BE49-F238E27FC236}">
                <a16:creationId xmlns:a16="http://schemas.microsoft.com/office/drawing/2014/main" id="{6D9CD4CE-E03A-1DC2-F5AE-4229E44BD8FE}"/>
              </a:ext>
            </a:extLst>
          </p:cNvPr>
          <p:cNvSpPr txBox="1">
            <a:spLocks/>
          </p:cNvSpPr>
          <p:nvPr/>
        </p:nvSpPr>
        <p:spPr>
          <a:xfrm>
            <a:off x="6348755" y="5425378"/>
            <a:ext cx="2041848" cy="5759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r>
              <a:rPr lang="en-GB" sz="2000" dirty="0"/>
              <a:t>F1 score: 0.91</a:t>
            </a:r>
          </a:p>
        </p:txBody>
      </p:sp>
      <p:pic>
        <p:nvPicPr>
          <p:cNvPr id="21" name="Picture 20">
            <a:extLst>
              <a:ext uri="{FF2B5EF4-FFF2-40B4-BE49-F238E27FC236}">
                <a16:creationId xmlns:a16="http://schemas.microsoft.com/office/drawing/2014/main" id="{7CE55FC7-F19D-8958-3A7E-AEC8D189D5A2}"/>
              </a:ext>
            </a:extLst>
          </p:cNvPr>
          <p:cNvPicPr>
            <a:picLocks noChangeAspect="1"/>
          </p:cNvPicPr>
          <p:nvPr/>
        </p:nvPicPr>
        <p:blipFill>
          <a:blip r:embed="rId6"/>
          <a:stretch>
            <a:fillRect/>
          </a:stretch>
        </p:blipFill>
        <p:spPr>
          <a:xfrm>
            <a:off x="833514" y="1541064"/>
            <a:ext cx="5063267" cy="4460265"/>
          </a:xfrm>
          <a:prstGeom prst="rect">
            <a:avLst/>
          </a:prstGeom>
        </p:spPr>
      </p:pic>
      <p:sp>
        <p:nvSpPr>
          <p:cNvPr id="22" name="Slide Number Placeholder 21">
            <a:extLst>
              <a:ext uri="{FF2B5EF4-FFF2-40B4-BE49-F238E27FC236}">
                <a16:creationId xmlns:a16="http://schemas.microsoft.com/office/drawing/2014/main" id="{D5A1DE58-4B6F-ACE6-DD5C-016E3B3206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spTree>
    <p:extLst>
      <p:ext uri="{BB962C8B-B14F-4D97-AF65-F5344CB8AC3E}">
        <p14:creationId xmlns:p14="http://schemas.microsoft.com/office/powerpoint/2010/main" val="1379867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33238-6793-BBE9-0D1C-22A62B2643F3}"/>
            </a:ext>
          </a:extLst>
        </p:cNvPr>
        <p:cNvGrpSpPr/>
        <p:nvPr/>
      </p:nvGrpSpPr>
      <p:grpSpPr>
        <a:xfrm>
          <a:off x="0" y="0"/>
          <a:ext cx="0" cy="0"/>
          <a:chOff x="0" y="0"/>
          <a:chExt cx="0" cy="0"/>
        </a:xfrm>
      </p:grpSpPr>
      <p:sp>
        <p:nvSpPr>
          <p:cNvPr id="10" name="Text Placeholder 2">
            <a:extLst>
              <a:ext uri="{FF2B5EF4-FFF2-40B4-BE49-F238E27FC236}">
                <a16:creationId xmlns:a16="http://schemas.microsoft.com/office/drawing/2014/main" id="{3046D193-5BDC-98EA-AC2F-FA45B96F6BBB}"/>
              </a:ext>
            </a:extLst>
          </p:cNvPr>
          <p:cNvSpPr txBox="1">
            <a:spLocks/>
          </p:cNvSpPr>
          <p:nvPr/>
        </p:nvSpPr>
        <p:spPr>
          <a:xfrm>
            <a:off x="6096000" y="1132103"/>
            <a:ext cx="5657850" cy="101079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r>
              <a:rPr lang="en-GB" sz="2000" b="1" dirty="0"/>
              <a:t>Traditional Machine Learning Methods </a:t>
            </a:r>
          </a:p>
          <a:p>
            <a:r>
              <a:rPr lang="en-GB" sz="1800" dirty="0"/>
              <a:t>Typically perform well on small to medium datasets </a:t>
            </a:r>
          </a:p>
          <a:p>
            <a:r>
              <a:rPr lang="en-GB" sz="1800" dirty="0"/>
              <a:t>Depend on manual feature engineering </a:t>
            </a:r>
          </a:p>
        </p:txBody>
      </p:sp>
      <p:sp>
        <p:nvSpPr>
          <p:cNvPr id="2" name="Title 1">
            <a:extLst>
              <a:ext uri="{FF2B5EF4-FFF2-40B4-BE49-F238E27FC236}">
                <a16:creationId xmlns:a16="http://schemas.microsoft.com/office/drawing/2014/main" id="{E14B8149-0361-CF60-3804-E58CE564E6CC}"/>
              </a:ext>
            </a:extLst>
          </p:cNvPr>
          <p:cNvSpPr>
            <a:spLocks noGrp="1"/>
          </p:cNvSpPr>
          <p:nvPr>
            <p:ph type="title"/>
          </p:nvPr>
        </p:nvSpPr>
        <p:spPr>
          <a:xfrm>
            <a:off x="838200" y="1230"/>
            <a:ext cx="11353800" cy="1325563"/>
          </a:xfrm>
        </p:spPr>
        <p:txBody>
          <a:bodyPr>
            <a:normAutofit/>
          </a:bodyPr>
          <a:lstStyle/>
          <a:p>
            <a:r>
              <a:rPr lang="en-GB" sz="3600" b="1" dirty="0"/>
              <a:t>AI-Driven Natural Language Processing for Genomics</a:t>
            </a:r>
          </a:p>
        </p:txBody>
      </p:sp>
      <p:sp>
        <p:nvSpPr>
          <p:cNvPr id="3" name="Text Placeholder 2">
            <a:extLst>
              <a:ext uri="{FF2B5EF4-FFF2-40B4-BE49-F238E27FC236}">
                <a16:creationId xmlns:a16="http://schemas.microsoft.com/office/drawing/2014/main" id="{C0FEA035-562F-7489-EC75-A68EBF5B97C0}"/>
              </a:ext>
            </a:extLst>
          </p:cNvPr>
          <p:cNvSpPr>
            <a:spLocks noGrp="1"/>
          </p:cNvSpPr>
          <p:nvPr>
            <p:ph type="body" idx="1"/>
          </p:nvPr>
        </p:nvSpPr>
        <p:spPr>
          <a:xfrm>
            <a:off x="6295221" y="3641286"/>
            <a:ext cx="5572929" cy="1317153"/>
          </a:xfrm>
        </p:spPr>
        <p:txBody>
          <a:bodyPr>
            <a:noAutofit/>
          </a:bodyPr>
          <a:lstStyle/>
          <a:p>
            <a:pPr marL="114300" indent="0">
              <a:buNone/>
            </a:pPr>
            <a:r>
              <a:rPr lang="en-GB" sz="1800" dirty="0"/>
              <a:t>E.g., Prediction of the potential risk of a genetic variant using Random Forest and k-</a:t>
            </a:r>
            <a:r>
              <a:rPr lang="en-GB" sz="1800" dirty="0" err="1"/>
              <a:t>mer</a:t>
            </a:r>
            <a:r>
              <a:rPr lang="en-GB" sz="1800" dirty="0"/>
              <a:t> features [6]</a:t>
            </a:r>
          </a:p>
        </p:txBody>
      </p:sp>
      <p:sp>
        <p:nvSpPr>
          <p:cNvPr id="11" name="Oval 10">
            <a:extLst>
              <a:ext uri="{FF2B5EF4-FFF2-40B4-BE49-F238E27FC236}">
                <a16:creationId xmlns:a16="http://schemas.microsoft.com/office/drawing/2014/main" id="{5C4712B6-CD9F-2D7F-D07C-36C5CC48F646}"/>
              </a:ext>
            </a:extLst>
          </p:cNvPr>
          <p:cNvSpPr/>
          <p:nvPr/>
        </p:nvSpPr>
        <p:spPr>
          <a:xfrm>
            <a:off x="7767734" y="2457665"/>
            <a:ext cx="3424141" cy="1183041"/>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Linear Regression, Random Forest, Naive Bayes, SVM…</a:t>
            </a:r>
            <a:endParaRPr lang="en-GB" sz="1200" dirty="0"/>
          </a:p>
        </p:txBody>
      </p:sp>
      <p:cxnSp>
        <p:nvCxnSpPr>
          <p:cNvPr id="15" name="Straight Arrow Connector 14">
            <a:extLst>
              <a:ext uri="{FF2B5EF4-FFF2-40B4-BE49-F238E27FC236}">
                <a16:creationId xmlns:a16="http://schemas.microsoft.com/office/drawing/2014/main" id="{5B933FC7-DBFF-8864-B6AE-05138670F97A}"/>
              </a:ext>
            </a:extLst>
          </p:cNvPr>
          <p:cNvCxnSpPr/>
          <p:nvPr/>
        </p:nvCxnSpPr>
        <p:spPr>
          <a:xfrm>
            <a:off x="6096000" y="3071347"/>
            <a:ext cx="129384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B3E14BEA-AC8C-DEC5-B983-E20A8BB4AC57}"/>
              </a:ext>
            </a:extLst>
          </p:cNvPr>
          <p:cNvPicPr>
            <a:picLocks noChangeAspect="1"/>
          </p:cNvPicPr>
          <p:nvPr/>
        </p:nvPicPr>
        <p:blipFill>
          <a:blip r:embed="rId3"/>
          <a:stretch>
            <a:fillRect/>
          </a:stretch>
        </p:blipFill>
        <p:spPr>
          <a:xfrm>
            <a:off x="6515100" y="4457392"/>
            <a:ext cx="3629829" cy="2073053"/>
          </a:xfrm>
          <a:prstGeom prst="rect">
            <a:avLst/>
          </a:prstGeom>
        </p:spPr>
      </p:pic>
      <p:pic>
        <p:nvPicPr>
          <p:cNvPr id="12" name="Picture 11">
            <a:extLst>
              <a:ext uri="{FF2B5EF4-FFF2-40B4-BE49-F238E27FC236}">
                <a16:creationId xmlns:a16="http://schemas.microsoft.com/office/drawing/2014/main" id="{A7A6DC64-DF00-FC02-B456-84CB9CD90F76}"/>
              </a:ext>
            </a:extLst>
          </p:cNvPr>
          <p:cNvPicPr>
            <a:picLocks noChangeAspect="1"/>
          </p:cNvPicPr>
          <p:nvPr/>
        </p:nvPicPr>
        <p:blipFill>
          <a:blip r:embed="rId4"/>
          <a:stretch>
            <a:fillRect/>
          </a:stretch>
        </p:blipFill>
        <p:spPr>
          <a:xfrm>
            <a:off x="833514" y="1541064"/>
            <a:ext cx="5063267" cy="4460265"/>
          </a:xfrm>
          <a:prstGeom prst="rect">
            <a:avLst/>
          </a:prstGeom>
        </p:spPr>
      </p:pic>
      <p:sp>
        <p:nvSpPr>
          <p:cNvPr id="14" name="Slide Number Placeholder 13">
            <a:extLst>
              <a:ext uri="{FF2B5EF4-FFF2-40B4-BE49-F238E27FC236}">
                <a16:creationId xmlns:a16="http://schemas.microsoft.com/office/drawing/2014/main" id="{5E3CA5C2-8388-426A-22E7-27DA0FCE5B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spTree>
    <p:extLst>
      <p:ext uri="{BB962C8B-B14F-4D97-AF65-F5344CB8AC3E}">
        <p14:creationId xmlns:p14="http://schemas.microsoft.com/office/powerpoint/2010/main" val="70645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BC51-F1B1-96C4-DFCC-C0EDD7F28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40626-0EF2-1703-C0B9-8CF73F971CC7}"/>
              </a:ext>
            </a:extLst>
          </p:cNvPr>
          <p:cNvSpPr>
            <a:spLocks noGrp="1"/>
          </p:cNvSpPr>
          <p:nvPr>
            <p:ph type="title"/>
          </p:nvPr>
        </p:nvSpPr>
        <p:spPr>
          <a:xfrm>
            <a:off x="838200" y="1230"/>
            <a:ext cx="11353800" cy="1325563"/>
          </a:xfrm>
        </p:spPr>
        <p:txBody>
          <a:bodyPr>
            <a:normAutofit/>
          </a:bodyPr>
          <a:lstStyle/>
          <a:p>
            <a:r>
              <a:rPr lang="en-GB" sz="3600" b="1" dirty="0"/>
              <a:t>AI-Driven Natural Language Processing for Genomics</a:t>
            </a:r>
          </a:p>
        </p:txBody>
      </p:sp>
      <p:sp>
        <p:nvSpPr>
          <p:cNvPr id="10" name="Text Placeholder 2">
            <a:extLst>
              <a:ext uri="{FF2B5EF4-FFF2-40B4-BE49-F238E27FC236}">
                <a16:creationId xmlns:a16="http://schemas.microsoft.com/office/drawing/2014/main" id="{92729E8D-1A48-F26D-9CA7-558E7B2507C7}"/>
              </a:ext>
            </a:extLst>
          </p:cNvPr>
          <p:cNvSpPr txBox="1">
            <a:spLocks/>
          </p:cNvSpPr>
          <p:nvPr/>
        </p:nvSpPr>
        <p:spPr>
          <a:xfrm>
            <a:off x="5896781" y="883885"/>
            <a:ext cx="5552269" cy="32230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r>
              <a:rPr lang="en-GB" sz="2000" b="1" dirty="0"/>
              <a:t>Deep Learning Methods </a:t>
            </a:r>
          </a:p>
          <a:p>
            <a:pPr>
              <a:spcBef>
                <a:spcPts val="0"/>
              </a:spcBef>
            </a:pPr>
            <a:r>
              <a:rPr lang="en-GB" sz="1800" dirty="0"/>
              <a:t>Convolutional Neural Networks (CNNs) learn local patterns (motifs) in sequences using convolutional filters </a:t>
            </a:r>
          </a:p>
          <a:p>
            <a:pPr>
              <a:spcBef>
                <a:spcPts val="0"/>
              </a:spcBef>
            </a:pPr>
            <a:r>
              <a:rPr lang="en-GB" sz="1800" dirty="0"/>
              <a:t>Recurrent Neural Networks (RNNs) capture sequential dependencies</a:t>
            </a:r>
          </a:p>
          <a:p>
            <a:pPr>
              <a:spcBef>
                <a:spcPts val="0"/>
              </a:spcBef>
            </a:pPr>
            <a:r>
              <a:rPr lang="en-GB" sz="1800" dirty="0"/>
              <a:t>Autoencoders (AE) learn low-dimensional representations of data</a:t>
            </a:r>
            <a:endParaRPr lang="en-GB" sz="2000" dirty="0"/>
          </a:p>
        </p:txBody>
      </p:sp>
      <p:sp>
        <p:nvSpPr>
          <p:cNvPr id="3" name="Text Placeholder 2">
            <a:extLst>
              <a:ext uri="{FF2B5EF4-FFF2-40B4-BE49-F238E27FC236}">
                <a16:creationId xmlns:a16="http://schemas.microsoft.com/office/drawing/2014/main" id="{4C15EC49-CE9D-000D-2EF8-95D928E38F48}"/>
              </a:ext>
            </a:extLst>
          </p:cNvPr>
          <p:cNvSpPr>
            <a:spLocks noGrp="1"/>
          </p:cNvSpPr>
          <p:nvPr>
            <p:ph type="body" idx="1"/>
          </p:nvPr>
        </p:nvSpPr>
        <p:spPr>
          <a:xfrm>
            <a:off x="6095999" y="3900965"/>
            <a:ext cx="5876926" cy="471446"/>
          </a:xfrm>
        </p:spPr>
        <p:txBody>
          <a:bodyPr>
            <a:noAutofit/>
          </a:bodyPr>
          <a:lstStyle/>
          <a:p>
            <a:pPr marL="114300" indent="0">
              <a:buNone/>
            </a:pPr>
            <a:r>
              <a:rPr lang="en-GB" sz="1800" dirty="0"/>
              <a:t>E.g., Prediction of non-coding sequence function (DanQ) [7]</a:t>
            </a:r>
          </a:p>
        </p:txBody>
      </p:sp>
      <p:sp>
        <p:nvSpPr>
          <p:cNvPr id="11" name="Oval 10">
            <a:extLst>
              <a:ext uri="{FF2B5EF4-FFF2-40B4-BE49-F238E27FC236}">
                <a16:creationId xmlns:a16="http://schemas.microsoft.com/office/drawing/2014/main" id="{E2997AD8-F9B8-6AA4-CAA0-66DE695321DF}"/>
              </a:ext>
            </a:extLst>
          </p:cNvPr>
          <p:cNvSpPr/>
          <p:nvPr/>
        </p:nvSpPr>
        <p:spPr>
          <a:xfrm>
            <a:off x="8148735" y="3046641"/>
            <a:ext cx="3094031" cy="706766"/>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CNN, RNN, hybrid model…</a:t>
            </a:r>
            <a:endParaRPr lang="en-GB" dirty="0"/>
          </a:p>
        </p:txBody>
      </p:sp>
      <p:cxnSp>
        <p:nvCxnSpPr>
          <p:cNvPr id="15" name="Straight Arrow Connector 14">
            <a:extLst>
              <a:ext uri="{FF2B5EF4-FFF2-40B4-BE49-F238E27FC236}">
                <a16:creationId xmlns:a16="http://schemas.microsoft.com/office/drawing/2014/main" id="{3C7BE4BE-F982-2866-EF82-8762F55A9222}"/>
              </a:ext>
            </a:extLst>
          </p:cNvPr>
          <p:cNvCxnSpPr/>
          <p:nvPr/>
        </p:nvCxnSpPr>
        <p:spPr>
          <a:xfrm>
            <a:off x="6096000" y="3401162"/>
            <a:ext cx="1293845"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57DBA5E1-8093-B6FE-7BFF-6D5CE6EF7BEA}"/>
              </a:ext>
            </a:extLst>
          </p:cNvPr>
          <p:cNvPicPr>
            <a:picLocks noChangeAspect="1"/>
          </p:cNvPicPr>
          <p:nvPr/>
        </p:nvPicPr>
        <p:blipFill>
          <a:blip r:embed="rId3"/>
          <a:stretch>
            <a:fillRect/>
          </a:stretch>
        </p:blipFill>
        <p:spPr>
          <a:xfrm>
            <a:off x="6295221" y="4439086"/>
            <a:ext cx="3671298" cy="2068337"/>
          </a:xfrm>
          <a:prstGeom prst="rect">
            <a:avLst/>
          </a:prstGeom>
        </p:spPr>
      </p:pic>
      <p:pic>
        <p:nvPicPr>
          <p:cNvPr id="12" name="Picture 11">
            <a:extLst>
              <a:ext uri="{FF2B5EF4-FFF2-40B4-BE49-F238E27FC236}">
                <a16:creationId xmlns:a16="http://schemas.microsoft.com/office/drawing/2014/main" id="{66B3F1C7-B1CB-6B24-FC71-12C5CCAFB4E6}"/>
              </a:ext>
            </a:extLst>
          </p:cNvPr>
          <p:cNvPicPr>
            <a:picLocks noChangeAspect="1"/>
          </p:cNvPicPr>
          <p:nvPr/>
        </p:nvPicPr>
        <p:blipFill>
          <a:blip r:embed="rId4"/>
          <a:stretch>
            <a:fillRect/>
          </a:stretch>
        </p:blipFill>
        <p:spPr>
          <a:xfrm>
            <a:off x="833514" y="1541064"/>
            <a:ext cx="5063267" cy="4460265"/>
          </a:xfrm>
          <a:prstGeom prst="rect">
            <a:avLst/>
          </a:prstGeom>
        </p:spPr>
      </p:pic>
      <p:sp>
        <p:nvSpPr>
          <p:cNvPr id="13" name="Slide Number Placeholder 12">
            <a:extLst>
              <a:ext uri="{FF2B5EF4-FFF2-40B4-BE49-F238E27FC236}">
                <a16:creationId xmlns:a16="http://schemas.microsoft.com/office/drawing/2014/main" id="{8A1EFF61-D5C2-6F01-A2B5-DADFEE5123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spTree>
    <p:extLst>
      <p:ext uri="{BB962C8B-B14F-4D97-AF65-F5344CB8AC3E}">
        <p14:creationId xmlns:p14="http://schemas.microsoft.com/office/powerpoint/2010/main" val="2231261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A96F-0E49-784C-D46A-F3DE2E773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3E634-982C-D21B-70CB-E8DD3547A8A3}"/>
              </a:ext>
            </a:extLst>
          </p:cNvPr>
          <p:cNvSpPr>
            <a:spLocks noGrp="1"/>
          </p:cNvSpPr>
          <p:nvPr>
            <p:ph type="title"/>
          </p:nvPr>
        </p:nvSpPr>
        <p:spPr>
          <a:xfrm>
            <a:off x="838200" y="1230"/>
            <a:ext cx="11353800" cy="1325563"/>
          </a:xfrm>
        </p:spPr>
        <p:txBody>
          <a:bodyPr>
            <a:normAutofit/>
          </a:bodyPr>
          <a:lstStyle/>
          <a:p>
            <a:r>
              <a:rPr lang="en-GB" sz="3600" b="1" dirty="0"/>
              <a:t>AI-Driven Natural Language Processing for Genomics</a:t>
            </a:r>
          </a:p>
        </p:txBody>
      </p:sp>
      <p:sp>
        <p:nvSpPr>
          <p:cNvPr id="11" name="Oval 10">
            <a:extLst>
              <a:ext uri="{FF2B5EF4-FFF2-40B4-BE49-F238E27FC236}">
                <a16:creationId xmlns:a16="http://schemas.microsoft.com/office/drawing/2014/main" id="{725AECEF-F8BA-BFE4-1490-88D89061DFB2}"/>
              </a:ext>
            </a:extLst>
          </p:cNvPr>
          <p:cNvSpPr/>
          <p:nvPr/>
        </p:nvSpPr>
        <p:spPr>
          <a:xfrm>
            <a:off x="8148735" y="3300641"/>
            <a:ext cx="3094031" cy="70676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The Transformer</a:t>
            </a:r>
            <a:endParaRPr lang="en-GB" dirty="0"/>
          </a:p>
        </p:txBody>
      </p:sp>
      <p:cxnSp>
        <p:nvCxnSpPr>
          <p:cNvPr id="15" name="Straight Arrow Connector 14">
            <a:extLst>
              <a:ext uri="{FF2B5EF4-FFF2-40B4-BE49-F238E27FC236}">
                <a16:creationId xmlns:a16="http://schemas.microsoft.com/office/drawing/2014/main" id="{A6CE6C6D-B6F8-455B-5A50-14680728A208}"/>
              </a:ext>
            </a:extLst>
          </p:cNvPr>
          <p:cNvCxnSpPr/>
          <p:nvPr/>
        </p:nvCxnSpPr>
        <p:spPr>
          <a:xfrm>
            <a:off x="6096000" y="3655162"/>
            <a:ext cx="1293845" cy="0"/>
          </a:xfrm>
          <a:prstGeom prst="straightConnector1">
            <a:avLst/>
          </a:prstGeom>
          <a:ln w="571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9" name="Text Placeholder 2">
            <a:extLst>
              <a:ext uri="{FF2B5EF4-FFF2-40B4-BE49-F238E27FC236}">
                <a16:creationId xmlns:a16="http://schemas.microsoft.com/office/drawing/2014/main" id="{64F6D121-1322-83EA-6650-AE6E9A2D2568}"/>
              </a:ext>
            </a:extLst>
          </p:cNvPr>
          <p:cNvSpPr txBox="1">
            <a:spLocks/>
          </p:cNvSpPr>
          <p:nvPr/>
        </p:nvSpPr>
        <p:spPr>
          <a:xfrm>
            <a:off x="6642101" y="1161434"/>
            <a:ext cx="5134066" cy="21392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GB" sz="2400" b="1" dirty="0"/>
              <a:t>The Transformer made LLMs possible by enabling models to scale efficiently and learn rich language representations.</a:t>
            </a:r>
          </a:p>
        </p:txBody>
      </p:sp>
      <p:pic>
        <p:nvPicPr>
          <p:cNvPr id="3" name="Picture 2">
            <a:extLst>
              <a:ext uri="{FF2B5EF4-FFF2-40B4-BE49-F238E27FC236}">
                <a16:creationId xmlns:a16="http://schemas.microsoft.com/office/drawing/2014/main" id="{5721906C-C6E3-4BD9-0F81-51AE280D42E3}"/>
              </a:ext>
            </a:extLst>
          </p:cNvPr>
          <p:cNvPicPr>
            <a:picLocks noChangeAspect="1"/>
          </p:cNvPicPr>
          <p:nvPr/>
        </p:nvPicPr>
        <p:blipFill>
          <a:blip r:embed="rId3"/>
          <a:stretch>
            <a:fillRect/>
          </a:stretch>
        </p:blipFill>
        <p:spPr>
          <a:xfrm>
            <a:off x="833514" y="1541064"/>
            <a:ext cx="5063267" cy="4460265"/>
          </a:xfrm>
          <a:prstGeom prst="rect">
            <a:avLst/>
          </a:prstGeom>
        </p:spPr>
      </p:pic>
      <p:sp>
        <p:nvSpPr>
          <p:cNvPr id="10" name="Oval 9">
            <a:extLst>
              <a:ext uri="{FF2B5EF4-FFF2-40B4-BE49-F238E27FC236}">
                <a16:creationId xmlns:a16="http://schemas.microsoft.com/office/drawing/2014/main" id="{3011C3D9-A7AE-94F8-1260-67157483208C}"/>
              </a:ext>
            </a:extLst>
          </p:cNvPr>
          <p:cNvSpPr/>
          <p:nvPr/>
        </p:nvSpPr>
        <p:spPr>
          <a:xfrm>
            <a:off x="3590925" y="3300641"/>
            <a:ext cx="238125" cy="24265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12">
            <a:extLst>
              <a:ext uri="{FF2B5EF4-FFF2-40B4-BE49-F238E27FC236}">
                <a16:creationId xmlns:a16="http://schemas.microsoft.com/office/drawing/2014/main" id="{E9CF890E-A35F-DD60-8597-6BA20ED754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spTree>
    <p:extLst>
      <p:ext uri="{BB962C8B-B14F-4D97-AF65-F5344CB8AC3E}">
        <p14:creationId xmlns:p14="http://schemas.microsoft.com/office/powerpoint/2010/main" val="88538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E5289-091A-6A1F-F108-5A55431BD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91FA6-0EAB-FF3C-D68C-881B46CBAE13}"/>
              </a:ext>
            </a:extLst>
          </p:cNvPr>
          <p:cNvSpPr>
            <a:spLocks noGrp="1"/>
          </p:cNvSpPr>
          <p:nvPr>
            <p:ph type="title"/>
          </p:nvPr>
        </p:nvSpPr>
        <p:spPr>
          <a:xfrm>
            <a:off x="838200" y="1230"/>
            <a:ext cx="11353800" cy="1325563"/>
          </a:xfrm>
        </p:spPr>
        <p:txBody>
          <a:bodyPr>
            <a:normAutofit/>
          </a:bodyPr>
          <a:lstStyle/>
          <a:p>
            <a:r>
              <a:rPr lang="en-GB" sz="3600" b="1" dirty="0"/>
              <a:t>A Pivotal Shift: The Transformer </a:t>
            </a:r>
          </a:p>
        </p:txBody>
      </p:sp>
      <p:sp>
        <p:nvSpPr>
          <p:cNvPr id="13" name="Text Placeholder 12">
            <a:extLst>
              <a:ext uri="{FF2B5EF4-FFF2-40B4-BE49-F238E27FC236}">
                <a16:creationId xmlns:a16="http://schemas.microsoft.com/office/drawing/2014/main" id="{F0F6EBAF-975C-3E02-8B20-9B21C92CFF71}"/>
              </a:ext>
            </a:extLst>
          </p:cNvPr>
          <p:cNvSpPr>
            <a:spLocks noGrp="1"/>
          </p:cNvSpPr>
          <p:nvPr>
            <p:ph type="body" idx="1"/>
          </p:nvPr>
        </p:nvSpPr>
        <p:spPr>
          <a:xfrm>
            <a:off x="838200" y="1274838"/>
            <a:ext cx="10515600" cy="4850170"/>
          </a:xfrm>
        </p:spPr>
        <p:txBody>
          <a:bodyPr>
            <a:normAutofit/>
          </a:bodyPr>
          <a:lstStyle/>
          <a:p>
            <a:pPr marL="114300" indent="0">
              <a:buNone/>
            </a:pPr>
            <a:r>
              <a:rPr lang="en-GB" dirty="0"/>
              <a:t>Text translation used to rely on RNN models that compress an entire sentence into a </a:t>
            </a:r>
            <a:r>
              <a:rPr lang="en-GB" b="1" dirty="0"/>
              <a:t>single fixed vector </a:t>
            </a:r>
            <a:r>
              <a:rPr lang="en-GB" dirty="0"/>
              <a:t>and </a:t>
            </a:r>
            <a:r>
              <a:rPr lang="en-GB" b="1" dirty="0"/>
              <a:t>process it sequentially</a:t>
            </a:r>
            <a:r>
              <a:rPr lang="en-GB" dirty="0"/>
              <a:t>.</a:t>
            </a:r>
          </a:p>
          <a:p>
            <a:r>
              <a:rPr lang="en-GB" b="1" dirty="0"/>
              <a:t>Attention mechanism (2014) [9]: Foundation of the Transformer</a:t>
            </a:r>
          </a:p>
          <a:p>
            <a:pPr lvl="1">
              <a:buFont typeface="Courier New" panose="02070309020205020404" pitchFamily="49" charset="0"/>
              <a:buChar char="o"/>
            </a:pPr>
            <a:r>
              <a:rPr lang="en-GB" dirty="0"/>
              <a:t>Problem: With long sentences, important information in the vector can be lost or diluted.</a:t>
            </a:r>
          </a:p>
          <a:p>
            <a:pPr lvl="1">
              <a:buFont typeface="Courier New" panose="02070309020205020404" pitchFamily="49" charset="0"/>
              <a:buChar char="o"/>
            </a:pPr>
            <a:r>
              <a:rPr lang="en-GB" dirty="0"/>
              <a:t>Solution: The model dynamically “</a:t>
            </a:r>
            <a:r>
              <a:rPr lang="en-GB"/>
              <a:t>pays attention to” </a:t>
            </a:r>
            <a:r>
              <a:rPr lang="en-GB" dirty="0"/>
              <a:t>to the most relevant parts of the input sequence when generating each word.</a:t>
            </a:r>
          </a:p>
          <a:p>
            <a:r>
              <a:rPr lang="en-GB" b="1" dirty="0"/>
              <a:t>“Attention is all you need” (2017) [10]: The Transformer</a:t>
            </a:r>
          </a:p>
          <a:p>
            <a:pPr lvl="1">
              <a:buFont typeface="Courier New" panose="02070309020205020404" pitchFamily="49" charset="0"/>
              <a:buChar char="o"/>
            </a:pPr>
            <a:r>
              <a:rPr lang="en-GB" dirty="0"/>
              <a:t>Remaining issue: Sequential processing limits efficiency and scalability.</a:t>
            </a:r>
          </a:p>
          <a:p>
            <a:pPr lvl="1">
              <a:buFont typeface="Courier New" panose="02070309020205020404" pitchFamily="49" charset="0"/>
              <a:buChar char="o"/>
            </a:pPr>
            <a:r>
              <a:rPr lang="en-GB" dirty="0"/>
              <a:t>Key idea: The model attends to all words simultaneously, enabling parallel processing and more effective learning of relationships.</a:t>
            </a:r>
          </a:p>
        </p:txBody>
      </p:sp>
      <p:sp>
        <p:nvSpPr>
          <p:cNvPr id="3" name="Slide Number Placeholder 2">
            <a:extLst>
              <a:ext uri="{FF2B5EF4-FFF2-40B4-BE49-F238E27FC236}">
                <a16:creationId xmlns:a16="http://schemas.microsoft.com/office/drawing/2014/main" id="{723399D5-1B1D-FB04-EEB3-C56884CE37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spTree>
    <p:extLst>
      <p:ext uri="{BB962C8B-B14F-4D97-AF65-F5344CB8AC3E}">
        <p14:creationId xmlns:p14="http://schemas.microsoft.com/office/powerpoint/2010/main" val="3497059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B8D8F37D-E810-B6E7-20B3-D32CE31764A5}"/>
            </a:ext>
          </a:extLst>
        </p:cNvPr>
        <p:cNvGrpSpPr/>
        <p:nvPr/>
      </p:nvGrpSpPr>
      <p:grpSpPr>
        <a:xfrm>
          <a:off x="0" y="0"/>
          <a:ext cx="0" cy="0"/>
          <a:chOff x="0" y="0"/>
          <a:chExt cx="0" cy="0"/>
        </a:xfrm>
      </p:grpSpPr>
      <p:sp>
        <p:nvSpPr>
          <p:cNvPr id="111" name="Google Shape;111;p16">
            <a:extLst>
              <a:ext uri="{FF2B5EF4-FFF2-40B4-BE49-F238E27FC236}">
                <a16:creationId xmlns:a16="http://schemas.microsoft.com/office/drawing/2014/main" id="{B622B22E-B507-46EB-A617-43E16D1A38FC}"/>
              </a:ext>
            </a:extLst>
          </p:cNvPr>
          <p:cNvSpPr txBox="1"/>
          <p:nvPr/>
        </p:nvSpPr>
        <p:spPr>
          <a:xfrm>
            <a:off x="571500" y="237258"/>
            <a:ext cx="113538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Transformer </a:t>
            </a:r>
          </a:p>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Architecture</a:t>
            </a:r>
            <a:endParaRPr sz="1100" dirty="0"/>
          </a:p>
        </p:txBody>
      </p:sp>
      <p:sp>
        <p:nvSpPr>
          <p:cNvPr id="112" name="Google Shape;112;p16">
            <a:extLst>
              <a:ext uri="{FF2B5EF4-FFF2-40B4-BE49-F238E27FC236}">
                <a16:creationId xmlns:a16="http://schemas.microsoft.com/office/drawing/2014/main" id="{E5C17433-3C71-392F-BC48-32D1A0348DC1}"/>
              </a:ext>
            </a:extLst>
          </p:cNvPr>
          <p:cNvSpPr txBox="1">
            <a:spLocks noGrp="1"/>
          </p:cNvSpPr>
          <p:nvPr>
            <p:ph type="body" idx="1"/>
          </p:nvPr>
        </p:nvSpPr>
        <p:spPr>
          <a:xfrm>
            <a:off x="6886937" y="1825625"/>
            <a:ext cx="4348622" cy="502316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1800"/>
              </a:spcAft>
              <a:buClr>
                <a:schemeClr val="dk1"/>
              </a:buClr>
              <a:buSzPts val="3200"/>
              <a:buNone/>
            </a:pPr>
            <a:r>
              <a:rPr lang="en-GB" sz="3200" dirty="0"/>
              <a:t>.</a:t>
            </a:r>
          </a:p>
          <a:p>
            <a:pPr marL="0" lvl="0" indent="0" algn="l" rtl="0">
              <a:lnSpc>
                <a:spcPct val="90000"/>
              </a:lnSpc>
              <a:spcBef>
                <a:spcPts val="0"/>
              </a:spcBef>
              <a:spcAft>
                <a:spcPts val="0"/>
              </a:spcAft>
              <a:buClr>
                <a:schemeClr val="dk1"/>
              </a:buClr>
              <a:buSzPts val="3200"/>
              <a:buNone/>
            </a:pPr>
            <a:endParaRPr lang="en-GB" sz="3200" dirty="0"/>
          </a:p>
          <a:p>
            <a:pPr marL="0" lvl="0" indent="0" algn="l" rtl="0">
              <a:lnSpc>
                <a:spcPct val="90000"/>
              </a:lnSpc>
              <a:spcBef>
                <a:spcPts val="0"/>
              </a:spcBef>
              <a:spcAft>
                <a:spcPts val="0"/>
              </a:spcAft>
              <a:buClr>
                <a:schemeClr val="dk1"/>
              </a:buClr>
              <a:buSzPts val="3200"/>
              <a:buNone/>
            </a:pPr>
            <a:endParaRPr lang="en-GB" sz="3200" dirty="0"/>
          </a:p>
          <a:p>
            <a:pPr marL="0" lvl="0" indent="0" algn="l" rtl="0">
              <a:lnSpc>
                <a:spcPct val="90000"/>
              </a:lnSpc>
              <a:spcBef>
                <a:spcPts val="0"/>
              </a:spcBef>
              <a:spcAft>
                <a:spcPts val="0"/>
              </a:spcAft>
              <a:buClr>
                <a:schemeClr val="dk1"/>
              </a:buClr>
              <a:buSzPts val="3200"/>
              <a:buNone/>
            </a:pPr>
            <a:endParaRPr lang="en-GB" sz="3200" dirty="0"/>
          </a:p>
        </p:txBody>
      </p:sp>
      <p:pic>
        <p:nvPicPr>
          <p:cNvPr id="3" name="Picture 2">
            <a:extLst>
              <a:ext uri="{FF2B5EF4-FFF2-40B4-BE49-F238E27FC236}">
                <a16:creationId xmlns:a16="http://schemas.microsoft.com/office/drawing/2014/main" id="{DB967725-4C56-0DF3-2D52-740AFFE508C0}"/>
              </a:ext>
            </a:extLst>
          </p:cNvPr>
          <p:cNvPicPr>
            <a:picLocks noChangeAspect="1"/>
          </p:cNvPicPr>
          <p:nvPr/>
        </p:nvPicPr>
        <p:blipFill>
          <a:blip r:embed="rId3"/>
          <a:stretch>
            <a:fillRect/>
          </a:stretch>
        </p:blipFill>
        <p:spPr>
          <a:xfrm>
            <a:off x="4777082" y="361950"/>
            <a:ext cx="7087371" cy="6134099"/>
          </a:xfrm>
          <a:prstGeom prst="rect">
            <a:avLst/>
          </a:prstGeom>
        </p:spPr>
      </p:pic>
      <p:sp>
        <p:nvSpPr>
          <p:cNvPr id="5" name="TextBox 4">
            <a:extLst>
              <a:ext uri="{FF2B5EF4-FFF2-40B4-BE49-F238E27FC236}">
                <a16:creationId xmlns:a16="http://schemas.microsoft.com/office/drawing/2014/main" id="{6EC27A2B-3816-7D3F-BBFE-F4FBD6B189EA}"/>
              </a:ext>
            </a:extLst>
          </p:cNvPr>
          <p:cNvSpPr txBox="1"/>
          <p:nvPr/>
        </p:nvSpPr>
        <p:spPr>
          <a:xfrm>
            <a:off x="571500" y="1825625"/>
            <a:ext cx="3999894" cy="4324261"/>
          </a:xfrm>
          <a:prstGeom prst="rect">
            <a:avLst/>
          </a:prstGeom>
          <a:noFill/>
        </p:spPr>
        <p:txBody>
          <a:bodyPr wrap="square">
            <a:spAutoFit/>
          </a:bodyPr>
          <a:lstStyle/>
          <a:p>
            <a:pPr marL="457200" indent="-457200">
              <a:buFont typeface="+mj-lt"/>
              <a:buAutoNum type="alphaUcPeriod"/>
            </a:pPr>
            <a:r>
              <a:rPr lang="en-GB" sz="2000" b="1" dirty="0">
                <a:latin typeface="Calibri" panose="020F0502020204030204" pitchFamily="34" charset="0"/>
                <a:ea typeface="Calibri" panose="020F0502020204030204" pitchFamily="34" charset="0"/>
                <a:cs typeface="Calibri" panose="020F0502020204030204" pitchFamily="34" charset="0"/>
              </a:rPr>
              <a:t>Encoder-Decoder Transformer</a:t>
            </a:r>
            <a:r>
              <a:rPr lang="en-GB" sz="2000" dirty="0">
                <a:latin typeface="Calibri" panose="020F0502020204030204" pitchFamily="34" charset="0"/>
                <a:ea typeface="Calibri" panose="020F0502020204030204" pitchFamily="34" charset="0"/>
                <a:cs typeface="Calibri" panose="020F0502020204030204" pitchFamily="34" charset="0"/>
              </a:rPr>
              <a:t> </a:t>
            </a:r>
          </a:p>
          <a:p>
            <a:pPr marL="342900" indent="-342900">
              <a:buFont typeface="Wingdings" panose="05000000000000000000" pitchFamily="2" charset="2"/>
              <a:buChar char="Ø"/>
            </a:pPr>
            <a:r>
              <a:rPr lang="en-GB" sz="1800" dirty="0">
                <a:latin typeface="Calibri" panose="020F0502020204030204" pitchFamily="34" charset="0"/>
                <a:ea typeface="Calibri" panose="020F0502020204030204" pitchFamily="34" charset="0"/>
                <a:cs typeface="Calibri" panose="020F0502020204030204" pitchFamily="34" charset="0"/>
              </a:rPr>
              <a:t>The encoder maps the input to a  latent representation</a:t>
            </a:r>
          </a:p>
          <a:p>
            <a:pPr marL="342900" indent="-342900">
              <a:buFont typeface="Wingdings" panose="05000000000000000000" pitchFamily="2" charset="2"/>
              <a:buChar char="Ø"/>
            </a:pPr>
            <a:r>
              <a:rPr lang="en-GB" sz="1800" dirty="0">
                <a:latin typeface="Calibri" panose="020F0502020204030204" pitchFamily="34" charset="0"/>
                <a:ea typeface="Calibri" panose="020F0502020204030204" pitchFamily="34" charset="0"/>
                <a:cs typeface="Calibri" panose="020F0502020204030204" pitchFamily="34" charset="0"/>
              </a:rPr>
              <a:t>The decoder generates the output</a:t>
            </a:r>
          </a:p>
          <a:p>
            <a:pPr marL="342900" indent="-342900">
              <a:spcAft>
                <a:spcPts val="600"/>
              </a:spcAft>
              <a:buFont typeface="Wingdings" panose="05000000000000000000" pitchFamily="2" charset="2"/>
              <a:buChar char="Ø"/>
            </a:pPr>
            <a:r>
              <a:rPr lang="en-GB" sz="1800" dirty="0">
                <a:latin typeface="Calibri" panose="020F0502020204030204" pitchFamily="34" charset="0"/>
                <a:ea typeface="Calibri" panose="020F0502020204030204" pitchFamily="34" charset="0"/>
                <a:cs typeface="Calibri" panose="020F0502020204030204" pitchFamily="34" charset="0"/>
              </a:rPr>
              <a:t>Linear &amp; </a:t>
            </a:r>
            <a:r>
              <a:rPr lang="en-GB" sz="1800" dirty="0" err="1">
                <a:latin typeface="Calibri" panose="020F0502020204030204" pitchFamily="34" charset="0"/>
                <a:ea typeface="Calibri" panose="020F0502020204030204" pitchFamily="34" charset="0"/>
                <a:cs typeface="Calibri" panose="020F0502020204030204" pitchFamily="34" charset="0"/>
              </a:rPr>
              <a:t>softmax</a:t>
            </a:r>
            <a:r>
              <a:rPr lang="en-GB" sz="1800" dirty="0">
                <a:latin typeface="Calibri" panose="020F0502020204030204" pitchFamily="34" charset="0"/>
                <a:ea typeface="Calibri" panose="020F0502020204030204" pitchFamily="34" charset="0"/>
                <a:cs typeface="Calibri" panose="020F0502020204030204" pitchFamily="34" charset="0"/>
              </a:rPr>
              <a:t> layers for prediction</a:t>
            </a:r>
          </a:p>
          <a:p>
            <a:pPr marL="457200" indent="-457200">
              <a:buFont typeface="+mj-lt"/>
              <a:buAutoNum type="alphaUcPeriod" startAt="2"/>
            </a:pPr>
            <a:r>
              <a:rPr lang="en-GB" sz="2000" b="1" dirty="0">
                <a:latin typeface="Calibri" panose="020F0502020204030204" pitchFamily="34" charset="0"/>
                <a:ea typeface="Calibri" panose="020F0502020204030204" pitchFamily="34" charset="0"/>
                <a:cs typeface="Calibri" panose="020F0502020204030204" pitchFamily="34" charset="0"/>
              </a:rPr>
              <a:t>Detailed Architecture </a:t>
            </a:r>
            <a:r>
              <a:rPr lang="en-GB" sz="1800" dirty="0">
                <a:latin typeface="Calibri" panose="020F0502020204030204" pitchFamily="34" charset="0"/>
                <a:ea typeface="Calibri" panose="020F0502020204030204" pitchFamily="34" charset="0"/>
                <a:cs typeface="Calibri" panose="020F0502020204030204" pitchFamily="34" charset="0"/>
              </a:rPr>
              <a:t>[10]</a:t>
            </a:r>
          </a:p>
          <a:p>
            <a:pPr>
              <a:spcAft>
                <a:spcPts val="600"/>
              </a:spcAft>
            </a:pPr>
            <a:r>
              <a:rPr lang="en-GB" sz="1800" dirty="0">
                <a:latin typeface="Calibri" panose="020F0502020204030204" pitchFamily="34" charset="0"/>
                <a:ea typeface="Calibri" panose="020F0502020204030204" pitchFamily="34" charset="0"/>
                <a:cs typeface="Calibri" panose="020F0502020204030204" pitchFamily="34" charset="0"/>
              </a:rPr>
              <a:t>Multi-head attention runs parallel self-attention layers, combined with fully connected layers.</a:t>
            </a:r>
          </a:p>
          <a:p>
            <a:pPr marL="457200" indent="-457200">
              <a:buFont typeface="+mj-lt"/>
              <a:buAutoNum type="alphaUcPeriod" startAt="3"/>
            </a:pPr>
            <a:r>
              <a:rPr lang="en-GB" sz="2000" b="1" dirty="0">
                <a:latin typeface="Calibri" panose="020F0502020204030204" pitchFamily="34" charset="0"/>
                <a:ea typeface="Calibri" panose="020F0502020204030204" pitchFamily="34" charset="0"/>
                <a:cs typeface="Calibri" panose="020F0502020204030204" pitchFamily="34" charset="0"/>
              </a:rPr>
              <a:t>Encoder-only Transformer </a:t>
            </a:r>
            <a:r>
              <a:rPr lang="en-GB" sz="1800" dirty="0">
                <a:latin typeface="Calibri" panose="020F0502020204030204" pitchFamily="34" charset="0"/>
                <a:ea typeface="Calibri" panose="020F0502020204030204" pitchFamily="34" charset="0"/>
                <a:cs typeface="Calibri" panose="020F0502020204030204" pitchFamily="34" charset="0"/>
              </a:rPr>
              <a:t>[11]</a:t>
            </a:r>
          </a:p>
          <a:p>
            <a:pPr marL="342900" lvl="8" indent="-342900">
              <a:spcAft>
                <a:spcPts val="600"/>
              </a:spcAft>
              <a:buFont typeface="Wingdings" panose="05000000000000000000" pitchFamily="2" charset="2"/>
              <a:buChar char="Ø"/>
            </a:pPr>
            <a:r>
              <a:rPr lang="en-GB" sz="1800" dirty="0">
                <a:latin typeface="Calibri" panose="020F0502020204030204" pitchFamily="34" charset="0"/>
                <a:ea typeface="Calibri" panose="020F0502020204030204" pitchFamily="34" charset="0"/>
                <a:cs typeface="Calibri" panose="020F0502020204030204" pitchFamily="34" charset="0"/>
              </a:rPr>
              <a:t>Sequence analysis</a:t>
            </a:r>
          </a:p>
          <a:p>
            <a:pPr marL="457200" indent="-457200">
              <a:buFont typeface="+mj-lt"/>
              <a:buAutoNum type="alphaUcPeriod" startAt="3"/>
            </a:pPr>
            <a:r>
              <a:rPr lang="en-GB" sz="2000" b="1" dirty="0">
                <a:latin typeface="Calibri" panose="020F0502020204030204" pitchFamily="34" charset="0"/>
                <a:ea typeface="Calibri" panose="020F0502020204030204" pitchFamily="34" charset="0"/>
                <a:cs typeface="Calibri" panose="020F0502020204030204" pitchFamily="34" charset="0"/>
              </a:rPr>
              <a:t>Decoder-only Transformer </a:t>
            </a:r>
            <a:r>
              <a:rPr lang="en-GB" sz="1800" dirty="0">
                <a:latin typeface="Calibri" panose="020F0502020204030204" pitchFamily="34" charset="0"/>
                <a:ea typeface="Calibri" panose="020F0502020204030204" pitchFamily="34" charset="0"/>
                <a:cs typeface="Calibri" panose="020F0502020204030204" pitchFamily="34" charset="0"/>
              </a:rPr>
              <a:t>[12]</a:t>
            </a:r>
          </a:p>
          <a:p>
            <a:pPr marL="342900" lvl="4" indent="-342900">
              <a:buFont typeface="Wingdings" panose="05000000000000000000" pitchFamily="2" charset="2"/>
              <a:buChar char="Ø"/>
            </a:pPr>
            <a:r>
              <a:rPr lang="en-GB" sz="1800" dirty="0">
                <a:latin typeface="Calibri" panose="020F0502020204030204" pitchFamily="34" charset="0"/>
                <a:ea typeface="Calibri" panose="020F0502020204030204" pitchFamily="34" charset="0"/>
                <a:cs typeface="Calibri" panose="020F0502020204030204" pitchFamily="34" charset="0"/>
              </a:rPr>
              <a:t>Sequence generation</a:t>
            </a:r>
          </a:p>
        </p:txBody>
      </p:sp>
      <p:sp>
        <p:nvSpPr>
          <p:cNvPr id="2" name="Slide Number Placeholder 1">
            <a:extLst>
              <a:ext uri="{FF2B5EF4-FFF2-40B4-BE49-F238E27FC236}">
                <a16:creationId xmlns:a16="http://schemas.microsoft.com/office/drawing/2014/main" id="{732EAC61-4385-56F6-A39C-B2BDD9BB82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sp>
        <p:nvSpPr>
          <p:cNvPr id="8" name="TextBox 7">
            <a:extLst>
              <a:ext uri="{FF2B5EF4-FFF2-40B4-BE49-F238E27FC236}">
                <a16:creationId xmlns:a16="http://schemas.microsoft.com/office/drawing/2014/main" id="{82B1C938-835E-A8CB-550D-D546F5F18F26}"/>
              </a:ext>
            </a:extLst>
          </p:cNvPr>
          <p:cNvSpPr txBox="1"/>
          <p:nvPr/>
        </p:nvSpPr>
        <p:spPr>
          <a:xfrm>
            <a:off x="3048000" y="3275112"/>
            <a:ext cx="6096000" cy="307777"/>
          </a:xfrm>
          <a:prstGeom prst="rect">
            <a:avLst/>
          </a:prstGeom>
          <a:noFill/>
        </p:spPr>
        <p:txBody>
          <a:bodyPr wrap="square">
            <a:spAutoFit/>
          </a:bodyPr>
          <a:lstStyle/>
          <a:p>
            <a:r>
              <a:rPr lang="en-GB" b="0" dirty="0">
                <a:effectLst/>
              </a:rPr>
              <a:t> </a:t>
            </a:r>
            <a:endParaRPr lang="en-GB" dirty="0"/>
          </a:p>
        </p:txBody>
      </p:sp>
    </p:spTree>
    <p:extLst>
      <p:ext uri="{BB962C8B-B14F-4D97-AF65-F5344CB8AC3E}">
        <p14:creationId xmlns:p14="http://schemas.microsoft.com/office/powerpoint/2010/main" val="4021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838200" y="5339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GB" sz="3600" b="1" dirty="0"/>
              <a:t>Attention Mechanism</a:t>
            </a:r>
            <a:endParaRPr dirty="0"/>
          </a:p>
        </p:txBody>
      </p:sp>
      <p:sp>
        <p:nvSpPr>
          <p:cNvPr id="188" name="Google Shape;188;p10"/>
          <p:cNvSpPr txBox="1">
            <a:spLocks noGrp="1"/>
          </p:cNvSpPr>
          <p:nvPr>
            <p:ph type="body" idx="1"/>
          </p:nvPr>
        </p:nvSpPr>
        <p:spPr>
          <a:xfrm>
            <a:off x="838200" y="1170995"/>
            <a:ext cx="10515600" cy="1603375"/>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GB" sz="2000" b="1" dirty="0"/>
              <a:t>Scaled dot-product attention</a:t>
            </a:r>
            <a:endParaRPr sz="2000" b="1" dirty="0"/>
          </a:p>
          <a:p>
            <a:pPr marL="914400" lvl="1" indent="-342900" algn="l" rtl="0">
              <a:lnSpc>
                <a:spcPct val="90000"/>
              </a:lnSpc>
              <a:spcBef>
                <a:spcPts val="500"/>
              </a:spcBef>
              <a:spcAft>
                <a:spcPts val="0"/>
              </a:spcAft>
              <a:buSzPts val="1800"/>
              <a:buChar char="•"/>
            </a:pPr>
            <a:r>
              <a:rPr lang="en-GB" sz="1800" dirty="0"/>
              <a:t>Most basic form of self-attention, which allows a model to weigh up the importance of different parts of an input sequence</a:t>
            </a:r>
            <a:endParaRPr dirty="0"/>
          </a:p>
          <a:p>
            <a:pPr marL="914400" lvl="1" indent="-342900" algn="l" rtl="0">
              <a:lnSpc>
                <a:spcPct val="90000"/>
              </a:lnSpc>
              <a:spcBef>
                <a:spcPts val="500"/>
              </a:spcBef>
              <a:spcAft>
                <a:spcPts val="0"/>
              </a:spcAft>
              <a:buSzPts val="1800"/>
              <a:buChar char="•"/>
            </a:pPr>
            <a:r>
              <a:rPr lang="en-GB" sz="1800" dirty="0"/>
              <a:t>Input consists of queries (Q) and keys (K) of dimension d</a:t>
            </a:r>
            <a:r>
              <a:rPr lang="en-GB" sz="1800" baseline="-25000" dirty="0"/>
              <a:t>k</a:t>
            </a:r>
            <a:r>
              <a:rPr lang="en-GB" sz="1800" dirty="0"/>
              <a:t>, and values (V) of dimension d</a:t>
            </a:r>
            <a:r>
              <a:rPr lang="en-GB" sz="1800" baseline="-25000" dirty="0"/>
              <a:t>v</a:t>
            </a:r>
            <a:endParaRPr dirty="0"/>
          </a:p>
          <a:p>
            <a:pPr marL="457200" lvl="0" indent="-342900" algn="l" rtl="0">
              <a:lnSpc>
                <a:spcPct val="90000"/>
              </a:lnSpc>
              <a:spcBef>
                <a:spcPts val="1000"/>
              </a:spcBef>
              <a:spcAft>
                <a:spcPts val="0"/>
              </a:spcAft>
              <a:buClr>
                <a:schemeClr val="dk1"/>
              </a:buClr>
              <a:buSzPts val="1800"/>
              <a:buChar char="•"/>
            </a:pPr>
            <a:r>
              <a:rPr lang="en-GB" sz="2000" b="1" dirty="0"/>
              <a:t>Multi-head attention</a:t>
            </a:r>
            <a:endParaRPr sz="2000" b="1" dirty="0"/>
          </a:p>
          <a:p>
            <a:pPr marL="1371600" lvl="2" indent="-342900" algn="l" rtl="0">
              <a:lnSpc>
                <a:spcPct val="90000"/>
              </a:lnSpc>
              <a:spcBef>
                <a:spcPts val="500"/>
              </a:spcBef>
              <a:spcAft>
                <a:spcPts val="0"/>
              </a:spcAft>
              <a:buSzPts val="1800"/>
              <a:buChar char="•"/>
            </a:pPr>
            <a:r>
              <a:rPr lang="en-GB" sz="1800" dirty="0"/>
              <a:t>Runs multiple self-attention processes in parallel</a:t>
            </a:r>
            <a:endParaRPr dirty="0"/>
          </a:p>
          <a:p>
            <a:pPr marL="1371600" lvl="2" indent="-342900" algn="l" rtl="0">
              <a:lnSpc>
                <a:spcPct val="90000"/>
              </a:lnSpc>
              <a:spcBef>
                <a:spcPts val="500"/>
              </a:spcBef>
              <a:spcAft>
                <a:spcPts val="0"/>
              </a:spcAft>
              <a:buSzPts val="1800"/>
              <a:buChar char="•"/>
            </a:pPr>
            <a:r>
              <a:rPr lang="en-GB" sz="1800" dirty="0"/>
              <a:t>Allows the model to jointly attend to information from different representation subspaces at different positions</a:t>
            </a:r>
            <a:endParaRPr dirty="0"/>
          </a:p>
          <a:p>
            <a:pPr marL="914400" lvl="1" indent="-228600" algn="l" rtl="0">
              <a:lnSpc>
                <a:spcPct val="90000"/>
              </a:lnSpc>
              <a:spcBef>
                <a:spcPts val="500"/>
              </a:spcBef>
              <a:spcAft>
                <a:spcPts val="0"/>
              </a:spcAft>
              <a:buSzPts val="1800"/>
              <a:buNone/>
            </a:pPr>
            <a:endParaRPr sz="1800" baseline="-25000" dirty="0"/>
          </a:p>
        </p:txBody>
      </p:sp>
      <p:sp>
        <p:nvSpPr>
          <p:cNvPr id="189" name="Google Shape;18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10</a:t>
            </a:fld>
            <a:endParaRPr/>
          </a:p>
        </p:txBody>
      </p:sp>
      <p:pic>
        <p:nvPicPr>
          <p:cNvPr id="190" name="Google Shape;190;p10"/>
          <p:cNvPicPr preferRelativeResize="0"/>
          <p:nvPr/>
        </p:nvPicPr>
        <p:blipFill rotWithShape="1">
          <a:blip r:embed="rId3">
            <a:alphaModFix/>
          </a:blip>
          <a:srcRect/>
          <a:stretch/>
        </p:blipFill>
        <p:spPr>
          <a:xfrm>
            <a:off x="838200" y="3891970"/>
            <a:ext cx="4985084" cy="2685428"/>
          </a:xfrm>
          <a:prstGeom prst="rect">
            <a:avLst/>
          </a:prstGeom>
          <a:noFill/>
          <a:ln>
            <a:noFill/>
          </a:ln>
        </p:spPr>
      </p:pic>
      <p:pic>
        <p:nvPicPr>
          <p:cNvPr id="191" name="Google Shape;191;p10"/>
          <p:cNvPicPr preferRelativeResize="0"/>
          <p:nvPr/>
        </p:nvPicPr>
        <p:blipFill rotWithShape="1">
          <a:blip r:embed="rId4">
            <a:alphaModFix/>
          </a:blip>
          <a:srcRect/>
          <a:stretch/>
        </p:blipFill>
        <p:spPr>
          <a:xfrm>
            <a:off x="6096000" y="3618295"/>
            <a:ext cx="5625378" cy="1342643"/>
          </a:xfrm>
          <a:prstGeom prst="rect">
            <a:avLst/>
          </a:prstGeom>
          <a:noFill/>
          <a:ln>
            <a:noFill/>
          </a:ln>
        </p:spPr>
      </p:pic>
      <p:sp>
        <p:nvSpPr>
          <p:cNvPr id="192" name="Google Shape;192;p10"/>
          <p:cNvSpPr txBox="1"/>
          <p:nvPr/>
        </p:nvSpPr>
        <p:spPr>
          <a:xfrm>
            <a:off x="11155669" y="3618295"/>
            <a:ext cx="396262"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000" b="0" i="0" u="none" strike="noStrike" cap="none">
                <a:solidFill>
                  <a:srgbClr val="000000"/>
                </a:solidFill>
                <a:latin typeface="Arial"/>
                <a:ea typeface="Arial"/>
                <a:cs typeface="Arial"/>
                <a:sym typeface="Arial"/>
              </a:rPr>
              <a:t>[23]</a:t>
            </a:r>
            <a:endParaRPr/>
          </a:p>
        </p:txBody>
      </p:sp>
      <p:sp>
        <p:nvSpPr>
          <p:cNvPr id="193" name="Google Shape;193;p10"/>
          <p:cNvSpPr txBox="1"/>
          <p:nvPr/>
        </p:nvSpPr>
        <p:spPr>
          <a:xfrm>
            <a:off x="838200" y="6012873"/>
            <a:ext cx="396262"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000" b="0" i="0" u="none" strike="noStrike" cap="none">
                <a:solidFill>
                  <a:srgbClr val="000000"/>
                </a:solidFill>
                <a:latin typeface="Arial"/>
                <a:ea typeface="Arial"/>
                <a:cs typeface="Arial"/>
                <a:sym typeface="Arial"/>
              </a:rPr>
              <a:t>[10]</a:t>
            </a:r>
            <a:endParaRPr/>
          </a:p>
        </p:txBody>
      </p:sp>
      <p:sp>
        <p:nvSpPr>
          <p:cNvPr id="194" name="Google Shape;194;p10"/>
          <p:cNvSpPr txBox="1"/>
          <p:nvPr/>
        </p:nvSpPr>
        <p:spPr>
          <a:xfrm>
            <a:off x="6300250" y="5471561"/>
            <a:ext cx="498508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r>
              <a:rPr lang="en-GB" sz="2200" b="1" i="0" u="none" strike="noStrike" cap="none" dirty="0">
                <a:solidFill>
                  <a:srgbClr val="FF0000"/>
                </a:solidFill>
                <a:latin typeface="Arial"/>
                <a:ea typeface="Arial"/>
                <a:cs typeface="Arial"/>
                <a:sym typeface="Arial"/>
              </a:rPr>
              <a:t>A</a:t>
            </a:r>
            <a:r>
              <a:rPr lang="en-GB" sz="2200" b="1" i="0" u="none" strike="noStrike" cap="none" dirty="0">
                <a:solidFill>
                  <a:srgbClr val="00B050"/>
                </a:solidFill>
                <a:latin typeface="Arial"/>
                <a:ea typeface="Arial"/>
                <a:cs typeface="Arial"/>
                <a:sym typeface="Arial"/>
              </a:rPr>
              <a:t>C</a:t>
            </a:r>
            <a:r>
              <a:rPr lang="en-GB" sz="2200" b="1" i="0" u="none" strike="noStrike" cap="none" dirty="0">
                <a:solidFill>
                  <a:srgbClr val="0070C0"/>
                </a:solidFill>
                <a:latin typeface="Arial"/>
                <a:ea typeface="Arial"/>
                <a:cs typeface="Arial"/>
                <a:sym typeface="Arial"/>
              </a:rPr>
              <a:t>T</a:t>
            </a:r>
            <a:r>
              <a:rPr lang="en-GB" sz="2200" b="1" i="0" u="none" strike="noStrike" cap="none" dirty="0">
                <a:solidFill>
                  <a:srgbClr val="7030A0"/>
                </a:solidFill>
                <a:latin typeface="Arial"/>
                <a:ea typeface="Arial"/>
                <a:cs typeface="Arial"/>
                <a:sym typeface="Arial"/>
              </a:rPr>
              <a:t>G</a:t>
            </a:r>
            <a:endParaRPr dirty="0"/>
          </a:p>
        </p:txBody>
      </p:sp>
      <p:sp>
        <p:nvSpPr>
          <p:cNvPr id="195" name="Google Shape;195;p10"/>
          <p:cNvSpPr/>
          <p:nvPr/>
        </p:nvSpPr>
        <p:spPr>
          <a:xfrm rot="-5400000">
            <a:off x="8217021" y="5576061"/>
            <a:ext cx="249382" cy="902157"/>
          </a:xfrm>
          <a:prstGeom prst="leftBrace">
            <a:avLst>
              <a:gd name="adj1" fmla="val 8333"/>
              <a:gd name="adj2" fmla="val 47696"/>
            </a:avLst>
          </a:prstGeom>
          <a:noFill/>
          <a:ln w="1905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1" i="0" u="none" strike="noStrike" cap="none">
              <a:solidFill>
                <a:schemeClr val="dk1"/>
              </a:solidFill>
              <a:latin typeface="Arial"/>
              <a:ea typeface="Arial"/>
              <a:cs typeface="Arial"/>
              <a:sym typeface="Arial"/>
            </a:endParaRPr>
          </a:p>
        </p:txBody>
      </p:sp>
      <p:sp>
        <p:nvSpPr>
          <p:cNvPr id="196" name="Google Shape;196;p10"/>
          <p:cNvSpPr/>
          <p:nvPr/>
        </p:nvSpPr>
        <p:spPr>
          <a:xfrm rot="-5400000">
            <a:off x="9993166" y="4989326"/>
            <a:ext cx="249382" cy="2075628"/>
          </a:xfrm>
          <a:prstGeom prst="leftBrace">
            <a:avLst>
              <a:gd name="adj1" fmla="val 8333"/>
              <a:gd name="adj2" fmla="val 47696"/>
            </a:avLst>
          </a:prstGeom>
          <a:noFill/>
          <a:ln w="1905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1" i="0" u="none" strike="noStrike" cap="none">
              <a:solidFill>
                <a:schemeClr val="dk1"/>
              </a:solidFill>
              <a:latin typeface="Arial"/>
              <a:ea typeface="Arial"/>
              <a:cs typeface="Arial"/>
              <a:sym typeface="Arial"/>
            </a:endParaRPr>
          </a:p>
        </p:txBody>
      </p:sp>
      <p:sp>
        <p:nvSpPr>
          <p:cNvPr id="197" name="Google Shape;197;p10"/>
          <p:cNvSpPr/>
          <p:nvPr/>
        </p:nvSpPr>
        <p:spPr>
          <a:xfrm rot="5400000">
            <a:off x="8683657" y="3888194"/>
            <a:ext cx="204518" cy="2962214"/>
          </a:xfrm>
          <a:prstGeom prst="leftBrace">
            <a:avLst>
              <a:gd name="adj1" fmla="val 8333"/>
              <a:gd name="adj2" fmla="val 47696"/>
            </a:avLst>
          </a:prstGeom>
          <a:noFill/>
          <a:ln w="1905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1" i="0" u="none" strike="noStrike" cap="none">
              <a:solidFill>
                <a:schemeClr val="dk1"/>
              </a:solidFill>
              <a:latin typeface="Arial"/>
              <a:ea typeface="Arial"/>
              <a:cs typeface="Arial"/>
              <a:sym typeface="Arial"/>
            </a:endParaRPr>
          </a:p>
        </p:txBody>
      </p:sp>
      <p:sp>
        <p:nvSpPr>
          <p:cNvPr id="198" name="Google Shape;198;p10"/>
          <p:cNvSpPr txBox="1"/>
          <p:nvPr/>
        </p:nvSpPr>
        <p:spPr>
          <a:xfrm>
            <a:off x="8149507" y="4960102"/>
            <a:ext cx="151836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rgbClr val="000000"/>
                </a:solidFill>
                <a:latin typeface="Arial"/>
                <a:ea typeface="Arial"/>
                <a:cs typeface="Arial"/>
                <a:sym typeface="Arial"/>
              </a:rPr>
              <a:t>Attention value 1</a:t>
            </a:r>
            <a:endParaRPr/>
          </a:p>
        </p:txBody>
      </p:sp>
      <p:sp>
        <p:nvSpPr>
          <p:cNvPr id="199" name="Google Shape;199;p10"/>
          <p:cNvSpPr txBox="1"/>
          <p:nvPr/>
        </p:nvSpPr>
        <p:spPr>
          <a:xfrm>
            <a:off x="9358675" y="6178555"/>
            <a:ext cx="151836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a:solidFill>
                  <a:srgbClr val="000000"/>
                </a:solidFill>
                <a:latin typeface="Arial"/>
                <a:ea typeface="Arial"/>
                <a:cs typeface="Arial"/>
                <a:sym typeface="Arial"/>
              </a:rPr>
              <a:t>Attention value 3</a:t>
            </a:r>
            <a:endParaRPr/>
          </a:p>
        </p:txBody>
      </p:sp>
      <p:sp>
        <p:nvSpPr>
          <p:cNvPr id="200" name="Google Shape;200;p10"/>
          <p:cNvSpPr txBox="1"/>
          <p:nvPr/>
        </p:nvSpPr>
        <p:spPr>
          <a:xfrm>
            <a:off x="7582530" y="6165365"/>
            <a:ext cx="151836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400" b="0" i="0" u="none" strike="noStrike" cap="none" dirty="0">
                <a:solidFill>
                  <a:srgbClr val="000000"/>
                </a:solidFill>
                <a:latin typeface="Arial"/>
                <a:ea typeface="Arial"/>
                <a:cs typeface="Arial"/>
                <a:sym typeface="Arial"/>
              </a:rPr>
              <a:t>Attention value 2</a:t>
            </a:r>
            <a:endParaRPr dirty="0"/>
          </a:p>
        </p:txBody>
      </p:sp>
      <p:pic>
        <p:nvPicPr>
          <p:cNvPr id="201" name="Google Shape;201;p10"/>
          <p:cNvPicPr preferRelativeResize="0"/>
          <p:nvPr/>
        </p:nvPicPr>
        <p:blipFill rotWithShape="1">
          <a:blip r:embed="rId5">
            <a:alphaModFix/>
          </a:blip>
          <a:srcRect/>
          <a:stretch/>
        </p:blipFill>
        <p:spPr>
          <a:xfrm>
            <a:off x="7609992" y="448654"/>
            <a:ext cx="3675341" cy="535044"/>
          </a:xfrm>
          <a:prstGeom prst="rect">
            <a:avLst/>
          </a:prstGeom>
          <a:noFill/>
          <a:ln>
            <a:noFill/>
          </a:ln>
        </p:spPr>
      </p:pic>
      <p:sp>
        <p:nvSpPr>
          <p:cNvPr id="202" name="Google Shape;202;p10"/>
          <p:cNvSpPr txBox="1"/>
          <p:nvPr/>
        </p:nvSpPr>
        <p:spPr>
          <a:xfrm>
            <a:off x="10976264" y="223285"/>
            <a:ext cx="396262"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000" b="0" i="0" u="none" strike="noStrike" cap="none" dirty="0">
                <a:solidFill>
                  <a:srgbClr val="000000"/>
                </a:solidFill>
                <a:latin typeface="Arial"/>
                <a:ea typeface="Arial"/>
                <a:cs typeface="Arial"/>
                <a:sym typeface="Arial"/>
              </a:rPr>
              <a:t>[10]</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1"/>
          <p:cNvSpPr txBox="1">
            <a:spLocks noGrp="1"/>
          </p:cNvSpPr>
          <p:nvPr>
            <p:ph type="title"/>
          </p:nvPr>
        </p:nvSpPr>
        <p:spPr>
          <a:xfrm>
            <a:off x="838200" y="2222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GB" sz="3600" b="1"/>
              <a:t>Encoder vs Decoder</a:t>
            </a:r>
            <a:endParaRPr/>
          </a:p>
        </p:txBody>
      </p:sp>
      <p:sp>
        <p:nvSpPr>
          <p:cNvPr id="209" name="Google Shape;209;p11"/>
          <p:cNvSpPr txBox="1">
            <a:spLocks noGrp="1"/>
          </p:cNvSpPr>
          <p:nvPr>
            <p:ph type="body" idx="1"/>
          </p:nvPr>
        </p:nvSpPr>
        <p:spPr>
          <a:xfrm>
            <a:off x="79513" y="1863549"/>
            <a:ext cx="5933360" cy="2017885"/>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1000"/>
              </a:spcBef>
              <a:spcAft>
                <a:spcPts val="0"/>
              </a:spcAft>
              <a:buSzPts val="1800"/>
              <a:buNone/>
            </a:pPr>
            <a:r>
              <a:rPr lang="en-GB" sz="2000" b="1" dirty="0"/>
              <a:t>Encoder</a:t>
            </a:r>
            <a:endParaRPr sz="2000" dirty="0"/>
          </a:p>
          <a:p>
            <a:pPr marL="457200" lvl="0" indent="-342900" algn="l" rtl="0">
              <a:lnSpc>
                <a:spcPct val="90000"/>
              </a:lnSpc>
              <a:spcBef>
                <a:spcPts val="1000"/>
              </a:spcBef>
              <a:spcAft>
                <a:spcPts val="0"/>
              </a:spcAft>
              <a:buClr>
                <a:schemeClr val="dk1"/>
              </a:buClr>
              <a:buSzPts val="1800"/>
              <a:buChar char="•"/>
            </a:pPr>
            <a:r>
              <a:rPr lang="en-GB" sz="1800" dirty="0"/>
              <a:t>Stack of identical layers: each containing a multi-head self-attention mechanism and a fully connected feed-forward network</a:t>
            </a:r>
            <a:endParaRPr sz="1800" dirty="0"/>
          </a:p>
          <a:p>
            <a:pPr marL="457200" lvl="0" indent="-342900" algn="l" rtl="0">
              <a:lnSpc>
                <a:spcPct val="90000"/>
              </a:lnSpc>
              <a:spcBef>
                <a:spcPts val="1000"/>
              </a:spcBef>
              <a:spcAft>
                <a:spcPts val="0"/>
              </a:spcAft>
              <a:buClr>
                <a:schemeClr val="dk1"/>
              </a:buClr>
              <a:buSzPts val="1800"/>
              <a:buChar char="•"/>
            </a:pPr>
            <a:r>
              <a:rPr lang="en-GB" sz="1800" dirty="0"/>
              <a:t>Generates an attention-based representation of the data</a:t>
            </a:r>
            <a:endParaRPr sz="1800" dirty="0"/>
          </a:p>
          <a:p>
            <a:pPr marL="457200" lvl="0" indent="-342900" algn="l" rtl="0">
              <a:lnSpc>
                <a:spcPct val="90000"/>
              </a:lnSpc>
              <a:spcBef>
                <a:spcPts val="1000"/>
              </a:spcBef>
              <a:spcAft>
                <a:spcPts val="0"/>
              </a:spcAft>
              <a:buClr>
                <a:schemeClr val="dk1"/>
              </a:buClr>
              <a:buSzPts val="1800"/>
              <a:buChar char="•"/>
            </a:pPr>
            <a:r>
              <a:rPr lang="en-GB" sz="1800" dirty="0"/>
              <a:t>Can find specific information from long context</a:t>
            </a:r>
            <a:endParaRPr sz="1800" dirty="0"/>
          </a:p>
        </p:txBody>
      </p:sp>
      <p:sp>
        <p:nvSpPr>
          <p:cNvPr id="210" name="Google Shape;2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11</a:t>
            </a:fld>
            <a:endParaRPr/>
          </a:p>
        </p:txBody>
      </p:sp>
      <p:pic>
        <p:nvPicPr>
          <p:cNvPr id="211" name="Google Shape;211;p11"/>
          <p:cNvPicPr preferRelativeResize="0"/>
          <p:nvPr/>
        </p:nvPicPr>
        <p:blipFill rotWithShape="1">
          <a:blip r:embed="rId3">
            <a:alphaModFix/>
          </a:blip>
          <a:srcRect/>
          <a:stretch/>
        </p:blipFill>
        <p:spPr>
          <a:xfrm>
            <a:off x="1158812" y="4291082"/>
            <a:ext cx="3878631" cy="2180261"/>
          </a:xfrm>
          <a:prstGeom prst="rect">
            <a:avLst/>
          </a:prstGeom>
          <a:noFill/>
          <a:ln>
            <a:noFill/>
          </a:ln>
        </p:spPr>
      </p:pic>
      <p:pic>
        <p:nvPicPr>
          <p:cNvPr id="212" name="Google Shape;212;p11"/>
          <p:cNvPicPr preferRelativeResize="0"/>
          <p:nvPr/>
        </p:nvPicPr>
        <p:blipFill rotWithShape="1">
          <a:blip r:embed="rId4">
            <a:alphaModFix/>
          </a:blip>
          <a:srcRect/>
          <a:stretch/>
        </p:blipFill>
        <p:spPr>
          <a:xfrm>
            <a:off x="7187838" y="4153940"/>
            <a:ext cx="2852451" cy="2454545"/>
          </a:xfrm>
          <a:prstGeom prst="rect">
            <a:avLst/>
          </a:prstGeom>
          <a:noFill/>
          <a:ln>
            <a:noFill/>
          </a:ln>
        </p:spPr>
      </p:pic>
      <p:sp>
        <p:nvSpPr>
          <p:cNvPr id="213" name="Google Shape;213;p11"/>
          <p:cNvSpPr txBox="1"/>
          <p:nvPr/>
        </p:nvSpPr>
        <p:spPr>
          <a:xfrm>
            <a:off x="6109857" y="1863549"/>
            <a:ext cx="5933360" cy="1817371"/>
          </a:xfrm>
          <a:prstGeom prst="rect">
            <a:avLst/>
          </a:prstGeom>
          <a:noFill/>
          <a:ln>
            <a:noFill/>
          </a:ln>
        </p:spPr>
        <p:txBody>
          <a:bodyPr spcFirstLastPara="1" wrap="square" lIns="91425" tIns="45700" rIns="91425" bIns="45700" anchor="t" anchorCtr="0">
            <a:noAutofit/>
          </a:bodyPr>
          <a:lstStyle/>
          <a:p>
            <a:pPr marL="114300" marR="0" lvl="0" indent="0" algn="l" rtl="0">
              <a:lnSpc>
                <a:spcPct val="90000"/>
              </a:lnSpc>
              <a:spcBef>
                <a:spcPts val="1000"/>
              </a:spcBef>
              <a:spcAft>
                <a:spcPts val="0"/>
              </a:spcAft>
              <a:buClr>
                <a:schemeClr val="dk1"/>
              </a:buClr>
              <a:buSzPts val="1800"/>
              <a:buFont typeface="Arial"/>
              <a:buNone/>
            </a:pPr>
            <a:r>
              <a:rPr lang="en-GB" sz="2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Decoder</a:t>
            </a:r>
            <a:endParaRPr sz="2000" dirty="0">
              <a:latin typeface="Calibri" panose="020F0502020204030204" pitchFamily="34" charset="0"/>
              <a:ea typeface="Calibri" panose="020F0502020204030204" pitchFamily="34" charset="0"/>
              <a:cs typeface="Calibri" panose="020F0502020204030204" pitchFamily="34" charset="0"/>
            </a:endParaRPr>
          </a:p>
          <a:p>
            <a:pPr marL="457200" marR="0" lvl="0" indent="-342900" algn="l" rtl="0">
              <a:lnSpc>
                <a:spcPct val="90000"/>
              </a:lnSpc>
              <a:spcBef>
                <a:spcPts val="1000"/>
              </a:spcBef>
              <a:spcAft>
                <a:spcPts val="0"/>
              </a:spcAft>
              <a:buClr>
                <a:schemeClr val="dk1"/>
              </a:buClr>
              <a:buSzPts val="1800"/>
              <a:buFont typeface="Arial"/>
              <a:buChar char="•"/>
            </a:pPr>
            <a:r>
              <a:rPr lang="en-GB"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Stack of identical layers: </a:t>
            </a:r>
            <a:r>
              <a:rPr lang="en-GB"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a:t>
            </a:r>
            <a:r>
              <a:rPr lang="en-GB"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n addition to the sub-layers in the encoder, each of the decoder layers contains a third sub-layer which performs multi-head attention over the output of the encoder stack</a:t>
            </a:r>
            <a:endParaRPr sz="1800" dirty="0">
              <a:latin typeface="Calibri" panose="020F0502020204030204" pitchFamily="34" charset="0"/>
              <a:ea typeface="Calibri" panose="020F0502020204030204" pitchFamily="34" charset="0"/>
              <a:cs typeface="Calibri" panose="020F0502020204030204" pitchFamily="34" charset="0"/>
            </a:endParaRPr>
          </a:p>
          <a:p>
            <a:pPr marL="457200" marR="0" lvl="0" indent="-342900" algn="l" rtl="0">
              <a:lnSpc>
                <a:spcPct val="90000"/>
              </a:lnSpc>
              <a:spcBef>
                <a:spcPts val="1000"/>
              </a:spcBef>
              <a:spcAft>
                <a:spcPts val="0"/>
              </a:spcAft>
              <a:buClr>
                <a:schemeClr val="dk1"/>
              </a:buClr>
              <a:buSzPts val="1800"/>
              <a:buFont typeface="Arial"/>
              <a:buChar char="•"/>
            </a:pPr>
            <a:r>
              <a:rPr lang="en-GB"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Retrieves information from the encoded representation</a:t>
            </a:r>
            <a:endParaRPr sz="1800" dirty="0">
              <a:latin typeface="Calibri" panose="020F0502020204030204" pitchFamily="34" charset="0"/>
              <a:ea typeface="Calibri" panose="020F0502020204030204" pitchFamily="34" charset="0"/>
              <a:cs typeface="Calibri" panose="020F0502020204030204" pitchFamily="34" charset="0"/>
            </a:endParaRPr>
          </a:p>
        </p:txBody>
      </p:sp>
      <p:pic>
        <p:nvPicPr>
          <p:cNvPr id="214" name="Google Shape;214;p11"/>
          <p:cNvPicPr preferRelativeResize="0"/>
          <p:nvPr/>
        </p:nvPicPr>
        <p:blipFill rotWithShape="1">
          <a:blip r:embed="rId5">
            <a:alphaModFix/>
          </a:blip>
          <a:srcRect/>
          <a:stretch/>
        </p:blipFill>
        <p:spPr>
          <a:xfrm>
            <a:off x="6109425" y="164994"/>
            <a:ext cx="5126614" cy="1817371"/>
          </a:xfrm>
          <a:prstGeom prst="rect">
            <a:avLst/>
          </a:prstGeom>
          <a:noFill/>
          <a:ln>
            <a:noFill/>
          </a:ln>
        </p:spPr>
      </p:pic>
      <p:sp>
        <p:nvSpPr>
          <p:cNvPr id="215" name="Google Shape;215;p11"/>
          <p:cNvSpPr txBox="1"/>
          <p:nvPr/>
        </p:nvSpPr>
        <p:spPr>
          <a:xfrm>
            <a:off x="11189604" y="136525"/>
            <a:ext cx="396262"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1000" b="0" i="0" u="none" strike="noStrike" cap="none">
                <a:solidFill>
                  <a:srgbClr val="000000"/>
                </a:solidFill>
                <a:latin typeface="Arial"/>
                <a:ea typeface="Arial"/>
                <a:cs typeface="Arial"/>
                <a:sym typeface="Arial"/>
              </a:rPr>
              <a:t>[23]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4890EE1D-6384-ACCB-CE4B-F567C8E947DC}"/>
            </a:ext>
          </a:extLst>
        </p:cNvPr>
        <p:cNvGrpSpPr/>
        <p:nvPr/>
      </p:nvGrpSpPr>
      <p:grpSpPr>
        <a:xfrm>
          <a:off x="0" y="0"/>
          <a:ext cx="0" cy="0"/>
          <a:chOff x="0" y="0"/>
          <a:chExt cx="0" cy="0"/>
        </a:xfrm>
      </p:grpSpPr>
      <p:sp>
        <p:nvSpPr>
          <p:cNvPr id="112" name="Google Shape;112;p16">
            <a:extLst>
              <a:ext uri="{FF2B5EF4-FFF2-40B4-BE49-F238E27FC236}">
                <a16:creationId xmlns:a16="http://schemas.microsoft.com/office/drawing/2014/main" id="{07EEE843-9AA4-BF25-1012-D0C3931B0BBC}"/>
              </a:ext>
            </a:extLst>
          </p:cNvPr>
          <p:cNvSpPr txBox="1">
            <a:spLocks noGrp="1"/>
          </p:cNvSpPr>
          <p:nvPr>
            <p:ph type="body" idx="1"/>
          </p:nvPr>
        </p:nvSpPr>
        <p:spPr>
          <a:xfrm>
            <a:off x="838199" y="955668"/>
            <a:ext cx="10939671" cy="55743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1800"/>
              </a:spcAft>
              <a:buClr>
                <a:schemeClr val="dk1"/>
              </a:buClr>
              <a:buSzPts val="3200"/>
              <a:buNone/>
            </a:pPr>
            <a:r>
              <a:rPr lang="en-GB" sz="2600" dirty="0"/>
              <a:t>Deep learning reduces manual feature design, but it does not eliminate assumptions. In genomic LLMs, those assumptions are embedded in choices like </a:t>
            </a:r>
            <a:r>
              <a:rPr lang="en-GB" sz="2600" b="1" dirty="0"/>
              <a:t>tokenisation</a:t>
            </a:r>
            <a:r>
              <a:rPr lang="en-GB" sz="2600" dirty="0"/>
              <a:t> and model architecture.</a:t>
            </a:r>
          </a:p>
          <a:p>
            <a:pPr marL="0" lvl="0" indent="0">
              <a:spcBef>
                <a:spcPts val="0"/>
              </a:spcBef>
              <a:spcAft>
                <a:spcPts val="1800"/>
              </a:spcAft>
              <a:buSzPts val="3200"/>
              <a:buNone/>
            </a:pPr>
            <a:r>
              <a:rPr lang="en-GB" sz="2600" b="1" dirty="0"/>
              <a:t>Tokenisation</a:t>
            </a:r>
            <a:r>
              <a:rPr lang="en-GB" sz="2600" dirty="0"/>
              <a:t>: the process of converting raw DNA sequences </a:t>
            </a:r>
            <a:r>
              <a:rPr lang="en-GB" sz="2400" dirty="0"/>
              <a:t>(ATGCGTACGTTAGC…) </a:t>
            </a:r>
            <a:r>
              <a:rPr lang="en-GB" sz="2600" dirty="0"/>
              <a:t>into discrete “tokens” that a model can understand and process, e.g.,</a:t>
            </a:r>
          </a:p>
          <a:p>
            <a:pPr indent="-457200">
              <a:spcBef>
                <a:spcPts val="0"/>
              </a:spcBef>
              <a:spcAft>
                <a:spcPts val="1200"/>
              </a:spcAft>
              <a:buSzPts val="3200"/>
            </a:pPr>
            <a:r>
              <a:rPr lang="en-GB" sz="2400" dirty="0"/>
              <a:t>Single-nucleotide tokens (A | T | G | C …): Simple, no assumption…			but sequences can be very long, and it is harder to learn higher-order patterns</a:t>
            </a:r>
          </a:p>
          <a:p>
            <a:pPr indent="-457200">
              <a:spcBef>
                <a:spcPts val="0"/>
              </a:spcBef>
              <a:spcAft>
                <a:spcPts val="1200"/>
              </a:spcAft>
              <a:buSzPts val="3200"/>
            </a:pPr>
            <a:r>
              <a:rPr lang="en-GB" sz="2400" dirty="0"/>
              <a:t>Codon-based tokens (ATG | CGT …): Biologically meaningful in coding regions only</a:t>
            </a:r>
          </a:p>
          <a:p>
            <a:pPr indent="-457200">
              <a:spcBef>
                <a:spcPts val="0"/>
              </a:spcBef>
              <a:spcAft>
                <a:spcPts val="1200"/>
              </a:spcAft>
              <a:buSzPts val="3200"/>
            </a:pPr>
            <a:r>
              <a:rPr lang="en-GB" sz="2400" dirty="0"/>
              <a:t>K-</a:t>
            </a:r>
            <a:r>
              <a:rPr lang="en-GB" sz="2400" dirty="0" err="1"/>
              <a:t>mers</a:t>
            </a:r>
            <a:r>
              <a:rPr lang="en-GB" sz="2400" dirty="0"/>
              <a:t> (fixed-length chunks, e.g., ATGC | GTAC …): Split sequence into non-overlapping or overlapping substrings</a:t>
            </a:r>
          </a:p>
          <a:p>
            <a:pPr indent="-457200">
              <a:spcBef>
                <a:spcPts val="0"/>
              </a:spcBef>
              <a:spcAft>
                <a:spcPts val="1800"/>
              </a:spcAft>
              <a:buSzPts val="3200"/>
            </a:pPr>
            <a:r>
              <a:rPr lang="en-GB" sz="2400" dirty="0"/>
              <a:t>Data-driven tokenisation (ATG | CGTA | CGT ...): e.g., </a:t>
            </a:r>
            <a:r>
              <a:rPr lang="en-GB" sz="2400" b="1" dirty="0"/>
              <a:t>BPE</a:t>
            </a:r>
            <a:r>
              <a:rPr lang="en-GB" sz="2400" dirty="0"/>
              <a:t>, </a:t>
            </a:r>
            <a:r>
              <a:rPr lang="en-GB" sz="2400" dirty="0" err="1"/>
              <a:t>WordPiece</a:t>
            </a:r>
            <a:r>
              <a:rPr lang="en-GB" sz="2400" dirty="0"/>
              <a:t>, &amp; </a:t>
            </a:r>
            <a:r>
              <a:rPr lang="en-GB" sz="2400" dirty="0" err="1"/>
              <a:t>SentencePiece</a:t>
            </a:r>
            <a:endParaRPr lang="en-GB" sz="2400" dirty="0"/>
          </a:p>
        </p:txBody>
      </p:sp>
      <p:sp>
        <p:nvSpPr>
          <p:cNvPr id="2" name="Slide Number Placeholder 1">
            <a:extLst>
              <a:ext uri="{FF2B5EF4-FFF2-40B4-BE49-F238E27FC236}">
                <a16:creationId xmlns:a16="http://schemas.microsoft.com/office/drawing/2014/main" id="{7838F23F-D075-1D05-0325-1F9208F313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dirty="0"/>
          </a:p>
        </p:txBody>
      </p:sp>
      <p:sp>
        <p:nvSpPr>
          <p:cNvPr id="3" name="Title 1">
            <a:extLst>
              <a:ext uri="{FF2B5EF4-FFF2-40B4-BE49-F238E27FC236}">
                <a16:creationId xmlns:a16="http://schemas.microsoft.com/office/drawing/2014/main" id="{388A60AD-8F2E-79BD-E653-62349A3E3DFC}"/>
              </a:ext>
            </a:extLst>
          </p:cNvPr>
          <p:cNvSpPr>
            <a:spLocks noGrp="1"/>
          </p:cNvSpPr>
          <p:nvPr>
            <p:ph type="title"/>
          </p:nvPr>
        </p:nvSpPr>
        <p:spPr>
          <a:xfrm>
            <a:off x="838200" y="1230"/>
            <a:ext cx="5489864" cy="1325563"/>
          </a:xfrm>
        </p:spPr>
        <p:txBody>
          <a:bodyPr>
            <a:normAutofit/>
          </a:bodyPr>
          <a:lstStyle/>
          <a:p>
            <a:r>
              <a:rPr lang="en-GB" sz="3600" b="1" dirty="0" err="1"/>
              <a:t>Tokenisers</a:t>
            </a:r>
            <a:r>
              <a:rPr lang="en-GB" sz="3600" b="1" dirty="0"/>
              <a:t> – Introduction</a:t>
            </a:r>
          </a:p>
        </p:txBody>
      </p:sp>
    </p:spTree>
    <p:extLst>
      <p:ext uri="{BB962C8B-B14F-4D97-AF65-F5344CB8AC3E}">
        <p14:creationId xmlns:p14="http://schemas.microsoft.com/office/powerpoint/2010/main" val="1642261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21D2FC-6AFB-30F0-D22E-7833E7254716}"/>
              </a:ext>
            </a:extLst>
          </p:cNvPr>
          <p:cNvSpPr txBox="1">
            <a:spLocks/>
          </p:cNvSpPr>
          <p:nvPr/>
        </p:nvSpPr>
        <p:spPr>
          <a:xfrm>
            <a:off x="838200" y="1230"/>
            <a:ext cx="5489864"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600" b="1" dirty="0" err="1"/>
              <a:t>Tokenisers</a:t>
            </a:r>
            <a:r>
              <a:rPr lang="en-GB" sz="3600" b="1" dirty="0"/>
              <a:t> – K-</a:t>
            </a:r>
            <a:r>
              <a:rPr lang="en-GB" sz="3600" b="1" dirty="0" err="1"/>
              <a:t>mers</a:t>
            </a:r>
            <a:endParaRPr lang="en-GB" sz="3600" b="1" dirty="0"/>
          </a:p>
        </p:txBody>
      </p:sp>
      <p:sp>
        <p:nvSpPr>
          <p:cNvPr id="3" name="Text Placeholder 2">
            <a:extLst>
              <a:ext uri="{FF2B5EF4-FFF2-40B4-BE49-F238E27FC236}">
                <a16:creationId xmlns:a16="http://schemas.microsoft.com/office/drawing/2014/main" id="{62763D1F-BECA-FCDC-C985-35DA7956003D}"/>
              </a:ext>
            </a:extLst>
          </p:cNvPr>
          <p:cNvSpPr>
            <a:spLocks noGrp="1"/>
          </p:cNvSpPr>
          <p:nvPr>
            <p:ph type="body" idx="1"/>
          </p:nvPr>
        </p:nvSpPr>
        <p:spPr>
          <a:xfrm>
            <a:off x="838200" y="1274902"/>
            <a:ext cx="9885218" cy="4351338"/>
          </a:xfrm>
        </p:spPr>
        <p:txBody>
          <a:bodyPr>
            <a:noAutofit/>
          </a:bodyPr>
          <a:lstStyle/>
          <a:p>
            <a:pPr marL="114300" indent="0">
              <a:spcBef>
                <a:spcPts val="0"/>
              </a:spcBef>
              <a:spcAft>
                <a:spcPts val="1200"/>
              </a:spcAft>
              <a:buNone/>
            </a:pPr>
            <a:r>
              <a:rPr lang="en-GB" sz="2400" dirty="0"/>
              <a:t>The sequence is split into substrings of a fixed length </a:t>
            </a:r>
            <a:r>
              <a:rPr lang="en-GB" sz="2400" i="1" dirty="0"/>
              <a:t>k </a:t>
            </a:r>
            <a:r>
              <a:rPr lang="en-GB" sz="2400" dirty="0"/>
              <a:t>(called </a:t>
            </a:r>
            <a:r>
              <a:rPr lang="en-GB" sz="2400" i="1" dirty="0"/>
              <a:t>k-</a:t>
            </a:r>
            <a:r>
              <a:rPr lang="en-GB" sz="2400" dirty="0" err="1"/>
              <a:t>mers</a:t>
            </a:r>
            <a:r>
              <a:rPr lang="en-GB" sz="2400" dirty="0"/>
              <a:t>)</a:t>
            </a:r>
          </a:p>
          <a:p>
            <a:pPr marL="114300" indent="0">
              <a:spcBef>
                <a:spcPts val="0"/>
              </a:spcBef>
              <a:buNone/>
            </a:pPr>
            <a:r>
              <a:rPr lang="en-GB" sz="2400" b="1" dirty="0"/>
              <a:t>Non-overlapping </a:t>
            </a:r>
            <a:r>
              <a:rPr lang="en-GB" sz="2400" i="1" dirty="0"/>
              <a:t>k</a:t>
            </a:r>
            <a:r>
              <a:rPr lang="en-GB" sz="2400" dirty="0"/>
              <a:t>-</a:t>
            </a:r>
            <a:r>
              <a:rPr lang="en-GB" sz="2400" dirty="0" err="1"/>
              <a:t>mers</a:t>
            </a:r>
            <a:r>
              <a:rPr lang="en-GB" sz="2400" dirty="0"/>
              <a:t> </a:t>
            </a:r>
            <a:r>
              <a:rPr lang="en-GB" sz="2000" dirty="0"/>
              <a:t>(used by Nucleotide Transformer, k=6):</a:t>
            </a:r>
          </a:p>
          <a:p>
            <a:pPr marL="571500" lvl="1" indent="0">
              <a:spcBef>
                <a:spcPts val="0"/>
              </a:spcBef>
              <a:buNone/>
            </a:pPr>
            <a:r>
              <a:rPr lang="en-GB" sz="2000" dirty="0"/>
              <a:t>Pros:</a:t>
            </a:r>
          </a:p>
          <a:p>
            <a:pPr lvl="2">
              <a:spcBef>
                <a:spcPts val="0"/>
              </a:spcBef>
            </a:pPr>
            <a:r>
              <a:rPr lang="en-GB" dirty="0"/>
              <a:t>Reduce sequence length</a:t>
            </a:r>
          </a:p>
          <a:p>
            <a:pPr lvl="2">
              <a:spcBef>
                <a:spcPts val="0"/>
              </a:spcBef>
            </a:pPr>
            <a:r>
              <a:rPr lang="en-GB" dirty="0"/>
              <a:t>Simpler computational processing</a:t>
            </a:r>
          </a:p>
          <a:p>
            <a:pPr marL="571500" lvl="1" indent="0">
              <a:spcBef>
                <a:spcPts val="0"/>
              </a:spcBef>
              <a:buNone/>
            </a:pPr>
            <a:r>
              <a:rPr lang="en-GB" sz="2000" dirty="0"/>
              <a:t>Cons:</a:t>
            </a:r>
          </a:p>
          <a:p>
            <a:pPr lvl="2">
              <a:spcBef>
                <a:spcPts val="0"/>
              </a:spcBef>
            </a:pPr>
            <a:r>
              <a:rPr lang="en-GB" dirty="0"/>
              <a:t>May miss motifs spanning token boundaries</a:t>
            </a:r>
          </a:p>
          <a:p>
            <a:pPr lvl="2">
              <a:spcBef>
                <a:spcPts val="0"/>
              </a:spcBef>
              <a:spcAft>
                <a:spcPts val="1200"/>
              </a:spcAft>
            </a:pPr>
            <a:r>
              <a:rPr lang="en-GB" dirty="0"/>
              <a:t>Less robust to sequence variations (indels create dramatic changes)</a:t>
            </a:r>
          </a:p>
          <a:p>
            <a:pPr marL="114300" indent="0">
              <a:spcBef>
                <a:spcPts val="0"/>
              </a:spcBef>
              <a:buNone/>
            </a:pPr>
            <a:r>
              <a:rPr lang="en-GB" sz="2400" b="1" dirty="0"/>
              <a:t>Overlapping </a:t>
            </a:r>
            <a:r>
              <a:rPr lang="en-GB" sz="2400" i="1" dirty="0"/>
              <a:t>k</a:t>
            </a:r>
            <a:r>
              <a:rPr lang="en-GB" sz="2400" dirty="0"/>
              <a:t>-</a:t>
            </a:r>
            <a:r>
              <a:rPr lang="en-GB" sz="2400" dirty="0" err="1"/>
              <a:t>mers</a:t>
            </a:r>
            <a:r>
              <a:rPr lang="en-GB" sz="2400" dirty="0"/>
              <a:t> </a:t>
            </a:r>
            <a:r>
              <a:rPr lang="en-GB" sz="2000" dirty="0"/>
              <a:t>(used by DNABERT-1, k = 3 to 6):</a:t>
            </a:r>
          </a:p>
          <a:p>
            <a:pPr marL="571500" lvl="1" indent="0">
              <a:spcBef>
                <a:spcPts val="0"/>
              </a:spcBef>
              <a:buNone/>
            </a:pPr>
            <a:r>
              <a:rPr lang="en-GB" sz="2000" dirty="0"/>
              <a:t>Pros:</a:t>
            </a:r>
          </a:p>
          <a:p>
            <a:pPr lvl="2">
              <a:spcBef>
                <a:spcPts val="0"/>
              </a:spcBef>
            </a:pPr>
            <a:r>
              <a:rPr lang="en-GB" dirty="0"/>
              <a:t>Captures local motifs effectively</a:t>
            </a:r>
          </a:p>
          <a:p>
            <a:pPr lvl="2">
              <a:spcBef>
                <a:spcPts val="0"/>
              </a:spcBef>
            </a:pPr>
            <a:r>
              <a:rPr lang="en-GB" dirty="0"/>
              <a:t>Provides richer context via overlap</a:t>
            </a:r>
          </a:p>
          <a:p>
            <a:pPr marL="571500" lvl="1" indent="0">
              <a:spcBef>
                <a:spcPts val="0"/>
              </a:spcBef>
              <a:buNone/>
            </a:pPr>
            <a:r>
              <a:rPr lang="en-GB" sz="2000" dirty="0"/>
              <a:t>Cons:</a:t>
            </a:r>
          </a:p>
          <a:p>
            <a:pPr lvl="2">
              <a:spcBef>
                <a:spcPts val="0"/>
              </a:spcBef>
            </a:pPr>
            <a:r>
              <a:rPr lang="en-GB" dirty="0"/>
              <a:t>Introduce redundancy and longer sequences</a:t>
            </a:r>
          </a:p>
          <a:p>
            <a:pPr lvl="2">
              <a:spcBef>
                <a:spcPts val="0"/>
              </a:spcBef>
              <a:spcAft>
                <a:spcPts val="1200"/>
              </a:spcAft>
            </a:pPr>
            <a:r>
              <a:rPr lang="en-GB" dirty="0"/>
              <a:t>Higher computational and memory load </a:t>
            </a:r>
          </a:p>
        </p:txBody>
      </p:sp>
      <p:pic>
        <p:nvPicPr>
          <p:cNvPr id="4" name="Picture 3">
            <a:extLst>
              <a:ext uri="{FF2B5EF4-FFF2-40B4-BE49-F238E27FC236}">
                <a16:creationId xmlns:a16="http://schemas.microsoft.com/office/drawing/2014/main" id="{B0CA76BF-471C-8A43-25D2-577918FC0770}"/>
              </a:ext>
            </a:extLst>
          </p:cNvPr>
          <p:cNvPicPr>
            <a:picLocks noChangeAspect="1"/>
          </p:cNvPicPr>
          <p:nvPr/>
        </p:nvPicPr>
        <p:blipFill>
          <a:blip r:embed="rId3"/>
          <a:stretch>
            <a:fillRect/>
          </a:stretch>
        </p:blipFill>
        <p:spPr>
          <a:xfrm>
            <a:off x="9296027" y="2706220"/>
            <a:ext cx="2381250" cy="3514725"/>
          </a:xfrm>
          <a:prstGeom prst="rect">
            <a:avLst/>
          </a:prstGeom>
        </p:spPr>
      </p:pic>
      <p:sp>
        <p:nvSpPr>
          <p:cNvPr id="5" name="Slide Number Placeholder 4">
            <a:extLst>
              <a:ext uri="{FF2B5EF4-FFF2-40B4-BE49-F238E27FC236}">
                <a16:creationId xmlns:a16="http://schemas.microsoft.com/office/drawing/2014/main" id="{9C8BF39B-087E-F2CF-116D-CFFE829D31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dirty="0"/>
          </a:p>
        </p:txBody>
      </p:sp>
    </p:spTree>
    <p:extLst>
      <p:ext uri="{BB962C8B-B14F-4D97-AF65-F5344CB8AC3E}">
        <p14:creationId xmlns:p14="http://schemas.microsoft.com/office/powerpoint/2010/main" val="106751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FDC2D59-BF06-2F56-A45C-759A1174823A}"/>
              </a:ext>
            </a:extLst>
          </p:cNvPr>
          <p:cNvSpPr txBox="1">
            <a:spLocks/>
          </p:cNvSpPr>
          <p:nvPr/>
        </p:nvSpPr>
        <p:spPr>
          <a:xfrm>
            <a:off x="838199" y="1230"/>
            <a:ext cx="11353801"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600" b="1" dirty="0" err="1"/>
              <a:t>Tokenisers</a:t>
            </a:r>
            <a:r>
              <a:rPr lang="en-GB" sz="3600" b="1" dirty="0"/>
              <a:t> – Byte-Pair Encoding (BPE)</a:t>
            </a:r>
            <a:r>
              <a:rPr lang="en-GB" sz="1800" dirty="0"/>
              <a:t> (used by DNABERT-2 </a:t>
            </a:r>
            <a:r>
              <a:rPr lang="en-GB" sz="1400" dirty="0"/>
              <a:t>[20]</a:t>
            </a:r>
            <a:r>
              <a:rPr lang="en-GB" sz="1800" dirty="0"/>
              <a:t>, GROVER </a:t>
            </a:r>
            <a:r>
              <a:rPr lang="en-GB" sz="1400" dirty="0"/>
              <a:t>[21]</a:t>
            </a:r>
            <a:r>
              <a:rPr lang="en-GB" sz="1800" dirty="0"/>
              <a:t>)</a:t>
            </a:r>
            <a:r>
              <a:rPr lang="en-GB" sz="3600" b="1" dirty="0"/>
              <a:t> </a:t>
            </a:r>
          </a:p>
        </p:txBody>
      </p:sp>
      <p:sp>
        <p:nvSpPr>
          <p:cNvPr id="3" name="Text Placeholder 2">
            <a:extLst>
              <a:ext uri="{FF2B5EF4-FFF2-40B4-BE49-F238E27FC236}">
                <a16:creationId xmlns:a16="http://schemas.microsoft.com/office/drawing/2014/main" id="{F049B8A6-D822-5C42-5BC2-B031223DED7D}"/>
              </a:ext>
            </a:extLst>
          </p:cNvPr>
          <p:cNvSpPr>
            <a:spLocks noGrp="1"/>
          </p:cNvSpPr>
          <p:nvPr>
            <p:ph type="body" idx="1"/>
          </p:nvPr>
        </p:nvSpPr>
        <p:spPr>
          <a:xfrm>
            <a:off x="838200" y="1184561"/>
            <a:ext cx="10515600" cy="2189667"/>
          </a:xfrm>
        </p:spPr>
        <p:txBody>
          <a:bodyPr>
            <a:noAutofit/>
          </a:bodyPr>
          <a:lstStyle/>
          <a:p>
            <a:pPr marL="114300" indent="0">
              <a:buNone/>
            </a:pPr>
            <a:r>
              <a:rPr lang="en-GB" sz="2600" dirty="0"/>
              <a:t>With fixed-length tokens, token frequencies become very heterogeneous</a:t>
            </a:r>
          </a:p>
          <a:p>
            <a:pPr lvl="1"/>
            <a:r>
              <a:rPr lang="en-GB" dirty="0"/>
              <a:t>Genomes are not random strings, e.g., many genomes are A/T-rich because CG dinucleotides are prone to mutation</a:t>
            </a:r>
          </a:p>
          <a:p>
            <a:pPr marL="114300" indent="0">
              <a:buNone/>
            </a:pPr>
            <a:r>
              <a:rPr lang="en-GB" sz="2600" b="1" dirty="0"/>
              <a:t>BPE</a:t>
            </a:r>
            <a:r>
              <a:rPr lang="en-GB" sz="2600" dirty="0"/>
              <a:t> assumes that frequently occurring substrings are meaningful.</a:t>
            </a:r>
          </a:p>
          <a:p>
            <a:pPr marL="114300" indent="0">
              <a:buNone/>
            </a:pPr>
            <a:r>
              <a:rPr lang="en-GB" sz="2600" dirty="0"/>
              <a:t>It builds progressively larger tokens from frequent sequence content by iteratively merging the most common adjacent token pairs.</a:t>
            </a:r>
          </a:p>
        </p:txBody>
      </p:sp>
      <p:sp>
        <p:nvSpPr>
          <p:cNvPr id="4" name="Slide Number Placeholder 3">
            <a:extLst>
              <a:ext uri="{FF2B5EF4-FFF2-40B4-BE49-F238E27FC236}">
                <a16:creationId xmlns:a16="http://schemas.microsoft.com/office/drawing/2014/main" id="{45765E6E-C880-FCF9-65BD-1E1A8AEC3A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sp>
        <p:nvSpPr>
          <p:cNvPr id="14" name="TextBox 13">
            <a:extLst>
              <a:ext uri="{FF2B5EF4-FFF2-40B4-BE49-F238E27FC236}">
                <a16:creationId xmlns:a16="http://schemas.microsoft.com/office/drawing/2014/main" id="{6E850227-CCE5-2125-5F9B-B23713FA587A}"/>
              </a:ext>
            </a:extLst>
          </p:cNvPr>
          <p:cNvSpPr txBox="1"/>
          <p:nvPr/>
        </p:nvSpPr>
        <p:spPr>
          <a:xfrm>
            <a:off x="505686" y="3925310"/>
            <a:ext cx="11353802" cy="2339102"/>
          </a:xfrm>
          <a:prstGeom prst="rect">
            <a:avLst/>
          </a:prstGeom>
          <a:noFill/>
        </p:spPr>
        <p:txBody>
          <a:bodyPr wrap="square">
            <a:spAutoFit/>
          </a:bodyPr>
          <a:lstStyle/>
          <a:p>
            <a:r>
              <a:rPr lang="en-GB" sz="2000" dirty="0"/>
              <a:t>Let’s encode AAAGTAAAGAC using BPE:</a:t>
            </a:r>
          </a:p>
          <a:p>
            <a:endParaRPr lang="en-GB" sz="600" u="sng" dirty="0"/>
          </a:p>
          <a:p>
            <a:r>
              <a:rPr lang="en-GB" sz="2000" u="sng" dirty="0"/>
              <a:t>Sequence</a:t>
            </a:r>
            <a:r>
              <a:rPr lang="en-GB" sz="2000" dirty="0"/>
              <a:t>				</a:t>
            </a:r>
            <a:r>
              <a:rPr lang="en-GB" sz="2000" u="sng" dirty="0"/>
              <a:t>Tokens</a:t>
            </a:r>
          </a:p>
          <a:p>
            <a:r>
              <a:rPr lang="en-GB" sz="2000" b="1" dirty="0">
                <a:solidFill>
                  <a:srgbClr val="FF0000"/>
                </a:solidFill>
              </a:rPr>
              <a:t>AA</a:t>
            </a:r>
            <a:r>
              <a:rPr lang="en-GB" sz="2000" dirty="0"/>
              <a:t>AGT</a:t>
            </a:r>
            <a:r>
              <a:rPr lang="en-GB" sz="2000" b="1" dirty="0">
                <a:solidFill>
                  <a:srgbClr val="FF0000"/>
                </a:solidFill>
              </a:rPr>
              <a:t>AA</a:t>
            </a:r>
            <a:r>
              <a:rPr lang="en-GB" sz="2000" dirty="0"/>
              <a:t>AGAC 			{A, G, T, C}</a:t>
            </a:r>
            <a:endParaRPr lang="en-GB" sz="2000" b="1" dirty="0">
              <a:solidFill>
                <a:srgbClr val="FF0000"/>
              </a:solidFill>
            </a:endParaRPr>
          </a:p>
          <a:p>
            <a:r>
              <a:rPr lang="en-GB" sz="2000" dirty="0"/>
              <a:t>X</a:t>
            </a:r>
            <a:r>
              <a:rPr lang="en-GB" sz="2000" b="1" dirty="0">
                <a:solidFill>
                  <a:srgbClr val="00B050"/>
                </a:solidFill>
              </a:rPr>
              <a:t>AG</a:t>
            </a:r>
            <a:r>
              <a:rPr lang="en-GB" sz="2000" dirty="0"/>
              <a:t>TX</a:t>
            </a:r>
            <a:r>
              <a:rPr lang="en-GB" sz="2000" b="1" dirty="0">
                <a:solidFill>
                  <a:srgbClr val="00B050"/>
                </a:solidFill>
              </a:rPr>
              <a:t>AG</a:t>
            </a:r>
            <a:r>
              <a:rPr lang="en-GB" sz="2000" dirty="0"/>
              <a:t>AC 				{A, G, T, C, </a:t>
            </a:r>
            <a:r>
              <a:rPr lang="en-GB" sz="2000" b="1" dirty="0">
                <a:solidFill>
                  <a:srgbClr val="FF0000"/>
                </a:solidFill>
              </a:rPr>
              <a:t>X</a:t>
            </a:r>
            <a:r>
              <a:rPr lang="en-GB" sz="2000" dirty="0"/>
              <a:t>}, where </a:t>
            </a:r>
            <a:r>
              <a:rPr lang="en-GB" sz="2000" dirty="0">
                <a:solidFill>
                  <a:srgbClr val="FF0000"/>
                </a:solidFill>
              </a:rPr>
              <a:t>X = AA</a:t>
            </a:r>
          </a:p>
          <a:p>
            <a:r>
              <a:rPr lang="en-GB" sz="2000" b="1" dirty="0">
                <a:solidFill>
                  <a:srgbClr val="0070C0"/>
                </a:solidFill>
              </a:rPr>
              <a:t>XY</a:t>
            </a:r>
            <a:r>
              <a:rPr lang="en-GB" sz="2000" dirty="0"/>
              <a:t>T</a:t>
            </a:r>
            <a:r>
              <a:rPr lang="en-GB" sz="2000" b="1" dirty="0">
                <a:solidFill>
                  <a:srgbClr val="0070C0"/>
                </a:solidFill>
              </a:rPr>
              <a:t>XY</a:t>
            </a:r>
            <a:r>
              <a:rPr lang="en-GB" sz="2000" dirty="0"/>
              <a:t>AC				{A, G, T, C, </a:t>
            </a:r>
            <a:r>
              <a:rPr lang="en-GB" sz="2000" b="1" dirty="0">
                <a:solidFill>
                  <a:srgbClr val="FF0000"/>
                </a:solidFill>
              </a:rPr>
              <a:t>X, </a:t>
            </a:r>
            <a:r>
              <a:rPr lang="en-GB" sz="2000" b="1" dirty="0">
                <a:solidFill>
                  <a:srgbClr val="00B050"/>
                </a:solidFill>
              </a:rPr>
              <a:t>Y</a:t>
            </a:r>
            <a:r>
              <a:rPr lang="en-GB" sz="2000" dirty="0"/>
              <a:t>}, where </a:t>
            </a:r>
            <a:r>
              <a:rPr lang="en-GB" sz="2000" dirty="0">
                <a:solidFill>
                  <a:srgbClr val="00B050"/>
                </a:solidFill>
              </a:rPr>
              <a:t>Y = AG </a:t>
            </a:r>
            <a:r>
              <a:rPr lang="en-GB" sz="2000" dirty="0"/>
              <a:t>&amp; X = AA</a:t>
            </a:r>
          </a:p>
          <a:p>
            <a:r>
              <a:rPr lang="en-GB" sz="2000" dirty="0">
                <a:solidFill>
                  <a:srgbClr val="7030A0"/>
                </a:solidFill>
              </a:rPr>
              <a:t>Z</a:t>
            </a:r>
            <a:r>
              <a:rPr lang="en-GB" sz="2000" dirty="0"/>
              <a:t>TZAC					{A, G, T, C, </a:t>
            </a:r>
            <a:r>
              <a:rPr lang="en-GB" sz="2000" b="1" dirty="0">
                <a:solidFill>
                  <a:srgbClr val="FF0000"/>
                </a:solidFill>
              </a:rPr>
              <a:t>X, </a:t>
            </a:r>
            <a:r>
              <a:rPr lang="en-GB" sz="2000" b="1" dirty="0">
                <a:solidFill>
                  <a:srgbClr val="00B050"/>
                </a:solidFill>
              </a:rPr>
              <a:t>Y, </a:t>
            </a:r>
            <a:r>
              <a:rPr lang="en-GB" sz="2000" b="1" dirty="0">
                <a:solidFill>
                  <a:srgbClr val="0070C0"/>
                </a:solidFill>
              </a:rPr>
              <a:t>Z</a:t>
            </a:r>
            <a:r>
              <a:rPr lang="en-GB" sz="2000" dirty="0"/>
              <a:t>}, where </a:t>
            </a:r>
            <a:r>
              <a:rPr lang="en-GB" sz="2000" dirty="0">
                <a:solidFill>
                  <a:srgbClr val="0070C0"/>
                </a:solidFill>
              </a:rPr>
              <a:t>Z = XY</a:t>
            </a:r>
            <a:r>
              <a:rPr lang="en-GB" sz="2000" dirty="0"/>
              <a:t>, Y = AG and X = AA</a:t>
            </a:r>
          </a:p>
          <a:p>
            <a:r>
              <a:rPr lang="en-GB" sz="2000" dirty="0"/>
              <a:t>i.e., [AAAG][T][AAAG][A][C]</a:t>
            </a:r>
          </a:p>
        </p:txBody>
      </p:sp>
    </p:spTree>
    <p:extLst>
      <p:ext uri="{BB962C8B-B14F-4D97-AF65-F5344CB8AC3E}">
        <p14:creationId xmlns:p14="http://schemas.microsoft.com/office/powerpoint/2010/main" val="2797192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C786B-7409-7272-032C-2A33A80A8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1B983-800E-814B-1809-71306C872DD0}"/>
              </a:ext>
            </a:extLst>
          </p:cNvPr>
          <p:cNvSpPr>
            <a:spLocks noGrp="1"/>
          </p:cNvSpPr>
          <p:nvPr>
            <p:ph type="title"/>
          </p:nvPr>
        </p:nvSpPr>
        <p:spPr>
          <a:xfrm>
            <a:off x="838200" y="1230"/>
            <a:ext cx="11353800" cy="1325563"/>
          </a:xfrm>
        </p:spPr>
        <p:txBody>
          <a:bodyPr>
            <a:normAutofit/>
          </a:bodyPr>
          <a:lstStyle/>
          <a:p>
            <a:r>
              <a:rPr lang="en-GB" sz="3600" b="1" dirty="0"/>
              <a:t>Large Language Models (from 2018) </a:t>
            </a:r>
          </a:p>
        </p:txBody>
      </p:sp>
      <p:sp>
        <p:nvSpPr>
          <p:cNvPr id="13" name="Text Placeholder 12">
            <a:extLst>
              <a:ext uri="{FF2B5EF4-FFF2-40B4-BE49-F238E27FC236}">
                <a16:creationId xmlns:a16="http://schemas.microsoft.com/office/drawing/2014/main" id="{FCDBFEB5-0108-2374-148B-73DC66652ACF}"/>
              </a:ext>
            </a:extLst>
          </p:cNvPr>
          <p:cNvSpPr>
            <a:spLocks noGrp="1"/>
          </p:cNvSpPr>
          <p:nvPr>
            <p:ph type="body" idx="1"/>
          </p:nvPr>
        </p:nvSpPr>
        <p:spPr>
          <a:xfrm>
            <a:off x="826461" y="1166099"/>
            <a:ext cx="10515600" cy="2822931"/>
          </a:xfrm>
        </p:spPr>
        <p:txBody>
          <a:bodyPr>
            <a:normAutofit/>
          </a:bodyPr>
          <a:lstStyle/>
          <a:p>
            <a:pPr marL="114300" indent="0">
              <a:buNone/>
            </a:pPr>
            <a:r>
              <a:rPr lang="en-GB" sz="2400" dirty="0"/>
              <a:t>Large-scale models built on the Transformer architecture</a:t>
            </a:r>
          </a:p>
          <a:p>
            <a:r>
              <a:rPr lang="en-GB" sz="2400" dirty="0"/>
              <a:t>Have usually billions of parameters</a:t>
            </a:r>
          </a:p>
          <a:p>
            <a:r>
              <a:rPr lang="en-GB" sz="2400" dirty="0"/>
              <a:t>Trained in an unsupervised manner (no need for labels) on large corpora of sequence data requiring significant amount of processing power</a:t>
            </a:r>
          </a:p>
          <a:p>
            <a:pPr>
              <a:buFont typeface="Wingdings" panose="05000000000000000000" pitchFamily="2" charset="2"/>
              <a:buChar char="è"/>
            </a:pPr>
            <a:r>
              <a:rPr lang="en-GB" sz="2400" dirty="0"/>
              <a:t>Ability to accurately model long-range dependencies within sequences</a:t>
            </a:r>
          </a:p>
        </p:txBody>
      </p:sp>
      <p:grpSp>
        <p:nvGrpSpPr>
          <p:cNvPr id="3" name="Group 2">
            <a:extLst>
              <a:ext uri="{FF2B5EF4-FFF2-40B4-BE49-F238E27FC236}">
                <a16:creationId xmlns:a16="http://schemas.microsoft.com/office/drawing/2014/main" id="{A14A00C2-1252-AC8D-B075-8FBA848CA6DE}"/>
              </a:ext>
            </a:extLst>
          </p:cNvPr>
          <p:cNvGrpSpPr/>
          <p:nvPr/>
        </p:nvGrpSpPr>
        <p:grpSpPr>
          <a:xfrm>
            <a:off x="3330575" y="3765549"/>
            <a:ext cx="8023225" cy="2454275"/>
            <a:chOff x="3225800" y="4318000"/>
            <a:chExt cx="7910975" cy="2374900"/>
          </a:xfrm>
        </p:grpSpPr>
        <p:sp>
          <p:nvSpPr>
            <p:cNvPr id="8" name="Cylinder 7">
              <a:extLst>
                <a:ext uri="{FF2B5EF4-FFF2-40B4-BE49-F238E27FC236}">
                  <a16:creationId xmlns:a16="http://schemas.microsoft.com/office/drawing/2014/main" id="{49490A6C-07A4-09DF-C397-239343D7416C}"/>
                </a:ext>
              </a:extLst>
            </p:cNvPr>
            <p:cNvSpPr/>
            <p:nvPr/>
          </p:nvSpPr>
          <p:spPr>
            <a:xfrm>
              <a:off x="3225800" y="4318000"/>
              <a:ext cx="1435100" cy="10922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Data</a:t>
              </a:r>
            </a:p>
          </p:txBody>
        </p:sp>
        <p:sp>
          <p:nvSpPr>
            <p:cNvPr id="9" name="Rectangle 8">
              <a:extLst>
                <a:ext uri="{FF2B5EF4-FFF2-40B4-BE49-F238E27FC236}">
                  <a16:creationId xmlns:a16="http://schemas.microsoft.com/office/drawing/2014/main" id="{7F529266-6908-450E-0F95-C8C4D6C61A14}"/>
                </a:ext>
              </a:extLst>
            </p:cNvPr>
            <p:cNvSpPr/>
            <p:nvPr/>
          </p:nvSpPr>
          <p:spPr>
            <a:xfrm>
              <a:off x="5381425" y="4668300"/>
              <a:ext cx="1435100" cy="381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Tokenisation</a:t>
              </a:r>
            </a:p>
          </p:txBody>
        </p:sp>
        <p:sp>
          <p:nvSpPr>
            <p:cNvPr id="10" name="Flowchart: Alternate Process 9">
              <a:extLst>
                <a:ext uri="{FF2B5EF4-FFF2-40B4-BE49-F238E27FC236}">
                  <a16:creationId xmlns:a16="http://schemas.microsoft.com/office/drawing/2014/main" id="{8B1726B6-9F30-1005-9973-59920258A4D2}"/>
                </a:ext>
              </a:extLst>
            </p:cNvPr>
            <p:cNvSpPr/>
            <p:nvPr/>
          </p:nvSpPr>
          <p:spPr>
            <a:xfrm>
              <a:off x="7518400" y="4483100"/>
              <a:ext cx="1435100" cy="762000"/>
            </a:xfrm>
            <a:prstGeom prst="flowChartAlternateProcess">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LLM Architecture</a:t>
              </a:r>
            </a:p>
          </p:txBody>
        </p:sp>
        <p:cxnSp>
          <p:nvCxnSpPr>
            <p:cNvPr id="12" name="Straight Arrow Connector 11">
              <a:extLst>
                <a:ext uri="{FF2B5EF4-FFF2-40B4-BE49-F238E27FC236}">
                  <a16:creationId xmlns:a16="http://schemas.microsoft.com/office/drawing/2014/main" id="{C7F96B5E-3508-D350-CA01-DB1D38695D86}"/>
                </a:ext>
              </a:extLst>
            </p:cNvPr>
            <p:cNvCxnSpPr>
              <a:cxnSpLocks/>
              <a:stCxn id="8" idx="4"/>
              <a:endCxn id="9" idx="1"/>
            </p:cNvCxnSpPr>
            <p:nvPr/>
          </p:nvCxnSpPr>
          <p:spPr>
            <a:xfrm flipV="1">
              <a:off x="4660900" y="4858800"/>
              <a:ext cx="720525" cy="5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B3CFE59-B487-C5E7-8E9A-15F98F37E61E}"/>
                </a:ext>
              </a:extLst>
            </p:cNvPr>
            <p:cNvCxnSpPr>
              <a:stCxn id="9" idx="3"/>
              <a:endCxn id="10" idx="1"/>
            </p:cNvCxnSpPr>
            <p:nvPr/>
          </p:nvCxnSpPr>
          <p:spPr>
            <a:xfrm>
              <a:off x="6816525" y="4858800"/>
              <a:ext cx="701875" cy="5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Alternate Process 15">
              <a:extLst>
                <a:ext uri="{FF2B5EF4-FFF2-40B4-BE49-F238E27FC236}">
                  <a16:creationId xmlns:a16="http://schemas.microsoft.com/office/drawing/2014/main" id="{59228361-4D92-0ADB-2D46-D15714FADC90}"/>
                </a:ext>
              </a:extLst>
            </p:cNvPr>
            <p:cNvSpPr/>
            <p:nvPr/>
          </p:nvSpPr>
          <p:spPr>
            <a:xfrm>
              <a:off x="9690100" y="4483100"/>
              <a:ext cx="1435100" cy="762000"/>
            </a:xfrm>
            <a:prstGeom prst="flowChartAlternate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Base Model (Foundation Model)</a:t>
              </a:r>
            </a:p>
          </p:txBody>
        </p:sp>
        <p:cxnSp>
          <p:nvCxnSpPr>
            <p:cNvPr id="18" name="Straight Arrow Connector 17">
              <a:extLst>
                <a:ext uri="{FF2B5EF4-FFF2-40B4-BE49-F238E27FC236}">
                  <a16:creationId xmlns:a16="http://schemas.microsoft.com/office/drawing/2014/main" id="{CF5862D5-F3D4-2352-D41B-628F7CA4CE63}"/>
                </a:ext>
              </a:extLst>
            </p:cNvPr>
            <p:cNvCxnSpPr>
              <a:stCxn id="10" idx="3"/>
              <a:endCxn id="16" idx="1"/>
            </p:cNvCxnSpPr>
            <p:nvPr/>
          </p:nvCxnSpPr>
          <p:spPr>
            <a:xfrm>
              <a:off x="8953500" y="4864100"/>
              <a:ext cx="736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Cylinder 18">
              <a:extLst>
                <a:ext uri="{FF2B5EF4-FFF2-40B4-BE49-F238E27FC236}">
                  <a16:creationId xmlns:a16="http://schemas.microsoft.com/office/drawing/2014/main" id="{841E59DE-3AC6-882A-3D26-7ACECC4F1D5E}"/>
                </a:ext>
              </a:extLst>
            </p:cNvPr>
            <p:cNvSpPr/>
            <p:nvPr/>
          </p:nvSpPr>
          <p:spPr>
            <a:xfrm>
              <a:off x="3517900" y="5930900"/>
              <a:ext cx="1143000" cy="762000"/>
            </a:xfrm>
            <a:prstGeom prst="can">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Task-specific Data</a:t>
              </a:r>
            </a:p>
          </p:txBody>
        </p:sp>
        <p:sp>
          <p:nvSpPr>
            <p:cNvPr id="20" name="Rectangle 19">
              <a:extLst>
                <a:ext uri="{FF2B5EF4-FFF2-40B4-BE49-F238E27FC236}">
                  <a16:creationId xmlns:a16="http://schemas.microsoft.com/office/drawing/2014/main" id="{EF99818D-7E28-3B80-05E7-8878EBB687F8}"/>
                </a:ext>
              </a:extLst>
            </p:cNvPr>
            <p:cNvSpPr/>
            <p:nvPr/>
          </p:nvSpPr>
          <p:spPr>
            <a:xfrm>
              <a:off x="5381425" y="6116096"/>
              <a:ext cx="1435100" cy="381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Tokenisation</a:t>
              </a:r>
            </a:p>
          </p:txBody>
        </p:sp>
        <p:sp>
          <p:nvSpPr>
            <p:cNvPr id="21" name="Flowchart: Alternate Process 20">
              <a:extLst>
                <a:ext uri="{FF2B5EF4-FFF2-40B4-BE49-F238E27FC236}">
                  <a16:creationId xmlns:a16="http://schemas.microsoft.com/office/drawing/2014/main" id="{28353F44-6E9A-EE41-4CE1-C810C2714F89}"/>
                </a:ext>
              </a:extLst>
            </p:cNvPr>
            <p:cNvSpPr/>
            <p:nvPr/>
          </p:nvSpPr>
          <p:spPr>
            <a:xfrm>
              <a:off x="7529975" y="5930900"/>
              <a:ext cx="1435100" cy="762000"/>
            </a:xfrm>
            <a:prstGeom prst="flowChartAlternate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Base Model</a:t>
              </a:r>
            </a:p>
          </p:txBody>
        </p:sp>
        <p:cxnSp>
          <p:nvCxnSpPr>
            <p:cNvPr id="22" name="Straight Arrow Connector 21">
              <a:extLst>
                <a:ext uri="{FF2B5EF4-FFF2-40B4-BE49-F238E27FC236}">
                  <a16:creationId xmlns:a16="http://schemas.microsoft.com/office/drawing/2014/main" id="{9C1F8C44-CC13-B7B6-EB82-8BA39A9DFCE6}"/>
                </a:ext>
              </a:extLst>
            </p:cNvPr>
            <p:cNvCxnSpPr>
              <a:cxnSpLocks/>
              <a:stCxn id="19" idx="4"/>
              <a:endCxn id="20" idx="1"/>
            </p:cNvCxnSpPr>
            <p:nvPr/>
          </p:nvCxnSpPr>
          <p:spPr>
            <a:xfrm flipV="1">
              <a:off x="4660900" y="6306596"/>
              <a:ext cx="720525" cy="53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6B68338-2A7D-E993-8CAB-B39D27D6D745}"/>
                </a:ext>
              </a:extLst>
            </p:cNvPr>
            <p:cNvCxnSpPr>
              <a:stCxn id="20" idx="3"/>
              <a:endCxn id="21" idx="1"/>
            </p:cNvCxnSpPr>
            <p:nvPr/>
          </p:nvCxnSpPr>
          <p:spPr>
            <a:xfrm>
              <a:off x="6816525" y="6306596"/>
              <a:ext cx="713450" cy="53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Flowchart: Alternate Process 23">
              <a:extLst>
                <a:ext uri="{FF2B5EF4-FFF2-40B4-BE49-F238E27FC236}">
                  <a16:creationId xmlns:a16="http://schemas.microsoft.com/office/drawing/2014/main" id="{586A6C06-3238-61A8-747F-AA4BED682325}"/>
                </a:ext>
              </a:extLst>
            </p:cNvPr>
            <p:cNvSpPr/>
            <p:nvPr/>
          </p:nvSpPr>
          <p:spPr>
            <a:xfrm>
              <a:off x="9701675" y="5930900"/>
              <a:ext cx="1435100" cy="762000"/>
            </a:xfrm>
            <a:prstGeom prst="flowChartAlternateProcess">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Fine-tuned Model</a:t>
              </a:r>
            </a:p>
          </p:txBody>
        </p:sp>
        <p:cxnSp>
          <p:nvCxnSpPr>
            <p:cNvPr id="25" name="Straight Arrow Connector 24">
              <a:extLst>
                <a:ext uri="{FF2B5EF4-FFF2-40B4-BE49-F238E27FC236}">
                  <a16:creationId xmlns:a16="http://schemas.microsoft.com/office/drawing/2014/main" id="{FF200277-214E-296A-63CD-16B3B8533742}"/>
                </a:ext>
              </a:extLst>
            </p:cNvPr>
            <p:cNvCxnSpPr>
              <a:stCxn id="21" idx="3"/>
              <a:endCxn id="24" idx="1"/>
            </p:cNvCxnSpPr>
            <p:nvPr/>
          </p:nvCxnSpPr>
          <p:spPr>
            <a:xfrm>
              <a:off x="8965075" y="6311900"/>
              <a:ext cx="736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Text Placeholder 12">
            <a:extLst>
              <a:ext uri="{FF2B5EF4-FFF2-40B4-BE49-F238E27FC236}">
                <a16:creationId xmlns:a16="http://schemas.microsoft.com/office/drawing/2014/main" id="{E06347F3-2521-A682-C085-C24166ADEADE}"/>
              </a:ext>
            </a:extLst>
          </p:cNvPr>
          <p:cNvSpPr txBox="1">
            <a:spLocks/>
          </p:cNvSpPr>
          <p:nvPr/>
        </p:nvSpPr>
        <p:spPr>
          <a:xfrm>
            <a:off x="849939" y="3936167"/>
            <a:ext cx="2273300" cy="237367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r>
              <a:rPr lang="en-GB" sz="2100" b="1" dirty="0"/>
              <a:t>Pretraining</a:t>
            </a:r>
          </a:p>
          <a:p>
            <a:pPr marL="114300" indent="0">
              <a:buFont typeface="Arial"/>
              <a:buNone/>
            </a:pPr>
            <a:endParaRPr lang="en-GB" sz="2100" b="1" dirty="0"/>
          </a:p>
          <a:p>
            <a:pPr marL="114300" indent="0">
              <a:buFont typeface="Arial"/>
              <a:buNone/>
            </a:pPr>
            <a:endParaRPr lang="en-GB" sz="2100" b="1" dirty="0"/>
          </a:p>
          <a:p>
            <a:pPr marL="114300" indent="0">
              <a:buFont typeface="Arial"/>
              <a:buNone/>
            </a:pPr>
            <a:endParaRPr lang="en-GB" sz="2100" b="1" dirty="0"/>
          </a:p>
          <a:p>
            <a:pPr marL="114300" indent="0">
              <a:buFont typeface="Arial"/>
              <a:buNone/>
            </a:pPr>
            <a:r>
              <a:rPr lang="en-GB" sz="2100" b="1" dirty="0"/>
              <a:t>Fine-tuning</a:t>
            </a:r>
          </a:p>
        </p:txBody>
      </p:sp>
      <p:sp>
        <p:nvSpPr>
          <p:cNvPr id="4" name="Slide Number Placeholder 3">
            <a:extLst>
              <a:ext uri="{FF2B5EF4-FFF2-40B4-BE49-F238E27FC236}">
                <a16:creationId xmlns:a16="http://schemas.microsoft.com/office/drawing/2014/main" id="{8C610259-FC9E-A51F-1E2A-7975009922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spTree>
    <p:extLst>
      <p:ext uri="{BB962C8B-B14F-4D97-AF65-F5344CB8AC3E}">
        <p14:creationId xmlns:p14="http://schemas.microsoft.com/office/powerpoint/2010/main" val="290122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F838615D-8BAC-431D-0B60-91C9B2DF48BC}"/>
            </a:ext>
          </a:extLst>
        </p:cNvPr>
        <p:cNvGrpSpPr/>
        <p:nvPr/>
      </p:nvGrpSpPr>
      <p:grpSpPr>
        <a:xfrm>
          <a:off x="0" y="0"/>
          <a:ext cx="0" cy="0"/>
          <a:chOff x="0" y="0"/>
          <a:chExt cx="0" cy="0"/>
        </a:xfrm>
      </p:grpSpPr>
      <p:sp>
        <p:nvSpPr>
          <p:cNvPr id="112" name="Google Shape;112;p16">
            <a:extLst>
              <a:ext uri="{FF2B5EF4-FFF2-40B4-BE49-F238E27FC236}">
                <a16:creationId xmlns:a16="http://schemas.microsoft.com/office/drawing/2014/main" id="{CDBF836A-F208-B23A-7C18-99A36309CC77}"/>
              </a:ext>
            </a:extLst>
          </p:cNvPr>
          <p:cNvSpPr txBox="1">
            <a:spLocks noGrp="1"/>
          </p:cNvSpPr>
          <p:nvPr>
            <p:ph type="body" idx="1"/>
          </p:nvPr>
        </p:nvSpPr>
        <p:spPr>
          <a:xfrm>
            <a:off x="838200" y="1281615"/>
            <a:ext cx="11353800" cy="2595880"/>
          </a:xfrm>
          <a:prstGeom prst="rect">
            <a:avLst/>
          </a:prstGeom>
          <a:noFill/>
          <a:ln>
            <a:noFill/>
          </a:ln>
        </p:spPr>
        <p:txBody>
          <a:bodyPr spcFirstLastPara="1" wrap="square" lIns="91425" tIns="45700" rIns="91425" bIns="45700" anchor="t" anchorCtr="0">
            <a:noAutofit/>
          </a:bodyPr>
          <a:lstStyle/>
          <a:p>
            <a:pPr indent="-457200">
              <a:spcBef>
                <a:spcPts val="0"/>
              </a:spcBef>
              <a:spcAft>
                <a:spcPts val="600"/>
              </a:spcAft>
              <a:buSzPts val="3200"/>
            </a:pPr>
            <a:r>
              <a:rPr lang="en-GB" sz="2400" dirty="0"/>
              <a:t>Architecture</a:t>
            </a:r>
          </a:p>
          <a:p>
            <a:pPr lvl="1" indent="-457200">
              <a:spcBef>
                <a:spcPts val="0"/>
              </a:spcBef>
              <a:spcAft>
                <a:spcPts val="600"/>
              </a:spcAft>
              <a:buSzPct val="80000"/>
              <a:buFont typeface="Courier New" panose="02070309020205020404" pitchFamily="49" charset="0"/>
              <a:buChar char="o"/>
            </a:pPr>
            <a:r>
              <a:rPr lang="en-GB" sz="2000" dirty="0"/>
              <a:t>Decoder-only transformer</a:t>
            </a:r>
          </a:p>
          <a:p>
            <a:pPr lvl="1" indent="-457200">
              <a:spcBef>
                <a:spcPts val="0"/>
              </a:spcBef>
              <a:spcAft>
                <a:spcPts val="600"/>
              </a:spcAft>
              <a:buSzPct val="80000"/>
              <a:buFont typeface="Courier New" panose="02070309020205020404" pitchFamily="49" charset="0"/>
              <a:buChar char="o"/>
            </a:pPr>
            <a:r>
              <a:rPr lang="en-GB" sz="2000" dirty="0"/>
              <a:t>Layers: 12 - Token (hidden) size: 768 - Self-Attention heads: 12 - Parameters: 117M</a:t>
            </a:r>
          </a:p>
          <a:p>
            <a:pPr indent="-457200">
              <a:spcBef>
                <a:spcPts val="600"/>
              </a:spcBef>
              <a:spcAft>
                <a:spcPts val="600"/>
              </a:spcAft>
              <a:buSzPts val="3200"/>
            </a:pPr>
            <a:r>
              <a:rPr lang="en-GB" sz="2400" dirty="0"/>
              <a:t>Pretraining </a:t>
            </a:r>
          </a:p>
          <a:p>
            <a:pPr lvl="1" indent="-457200">
              <a:spcBef>
                <a:spcPts val="0"/>
              </a:spcBef>
              <a:spcAft>
                <a:spcPts val="600"/>
              </a:spcAft>
              <a:buSzPct val="80000"/>
              <a:buFont typeface="Courier New" panose="02070309020205020404" pitchFamily="49" charset="0"/>
              <a:buChar char="o"/>
            </a:pPr>
            <a:r>
              <a:rPr lang="en-GB" sz="2000" dirty="0"/>
              <a:t>The </a:t>
            </a:r>
            <a:r>
              <a:rPr lang="en-GB" sz="2000" dirty="0" err="1"/>
              <a:t>BooksCorpus</a:t>
            </a:r>
            <a:r>
              <a:rPr lang="en-GB" sz="2000" dirty="0"/>
              <a:t> (800M words) </a:t>
            </a:r>
          </a:p>
          <a:p>
            <a:pPr indent="-457200">
              <a:spcBef>
                <a:spcPts val="600"/>
              </a:spcBef>
              <a:spcAft>
                <a:spcPts val="600"/>
              </a:spcAft>
              <a:buSzPts val="3200"/>
            </a:pPr>
            <a:r>
              <a:rPr lang="en-GB" sz="2400" dirty="0"/>
              <a:t>GPT family</a:t>
            </a:r>
          </a:p>
          <a:p>
            <a:pPr marL="0" indent="0">
              <a:spcBef>
                <a:spcPts val="600"/>
              </a:spcBef>
              <a:spcAft>
                <a:spcPts val="600"/>
              </a:spcAft>
              <a:buSzPts val="3200"/>
              <a:buNone/>
            </a:pPr>
            <a:r>
              <a:rPr lang="en-GB" sz="2400" dirty="0"/>
              <a:t>				</a:t>
            </a:r>
          </a:p>
          <a:p>
            <a:pPr marL="0" lvl="0" indent="0" algn="l" rtl="0">
              <a:lnSpc>
                <a:spcPct val="90000"/>
              </a:lnSpc>
              <a:spcBef>
                <a:spcPts val="0"/>
              </a:spcBef>
              <a:spcAft>
                <a:spcPts val="0"/>
              </a:spcAft>
              <a:buClr>
                <a:schemeClr val="dk1"/>
              </a:buClr>
              <a:buSzPts val="3200"/>
              <a:buNone/>
            </a:pPr>
            <a:endParaRPr lang="en-GB" dirty="0"/>
          </a:p>
          <a:p>
            <a:pPr marL="0" lvl="0" indent="0" algn="l" rtl="0">
              <a:lnSpc>
                <a:spcPct val="90000"/>
              </a:lnSpc>
              <a:spcBef>
                <a:spcPts val="0"/>
              </a:spcBef>
              <a:spcAft>
                <a:spcPts val="0"/>
              </a:spcAft>
              <a:buClr>
                <a:schemeClr val="dk1"/>
              </a:buClr>
              <a:buSzPts val="3200"/>
              <a:buNone/>
            </a:pPr>
            <a:endParaRPr lang="en-GB" dirty="0"/>
          </a:p>
        </p:txBody>
      </p:sp>
      <p:sp>
        <p:nvSpPr>
          <p:cNvPr id="2" name="Google Shape;111;p16">
            <a:extLst>
              <a:ext uri="{FF2B5EF4-FFF2-40B4-BE49-F238E27FC236}">
                <a16:creationId xmlns:a16="http://schemas.microsoft.com/office/drawing/2014/main" id="{3EE9ABE9-3531-FAE7-DD04-60A769CC4049}"/>
              </a:ext>
            </a:extLst>
          </p:cNvPr>
          <p:cNvSpPr txBox="1"/>
          <p:nvPr/>
        </p:nvSpPr>
        <p:spPr>
          <a:xfrm>
            <a:off x="838200" y="305642"/>
            <a:ext cx="11544300" cy="1325563"/>
          </a:xfrm>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4400"/>
            </a:pPr>
            <a:r>
              <a:rPr lang="en-GB" sz="3600" b="1" dirty="0">
                <a:solidFill>
                  <a:schemeClr val="dk1"/>
                </a:solidFill>
                <a:latin typeface="Calibri"/>
                <a:ea typeface="Calibri"/>
                <a:cs typeface="Calibri"/>
                <a:sym typeface="Calibri"/>
              </a:rPr>
              <a:t>GPT-1 - Generative Pre-trained Transformer (2018) [12]</a:t>
            </a:r>
          </a:p>
          <a:p>
            <a:pPr marL="0" marR="0" lvl="0" indent="0" algn="l" rtl="0">
              <a:lnSpc>
                <a:spcPct val="90000"/>
              </a:lnSpc>
              <a:spcBef>
                <a:spcPts val="0"/>
              </a:spcBef>
              <a:spcAft>
                <a:spcPts val="0"/>
              </a:spcAft>
              <a:buClr>
                <a:schemeClr val="dk1"/>
              </a:buClr>
              <a:buSzPts val="4400"/>
              <a:buFont typeface="Calibri"/>
              <a:buNone/>
            </a:pPr>
            <a:r>
              <a:rPr lang="en-GB" sz="2400" b="1" dirty="0">
                <a:solidFill>
                  <a:schemeClr val="dk1"/>
                </a:solidFill>
                <a:latin typeface="Calibri"/>
                <a:ea typeface="Calibri"/>
                <a:cs typeface="Calibri"/>
                <a:sym typeface="Calibri"/>
              </a:rPr>
              <a:t>				                          ‘General language generator’ by OpenAI</a:t>
            </a:r>
            <a:endParaRPr sz="2400" dirty="0"/>
          </a:p>
        </p:txBody>
      </p:sp>
      <p:graphicFrame>
        <p:nvGraphicFramePr>
          <p:cNvPr id="3" name="Table 2">
            <a:extLst>
              <a:ext uri="{FF2B5EF4-FFF2-40B4-BE49-F238E27FC236}">
                <a16:creationId xmlns:a16="http://schemas.microsoft.com/office/drawing/2014/main" id="{98FA94EF-8664-D350-F818-98BF441A1AEE}"/>
              </a:ext>
            </a:extLst>
          </p:cNvPr>
          <p:cNvGraphicFramePr>
            <a:graphicFrameLocks noGrp="1"/>
          </p:cNvGraphicFramePr>
          <p:nvPr>
            <p:extLst>
              <p:ext uri="{D42A27DB-BD31-4B8C-83A1-F6EECF244321}">
                <p14:modId xmlns:p14="http://schemas.microsoft.com/office/powerpoint/2010/main" val="3396786169"/>
              </p:ext>
            </p:extLst>
          </p:nvPr>
        </p:nvGraphicFramePr>
        <p:xfrm>
          <a:off x="838200" y="3877495"/>
          <a:ext cx="8572500" cy="2595880"/>
        </p:xfrm>
        <a:graphic>
          <a:graphicData uri="http://schemas.openxmlformats.org/drawingml/2006/table">
            <a:tbl>
              <a:tblPr firstRow="1" bandRow="1">
                <a:tableStyleId>{93296810-A885-4BE3-A3E7-6D5BEEA58F35}</a:tableStyleId>
              </a:tblPr>
              <a:tblGrid>
                <a:gridCol w="5613400">
                  <a:extLst>
                    <a:ext uri="{9D8B030D-6E8A-4147-A177-3AD203B41FA5}">
                      <a16:colId xmlns:a16="http://schemas.microsoft.com/office/drawing/2014/main" val="2884989994"/>
                    </a:ext>
                  </a:extLst>
                </a:gridCol>
                <a:gridCol w="1397000">
                  <a:extLst>
                    <a:ext uri="{9D8B030D-6E8A-4147-A177-3AD203B41FA5}">
                      <a16:colId xmlns:a16="http://schemas.microsoft.com/office/drawing/2014/main" val="1345561671"/>
                    </a:ext>
                  </a:extLst>
                </a:gridCol>
                <a:gridCol w="1562100">
                  <a:extLst>
                    <a:ext uri="{9D8B030D-6E8A-4147-A177-3AD203B41FA5}">
                      <a16:colId xmlns:a16="http://schemas.microsoft.com/office/drawing/2014/main" val="1677695845"/>
                    </a:ext>
                  </a:extLst>
                </a:gridCol>
              </a:tblGrid>
              <a:tr h="370840">
                <a:tc>
                  <a:txBody>
                    <a:bodyPr/>
                    <a:lstStyle/>
                    <a:p>
                      <a:r>
                        <a:rPr lang="en-GB" sz="1800" dirty="0"/>
                        <a:t>Model </a:t>
                      </a:r>
                    </a:p>
                  </a:txBody>
                  <a:tcPr>
                    <a:solidFill>
                      <a:srgbClr val="14B38B"/>
                    </a:solidFill>
                  </a:tcPr>
                </a:tc>
                <a:tc>
                  <a:txBody>
                    <a:bodyPr/>
                    <a:lstStyle/>
                    <a:p>
                      <a:r>
                        <a:rPr lang="en-GB" sz="1800" dirty="0"/>
                        <a:t>Year</a:t>
                      </a:r>
                    </a:p>
                  </a:txBody>
                  <a:tcPr>
                    <a:solidFill>
                      <a:srgbClr val="14B38B"/>
                    </a:solidFill>
                  </a:tcPr>
                </a:tc>
                <a:tc>
                  <a:txBody>
                    <a:bodyPr/>
                    <a:lstStyle/>
                    <a:p>
                      <a:r>
                        <a:rPr lang="en-GB" sz="1800" dirty="0"/>
                        <a:t>Parameters</a:t>
                      </a:r>
                    </a:p>
                  </a:txBody>
                  <a:tcPr>
                    <a:solidFill>
                      <a:srgbClr val="14B38B"/>
                    </a:solidFill>
                  </a:tcPr>
                </a:tc>
                <a:extLst>
                  <a:ext uri="{0D108BD9-81ED-4DB2-BD59-A6C34878D82A}">
                    <a16:rowId xmlns:a16="http://schemas.microsoft.com/office/drawing/2014/main" val="581243667"/>
                  </a:ext>
                </a:extLst>
              </a:tr>
              <a:tr h="370840">
                <a:tc>
                  <a:txBody>
                    <a:bodyPr/>
                    <a:lstStyle/>
                    <a:p>
                      <a:r>
                        <a:rPr lang="en-GB" sz="1800" dirty="0"/>
                        <a:t>GPT-1</a:t>
                      </a:r>
                    </a:p>
                  </a:txBody>
                  <a:tcPr/>
                </a:tc>
                <a:tc>
                  <a:txBody>
                    <a:bodyPr/>
                    <a:lstStyle/>
                    <a:p>
                      <a:r>
                        <a:rPr lang="en-GB" sz="1800" dirty="0"/>
                        <a:t>2018</a:t>
                      </a:r>
                    </a:p>
                  </a:txBody>
                  <a:tcPr/>
                </a:tc>
                <a:tc>
                  <a:txBody>
                    <a:bodyPr/>
                    <a:lstStyle/>
                    <a:p>
                      <a:r>
                        <a:rPr lang="en-GB" sz="1800" dirty="0"/>
                        <a:t>117M</a:t>
                      </a:r>
                    </a:p>
                  </a:txBody>
                  <a:tcPr/>
                </a:tc>
                <a:extLst>
                  <a:ext uri="{0D108BD9-81ED-4DB2-BD59-A6C34878D82A}">
                    <a16:rowId xmlns:a16="http://schemas.microsoft.com/office/drawing/2014/main" val="3859454033"/>
                  </a:ext>
                </a:extLst>
              </a:tr>
              <a:tr h="370840">
                <a:tc>
                  <a:txBody>
                    <a:bodyPr/>
                    <a:lstStyle/>
                    <a:p>
                      <a:r>
                        <a:rPr lang="en-GB" sz="1800" dirty="0"/>
                        <a:t>GPT-2 (largest</a:t>
                      </a:r>
                    </a:p>
                  </a:txBody>
                  <a:tcPr/>
                </a:tc>
                <a:tc>
                  <a:txBody>
                    <a:bodyPr/>
                    <a:lstStyle/>
                    <a:p>
                      <a:r>
                        <a:rPr lang="en-GB" sz="1800" dirty="0"/>
                        <a:t>2019</a:t>
                      </a:r>
                    </a:p>
                  </a:txBody>
                  <a:tcPr/>
                </a:tc>
                <a:tc>
                  <a:txBody>
                    <a:bodyPr/>
                    <a:lstStyle/>
                    <a:p>
                      <a:r>
                        <a:rPr lang="en-GB" sz="1800" dirty="0"/>
                        <a:t>1.5B</a:t>
                      </a:r>
                    </a:p>
                  </a:txBody>
                  <a:tcPr/>
                </a:tc>
                <a:extLst>
                  <a:ext uri="{0D108BD9-81ED-4DB2-BD59-A6C34878D82A}">
                    <a16:rowId xmlns:a16="http://schemas.microsoft.com/office/drawing/2014/main" val="252968336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dirty="0"/>
                        <a:t>GPT-3 (largest)</a:t>
                      </a:r>
                    </a:p>
                  </a:txBody>
                  <a:tcPr/>
                </a:tc>
                <a:tc>
                  <a:txBody>
                    <a:bodyPr/>
                    <a:lstStyle/>
                    <a:p>
                      <a:r>
                        <a:rPr lang="en-GB" sz="1800" dirty="0"/>
                        <a:t>2020</a:t>
                      </a:r>
                    </a:p>
                  </a:txBody>
                  <a:tcPr/>
                </a:tc>
                <a:tc>
                  <a:txBody>
                    <a:bodyPr/>
                    <a:lstStyle/>
                    <a:p>
                      <a:r>
                        <a:rPr lang="en-GB" sz="1800" dirty="0"/>
                        <a:t>175B</a:t>
                      </a:r>
                    </a:p>
                  </a:txBody>
                  <a:tcPr/>
                </a:tc>
                <a:extLst>
                  <a:ext uri="{0D108BD9-81ED-4DB2-BD59-A6C34878D82A}">
                    <a16:rowId xmlns:a16="http://schemas.microsoft.com/office/drawing/2014/main" val="2773698893"/>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dirty="0"/>
                        <a:t>GPT-3.5 – used in first ChatGPT release (Nov. 2022)</a:t>
                      </a:r>
                    </a:p>
                  </a:txBody>
                  <a:tcPr/>
                </a:tc>
                <a:tc>
                  <a:txBody>
                    <a:bodyPr/>
                    <a:lstStyle/>
                    <a:p>
                      <a:r>
                        <a:rPr lang="en-GB" sz="1800" dirty="0"/>
                        <a:t>2022</a:t>
                      </a:r>
                    </a:p>
                  </a:txBody>
                  <a:tcPr/>
                </a:tc>
                <a:tc>
                  <a:txBody>
                    <a:bodyPr/>
                    <a:lstStyle/>
                    <a:p>
                      <a:r>
                        <a:rPr lang="en-GB" sz="1800" dirty="0"/>
                        <a:t>~175B </a:t>
                      </a:r>
                      <a:endParaRPr lang="en-GB" sz="1800" i="1" dirty="0"/>
                    </a:p>
                  </a:txBody>
                  <a:tcPr/>
                </a:tc>
                <a:extLst>
                  <a:ext uri="{0D108BD9-81ED-4DB2-BD59-A6C34878D82A}">
                    <a16:rowId xmlns:a16="http://schemas.microsoft.com/office/drawing/2014/main" val="395477444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dirty="0"/>
                        <a:t>GPT-4</a:t>
                      </a:r>
                    </a:p>
                  </a:txBody>
                  <a:tcPr/>
                </a:tc>
                <a:tc>
                  <a:txBody>
                    <a:bodyPr/>
                    <a:lstStyle/>
                    <a:p>
                      <a:r>
                        <a:rPr lang="en-GB" sz="1800" dirty="0"/>
                        <a:t>2023</a:t>
                      </a:r>
                    </a:p>
                  </a:txBody>
                  <a:tcPr/>
                </a:tc>
                <a:tc>
                  <a:txBody>
                    <a:bodyPr/>
                    <a:lstStyle/>
                    <a:p>
                      <a:r>
                        <a:rPr lang="en-GB" sz="1800" dirty="0"/>
                        <a:t>100B–1T</a:t>
                      </a:r>
                      <a:endParaRPr lang="en-GB" sz="1800" i="1" dirty="0"/>
                    </a:p>
                  </a:txBody>
                  <a:tcPr/>
                </a:tc>
                <a:extLst>
                  <a:ext uri="{0D108BD9-81ED-4DB2-BD59-A6C34878D82A}">
                    <a16:rowId xmlns:a16="http://schemas.microsoft.com/office/drawing/2014/main" val="1834373833"/>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dirty="0"/>
                        <a:t>GPT‑5‑class (ChatGPT today)</a:t>
                      </a:r>
                    </a:p>
                  </a:txBody>
                  <a:tcPr/>
                </a:tc>
                <a:tc>
                  <a:txBody>
                    <a:bodyPr/>
                    <a:lstStyle/>
                    <a:p>
                      <a:r>
                        <a:rPr lang="en-GB" sz="1800" dirty="0"/>
                        <a:t>2025–2026</a:t>
                      </a:r>
                    </a:p>
                  </a:txBody>
                  <a:tcPr/>
                </a:tc>
                <a:tc>
                  <a:txBody>
                    <a:bodyPr/>
                    <a:lstStyle/>
                    <a:p>
                      <a:r>
                        <a:rPr lang="en-GB" sz="1800" dirty="0"/>
                        <a:t>&gt;1T</a:t>
                      </a:r>
                      <a:endParaRPr lang="en-GB" sz="1800" i="1" dirty="0"/>
                    </a:p>
                  </a:txBody>
                  <a:tcPr/>
                </a:tc>
                <a:extLst>
                  <a:ext uri="{0D108BD9-81ED-4DB2-BD59-A6C34878D82A}">
                    <a16:rowId xmlns:a16="http://schemas.microsoft.com/office/drawing/2014/main" val="2220761815"/>
                  </a:ext>
                </a:extLst>
              </a:tr>
            </a:tbl>
          </a:graphicData>
        </a:graphic>
      </p:graphicFrame>
      <p:pic>
        <p:nvPicPr>
          <p:cNvPr id="2050" name="Picture 2" descr="ChatGPT Logo - Chat gpt Icon on Green Background 21608795 Vector Art at  Vecteezy">
            <a:extLst>
              <a:ext uri="{FF2B5EF4-FFF2-40B4-BE49-F238E27FC236}">
                <a16:creationId xmlns:a16="http://schemas.microsoft.com/office/drawing/2014/main" id="{8AE2B8E9-C046-3E7F-5F77-254E4B938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3798" y="4076596"/>
            <a:ext cx="2197677" cy="219767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DAB3D33-927A-549A-EEA2-0A0B9424ED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16</a:t>
            </a:fld>
            <a:endParaRPr lang="en-GB"/>
          </a:p>
        </p:txBody>
      </p:sp>
    </p:spTree>
    <p:extLst>
      <p:ext uri="{BB962C8B-B14F-4D97-AF65-F5344CB8AC3E}">
        <p14:creationId xmlns:p14="http://schemas.microsoft.com/office/powerpoint/2010/main" val="1926841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3827ABF3-F520-E1DA-C2DD-C43877FA71BB}"/>
            </a:ext>
          </a:extLst>
        </p:cNvPr>
        <p:cNvGrpSpPr/>
        <p:nvPr/>
      </p:nvGrpSpPr>
      <p:grpSpPr>
        <a:xfrm>
          <a:off x="0" y="0"/>
          <a:ext cx="0" cy="0"/>
          <a:chOff x="0" y="0"/>
          <a:chExt cx="0" cy="0"/>
        </a:xfrm>
      </p:grpSpPr>
      <p:sp>
        <p:nvSpPr>
          <p:cNvPr id="112" name="Google Shape;112;p16">
            <a:extLst>
              <a:ext uri="{FF2B5EF4-FFF2-40B4-BE49-F238E27FC236}">
                <a16:creationId xmlns:a16="http://schemas.microsoft.com/office/drawing/2014/main" id="{B63489CD-47E4-7C24-B480-6DB2B3A71143}"/>
              </a:ext>
            </a:extLst>
          </p:cNvPr>
          <p:cNvSpPr txBox="1">
            <a:spLocks noGrp="1"/>
          </p:cNvSpPr>
          <p:nvPr>
            <p:ph type="body" idx="1"/>
          </p:nvPr>
        </p:nvSpPr>
        <p:spPr>
          <a:xfrm>
            <a:off x="838200" y="1529190"/>
            <a:ext cx="10829926" cy="4702645"/>
          </a:xfrm>
          <a:prstGeom prst="rect">
            <a:avLst/>
          </a:prstGeom>
          <a:noFill/>
          <a:ln>
            <a:noFill/>
          </a:ln>
        </p:spPr>
        <p:txBody>
          <a:bodyPr spcFirstLastPara="1" wrap="square" lIns="91425" tIns="45700" rIns="91425" bIns="45700" anchor="t" anchorCtr="0">
            <a:noAutofit/>
          </a:bodyPr>
          <a:lstStyle/>
          <a:p>
            <a:pPr indent="-457200">
              <a:spcBef>
                <a:spcPts val="0"/>
              </a:spcBef>
              <a:spcAft>
                <a:spcPts val="600"/>
              </a:spcAft>
              <a:buSzPts val="3200"/>
            </a:pPr>
            <a:r>
              <a:rPr lang="en-GB" sz="2000" dirty="0"/>
              <a:t>Architecture</a:t>
            </a:r>
          </a:p>
          <a:p>
            <a:pPr lvl="1" indent="-457200">
              <a:spcBef>
                <a:spcPts val="0"/>
              </a:spcBef>
              <a:spcAft>
                <a:spcPts val="400"/>
              </a:spcAft>
              <a:buSzPct val="80000"/>
              <a:buFont typeface="Courier New" panose="02070309020205020404" pitchFamily="49" charset="0"/>
              <a:buChar char="o"/>
            </a:pPr>
            <a:r>
              <a:rPr lang="en-GB" sz="1800" dirty="0"/>
              <a:t>Encoder-only transformer</a:t>
            </a:r>
          </a:p>
          <a:p>
            <a:pPr lvl="1" indent="-457200">
              <a:spcBef>
                <a:spcPts val="0"/>
              </a:spcBef>
              <a:spcAft>
                <a:spcPts val="400"/>
              </a:spcAft>
              <a:buSzPct val="80000"/>
              <a:buFont typeface="Courier New" panose="02070309020205020404" pitchFamily="49" charset="0"/>
              <a:buChar char="o"/>
            </a:pPr>
            <a:r>
              <a:rPr lang="en-GB" sz="1800" dirty="0"/>
              <a:t>Bidirectional: learn information from a text from the left and right side</a:t>
            </a:r>
          </a:p>
          <a:p>
            <a:pPr lvl="1" indent="-457200">
              <a:spcBef>
                <a:spcPts val="0"/>
              </a:spcBef>
              <a:spcAft>
                <a:spcPts val="400"/>
              </a:spcAft>
              <a:buSzPct val="80000"/>
              <a:buFont typeface="Courier New" panose="02070309020205020404" pitchFamily="49" charset="0"/>
              <a:buChar char="o"/>
            </a:pPr>
            <a:r>
              <a:rPr lang="en-GB" sz="1800" dirty="0"/>
              <a:t>BERT</a:t>
            </a:r>
            <a:r>
              <a:rPr lang="en-GB" sz="1100" dirty="0"/>
              <a:t>BASE</a:t>
            </a:r>
            <a:r>
              <a:rPr lang="en-GB" sz="1600" dirty="0"/>
              <a:t>:</a:t>
            </a:r>
            <a:r>
              <a:rPr lang="en-GB" sz="1800" dirty="0"/>
              <a:t> </a:t>
            </a:r>
            <a:r>
              <a:rPr lang="en-GB" sz="1600" dirty="0"/>
              <a:t>Layers: 12 - Token </a:t>
            </a:r>
            <a:r>
              <a:rPr lang="en-GB" sz="1200" dirty="0"/>
              <a:t>(hidden) </a:t>
            </a:r>
            <a:r>
              <a:rPr lang="en-GB" sz="1600" dirty="0"/>
              <a:t>size: 768 - Self-Attention heads: 12 - Parameters: 110M</a:t>
            </a:r>
          </a:p>
          <a:p>
            <a:pPr lvl="1" indent="-457200">
              <a:spcBef>
                <a:spcPts val="0"/>
              </a:spcBef>
              <a:spcAft>
                <a:spcPts val="600"/>
              </a:spcAft>
              <a:buSzPct val="80000"/>
              <a:buFont typeface="Courier New" panose="02070309020205020404" pitchFamily="49" charset="0"/>
              <a:buChar char="o"/>
            </a:pPr>
            <a:r>
              <a:rPr lang="en-GB" sz="1800" dirty="0"/>
              <a:t>BERT</a:t>
            </a:r>
            <a:r>
              <a:rPr lang="en-GB" sz="1100" dirty="0"/>
              <a:t>LARGE</a:t>
            </a:r>
            <a:r>
              <a:rPr lang="en-GB" sz="1600" dirty="0"/>
              <a:t>: Layers: 24 - Token </a:t>
            </a:r>
            <a:r>
              <a:rPr lang="en-GB" sz="1200" dirty="0"/>
              <a:t>(hidden) </a:t>
            </a:r>
            <a:r>
              <a:rPr lang="en-GB" sz="1600" dirty="0"/>
              <a:t>size: 1024 - Self-Attention heads: 16 - Parameters: 340M</a:t>
            </a:r>
          </a:p>
          <a:p>
            <a:pPr indent="-457200">
              <a:spcBef>
                <a:spcPts val="600"/>
              </a:spcBef>
              <a:spcAft>
                <a:spcPts val="600"/>
              </a:spcAft>
              <a:buSzPts val="3200"/>
            </a:pPr>
            <a:r>
              <a:rPr lang="en-GB" sz="2000" dirty="0"/>
              <a:t>Pretraining </a:t>
            </a:r>
          </a:p>
          <a:p>
            <a:pPr lvl="1" indent="-457200">
              <a:spcBef>
                <a:spcPts val="0"/>
              </a:spcBef>
              <a:spcAft>
                <a:spcPts val="400"/>
              </a:spcAft>
              <a:buSzPct val="80000"/>
              <a:buFont typeface="Courier New" panose="02070309020205020404" pitchFamily="49" charset="0"/>
              <a:buChar char="o"/>
            </a:pPr>
            <a:r>
              <a:rPr lang="en-GB" sz="1800" dirty="0"/>
              <a:t>The </a:t>
            </a:r>
            <a:r>
              <a:rPr lang="en-GB" sz="1800" dirty="0" err="1"/>
              <a:t>BooksCorpus</a:t>
            </a:r>
            <a:r>
              <a:rPr lang="en-GB" sz="1800" dirty="0"/>
              <a:t> (800M words) &amp; English Wikipedia (2,500M words)</a:t>
            </a:r>
          </a:p>
          <a:p>
            <a:pPr lvl="1" indent="-457200">
              <a:spcBef>
                <a:spcPts val="0"/>
              </a:spcBef>
              <a:spcAft>
                <a:spcPts val="600"/>
              </a:spcAft>
              <a:buSzPct val="80000"/>
              <a:buFont typeface="Courier New" panose="02070309020205020404" pitchFamily="49" charset="0"/>
              <a:buChar char="o"/>
            </a:pPr>
            <a:r>
              <a:rPr lang="en-GB" sz="1800" dirty="0"/>
              <a:t>4 days: 	BERT</a:t>
            </a:r>
            <a:r>
              <a:rPr lang="en-GB" sz="1050" dirty="0"/>
              <a:t>BASE</a:t>
            </a:r>
            <a:r>
              <a:rPr lang="en-GB" sz="1800" dirty="0"/>
              <a:t> on 16 TPUs	BERT</a:t>
            </a:r>
            <a:r>
              <a:rPr lang="en-GB" sz="1050" dirty="0"/>
              <a:t>LARGE</a:t>
            </a:r>
            <a:r>
              <a:rPr lang="en-GB" sz="1800" dirty="0"/>
              <a:t>: on 64 TPUs (&lt;$1M capital cost)</a:t>
            </a:r>
          </a:p>
          <a:p>
            <a:pPr indent="-457200">
              <a:spcBef>
                <a:spcPts val="600"/>
              </a:spcBef>
              <a:spcAft>
                <a:spcPts val="600"/>
              </a:spcAft>
              <a:buSzPts val="3200"/>
            </a:pPr>
            <a:r>
              <a:rPr lang="en-GB" sz="2000" dirty="0"/>
              <a:t>Fine-tuned on 11 different NLP tasks</a:t>
            </a:r>
          </a:p>
          <a:p>
            <a:pPr indent="-457200">
              <a:spcBef>
                <a:spcPts val="600"/>
              </a:spcBef>
              <a:spcAft>
                <a:spcPts val="600"/>
              </a:spcAft>
              <a:buSzPts val="3200"/>
            </a:pPr>
            <a:r>
              <a:rPr lang="en-GB" sz="2000" dirty="0"/>
              <a:t>Many BERT variants including </a:t>
            </a:r>
            <a:r>
              <a:rPr lang="en-GB" sz="2000" dirty="0" err="1"/>
              <a:t>RoBERTa</a:t>
            </a:r>
            <a:r>
              <a:rPr lang="en-GB" sz="2000" dirty="0"/>
              <a:t>, ALBERT, </a:t>
            </a:r>
            <a:r>
              <a:rPr lang="en-GB" sz="2000" dirty="0" err="1"/>
              <a:t>DistilBERT</a:t>
            </a:r>
            <a:r>
              <a:rPr lang="en-GB" sz="2000" dirty="0"/>
              <a:t>, ELECTRA</a:t>
            </a:r>
          </a:p>
          <a:p>
            <a:pPr lvl="1" indent="-457200">
              <a:spcBef>
                <a:spcPts val="600"/>
              </a:spcBef>
              <a:buSzPct val="80000"/>
              <a:buFont typeface="Courier New" panose="02070309020205020404" pitchFamily="49" charset="0"/>
              <a:buChar char="o"/>
            </a:pPr>
            <a:r>
              <a:rPr lang="en-GB" sz="1800" b="1" dirty="0">
                <a:solidFill>
                  <a:srgbClr val="FF0000"/>
                </a:solidFill>
              </a:rPr>
              <a:t>DNABERT-2 (2024) </a:t>
            </a:r>
            <a:r>
              <a:rPr lang="en-GB" sz="1800" dirty="0"/>
              <a:t>[14] based on BERT</a:t>
            </a:r>
            <a:r>
              <a:rPr lang="en-GB" sz="1050" dirty="0"/>
              <a:t>BASE</a:t>
            </a:r>
            <a:r>
              <a:rPr lang="en-GB" sz="1800" dirty="0"/>
              <a:t> (~117M parameters) </a:t>
            </a:r>
            <a:r>
              <a:rPr lang="en-GB" sz="1600" i="1" dirty="0"/>
              <a:t>– </a:t>
            </a:r>
            <a:r>
              <a:rPr lang="en-GB" sz="1600" i="1" dirty="0" err="1"/>
              <a:t>TinyDNABERT</a:t>
            </a:r>
            <a:r>
              <a:rPr lang="en-GB" sz="1600" i="1" dirty="0"/>
              <a:t> to be used in workshop</a:t>
            </a:r>
          </a:p>
          <a:p>
            <a:pPr marL="0" indent="0">
              <a:spcBef>
                <a:spcPts val="400"/>
              </a:spcBef>
              <a:spcAft>
                <a:spcPts val="400"/>
              </a:spcAft>
              <a:buSzPts val="3200"/>
              <a:buNone/>
            </a:pPr>
            <a:r>
              <a:rPr lang="en-GB" sz="1800" dirty="0"/>
              <a:t>		but </a:t>
            </a:r>
            <a:r>
              <a:rPr lang="en-GB" sz="1800" b="1" dirty="0"/>
              <a:t>BPE tokenisation </a:t>
            </a:r>
            <a:r>
              <a:rPr lang="en-GB" sz="1800" dirty="0"/>
              <a:t>and </a:t>
            </a:r>
            <a:r>
              <a:rPr lang="en-GB" sz="1800" b="1" dirty="0"/>
              <a:t>trained on multi-species genomes </a:t>
            </a:r>
            <a:r>
              <a:rPr lang="en-GB" sz="1800" dirty="0"/>
              <a:t>(810+)</a:t>
            </a:r>
            <a:endParaRPr lang="en-GB" sz="2000" dirty="0"/>
          </a:p>
          <a:p>
            <a:pPr lvl="1" indent="-457200">
              <a:spcBef>
                <a:spcPts val="600"/>
              </a:spcBef>
              <a:spcAft>
                <a:spcPts val="600"/>
              </a:spcAft>
              <a:buSzPct val="80000"/>
              <a:buFont typeface="Courier New" panose="02070309020205020404" pitchFamily="49" charset="0"/>
              <a:buChar char="o"/>
            </a:pPr>
            <a:r>
              <a:rPr lang="en-GB" sz="1800" dirty="0"/>
              <a:t>Most LLMs for genomics rely on a BERT-like architecture, including Nucleotide Transformer (2025) </a:t>
            </a:r>
          </a:p>
          <a:p>
            <a:pPr marL="457200" lvl="1" indent="0">
              <a:spcBef>
                <a:spcPts val="0"/>
              </a:spcBef>
              <a:spcAft>
                <a:spcPts val="600"/>
              </a:spcAft>
              <a:buSzPct val="80000"/>
              <a:buNone/>
            </a:pPr>
            <a:endParaRPr lang="en-GB" sz="1800" dirty="0"/>
          </a:p>
          <a:p>
            <a:pPr marL="0" indent="0">
              <a:spcBef>
                <a:spcPts val="600"/>
              </a:spcBef>
              <a:spcAft>
                <a:spcPts val="600"/>
              </a:spcAft>
              <a:buSzPts val="3200"/>
              <a:buNone/>
            </a:pPr>
            <a:r>
              <a:rPr lang="en-GB" sz="2000" dirty="0"/>
              <a:t>				</a:t>
            </a:r>
          </a:p>
          <a:p>
            <a:pPr marL="0" lvl="0" indent="0" algn="l" rtl="0">
              <a:lnSpc>
                <a:spcPct val="90000"/>
              </a:lnSpc>
              <a:spcBef>
                <a:spcPts val="0"/>
              </a:spcBef>
              <a:spcAft>
                <a:spcPts val="0"/>
              </a:spcAft>
              <a:buClr>
                <a:schemeClr val="dk1"/>
              </a:buClr>
              <a:buSzPts val="3200"/>
              <a:buNone/>
            </a:pPr>
            <a:endParaRPr lang="en-GB" sz="2400" dirty="0"/>
          </a:p>
          <a:p>
            <a:pPr marL="0" lvl="0" indent="0" algn="l" rtl="0">
              <a:lnSpc>
                <a:spcPct val="90000"/>
              </a:lnSpc>
              <a:spcBef>
                <a:spcPts val="0"/>
              </a:spcBef>
              <a:spcAft>
                <a:spcPts val="0"/>
              </a:spcAft>
              <a:buClr>
                <a:schemeClr val="dk1"/>
              </a:buClr>
              <a:buSzPts val="3200"/>
              <a:buNone/>
            </a:pPr>
            <a:endParaRPr lang="en-GB" sz="2400" dirty="0"/>
          </a:p>
        </p:txBody>
      </p:sp>
      <p:sp>
        <p:nvSpPr>
          <p:cNvPr id="2" name="Google Shape;111;p16">
            <a:extLst>
              <a:ext uri="{FF2B5EF4-FFF2-40B4-BE49-F238E27FC236}">
                <a16:creationId xmlns:a16="http://schemas.microsoft.com/office/drawing/2014/main" id="{A3A7CDA5-1B41-ED0E-74DD-FBBEBDAE04F2}"/>
              </a:ext>
            </a:extLst>
          </p:cNvPr>
          <p:cNvSpPr txBox="1"/>
          <p:nvPr/>
        </p:nvSpPr>
        <p:spPr>
          <a:xfrm>
            <a:off x="838200" y="305642"/>
            <a:ext cx="10829926" cy="1325563"/>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BERT - Bidirectional Encoder Representations from Transformers</a:t>
            </a:r>
          </a:p>
          <a:p>
            <a:pPr marL="0" marR="0" lvl="0" indent="0" algn="l" rtl="0">
              <a:lnSpc>
                <a:spcPct val="90000"/>
              </a:lnSpc>
              <a:spcBef>
                <a:spcPts val="0"/>
              </a:spcBef>
              <a:spcAft>
                <a:spcPts val="0"/>
              </a:spcAft>
              <a:buClr>
                <a:schemeClr val="dk1"/>
              </a:buClr>
              <a:buSzPts val="4400"/>
              <a:buFont typeface="Calibri"/>
              <a:buNone/>
            </a:pPr>
            <a:r>
              <a:rPr lang="en-GB" sz="2000" b="1" dirty="0">
                <a:solidFill>
                  <a:schemeClr val="dk1"/>
                </a:solidFill>
                <a:latin typeface="Calibri"/>
                <a:ea typeface="Calibri"/>
                <a:cs typeface="Calibri"/>
                <a:sym typeface="Calibri"/>
              </a:rPr>
              <a:t>		             ‘Universal language understanding model’ (2018) [13] by Google AI</a:t>
            </a:r>
            <a:endParaRPr sz="2000" dirty="0"/>
          </a:p>
        </p:txBody>
      </p:sp>
      <p:sp>
        <p:nvSpPr>
          <p:cNvPr id="3" name="Slide Number Placeholder 2">
            <a:extLst>
              <a:ext uri="{FF2B5EF4-FFF2-40B4-BE49-F238E27FC236}">
                <a16:creationId xmlns:a16="http://schemas.microsoft.com/office/drawing/2014/main" id="{615360CC-8D45-04F9-FE48-C68B69187B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spTree>
    <p:extLst>
      <p:ext uri="{BB962C8B-B14F-4D97-AF65-F5344CB8AC3E}">
        <p14:creationId xmlns:p14="http://schemas.microsoft.com/office/powerpoint/2010/main" val="87428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484164A6-655A-5FD0-DB5A-8D6036373BFB}"/>
            </a:ext>
          </a:extLst>
        </p:cNvPr>
        <p:cNvGrpSpPr/>
        <p:nvPr/>
      </p:nvGrpSpPr>
      <p:grpSpPr>
        <a:xfrm>
          <a:off x="0" y="0"/>
          <a:ext cx="0" cy="0"/>
          <a:chOff x="0" y="0"/>
          <a:chExt cx="0" cy="0"/>
        </a:xfrm>
      </p:grpSpPr>
      <p:sp>
        <p:nvSpPr>
          <p:cNvPr id="112" name="Google Shape;112;p16">
            <a:extLst>
              <a:ext uri="{FF2B5EF4-FFF2-40B4-BE49-F238E27FC236}">
                <a16:creationId xmlns:a16="http://schemas.microsoft.com/office/drawing/2014/main" id="{91CEA6CB-D66D-2A3B-0B48-2929078B0AC6}"/>
              </a:ext>
            </a:extLst>
          </p:cNvPr>
          <p:cNvSpPr txBox="1">
            <a:spLocks noGrp="1"/>
          </p:cNvSpPr>
          <p:nvPr>
            <p:ph type="body" idx="1"/>
          </p:nvPr>
        </p:nvSpPr>
        <p:spPr>
          <a:xfrm>
            <a:off x="838199" y="1837202"/>
            <a:ext cx="6733479" cy="4235607"/>
          </a:xfrm>
          <a:prstGeom prst="rect">
            <a:avLst/>
          </a:prstGeom>
          <a:noFill/>
          <a:ln>
            <a:noFill/>
          </a:ln>
        </p:spPr>
        <p:txBody>
          <a:bodyPr spcFirstLastPara="1" wrap="square" lIns="91425" tIns="45700" rIns="91425" bIns="45700" anchor="t" anchorCtr="0">
            <a:noAutofit/>
          </a:bodyPr>
          <a:lstStyle/>
          <a:p>
            <a:pPr indent="-457200">
              <a:spcBef>
                <a:spcPts val="0"/>
              </a:spcBef>
              <a:spcAft>
                <a:spcPts val="600"/>
              </a:spcAft>
              <a:buSzPts val="3200"/>
            </a:pPr>
            <a:r>
              <a:rPr lang="en-GB" sz="2400" dirty="0"/>
              <a:t>Architecture</a:t>
            </a:r>
          </a:p>
          <a:p>
            <a:pPr lvl="1" indent="-457200">
              <a:spcBef>
                <a:spcPts val="0"/>
              </a:spcBef>
              <a:spcAft>
                <a:spcPts val="600"/>
              </a:spcAft>
              <a:buSzPct val="80000"/>
              <a:buFont typeface="Courier New" panose="02070309020205020404" pitchFamily="49" charset="0"/>
              <a:buChar char="o"/>
            </a:pPr>
            <a:r>
              <a:rPr lang="en-GB" sz="2200" dirty="0"/>
              <a:t>Encoder-only transformer &amp; bidirectional 					(similar to BERT)</a:t>
            </a:r>
          </a:p>
          <a:p>
            <a:pPr lvl="1" indent="-457200">
              <a:spcBef>
                <a:spcPts val="0"/>
              </a:spcBef>
              <a:spcAft>
                <a:spcPts val="600"/>
              </a:spcAft>
              <a:buSzPct val="80000"/>
              <a:buFont typeface="Courier New" panose="02070309020205020404" pitchFamily="49" charset="0"/>
              <a:buChar char="o"/>
            </a:pPr>
            <a:r>
              <a:rPr lang="en-GB" sz="2200" dirty="0"/>
              <a:t>From 6 to 36 layers, from 50M to 2.5B parameters</a:t>
            </a:r>
          </a:p>
          <a:p>
            <a:pPr lvl="1" indent="-457200">
              <a:spcBef>
                <a:spcPts val="0"/>
              </a:spcBef>
              <a:spcAft>
                <a:spcPts val="600"/>
              </a:spcAft>
              <a:buSzPct val="80000"/>
              <a:buFont typeface="Courier New" panose="02070309020205020404" pitchFamily="49" charset="0"/>
              <a:buChar char="o"/>
            </a:pPr>
            <a:r>
              <a:rPr lang="en-GB" sz="2200" dirty="0"/>
              <a:t>Tokenization: 6-mer non-overlapping tokens</a:t>
            </a:r>
          </a:p>
          <a:p>
            <a:pPr indent="-457200">
              <a:spcBef>
                <a:spcPts val="600"/>
              </a:spcBef>
              <a:spcAft>
                <a:spcPts val="600"/>
              </a:spcAft>
              <a:buSzPts val="3200"/>
            </a:pPr>
            <a:r>
              <a:rPr lang="en-GB" sz="2400" dirty="0"/>
              <a:t>Pretraining </a:t>
            </a:r>
          </a:p>
          <a:p>
            <a:pPr lvl="1" indent="-457200">
              <a:spcBef>
                <a:spcPts val="0"/>
              </a:spcBef>
              <a:spcAft>
                <a:spcPts val="600"/>
              </a:spcAft>
              <a:buSzPct val="80000"/>
              <a:buFont typeface="Courier New" panose="02070309020205020404" pitchFamily="49" charset="0"/>
              <a:buChar char="o"/>
            </a:pPr>
            <a:r>
              <a:rPr lang="en-GB" sz="2200" dirty="0"/>
              <a:t>Multi-species genomes (850+)</a:t>
            </a:r>
          </a:p>
          <a:p>
            <a:pPr lvl="1" indent="-457200">
              <a:spcBef>
                <a:spcPts val="0"/>
              </a:spcBef>
              <a:spcAft>
                <a:spcPts val="600"/>
              </a:spcAft>
              <a:buSzPct val="80000"/>
              <a:buFont typeface="Courier New" panose="02070309020205020404" pitchFamily="49" charset="0"/>
              <a:buChar char="o"/>
            </a:pPr>
            <a:r>
              <a:rPr lang="en-GB" sz="2200" dirty="0"/>
              <a:t>Training time: not reported, but used </a:t>
            </a:r>
          </a:p>
          <a:p>
            <a:pPr marL="457200" lvl="1" indent="0">
              <a:spcBef>
                <a:spcPts val="0"/>
              </a:spcBef>
              <a:spcAft>
                <a:spcPts val="600"/>
              </a:spcAft>
              <a:buSzPct val="80000"/>
              <a:buNone/>
            </a:pPr>
            <a:r>
              <a:rPr lang="en-GB" sz="2200" dirty="0"/>
              <a:t>Cambridge‑1 Supercomputer (~$100M, ~8 PFLOPS) </a:t>
            </a:r>
          </a:p>
          <a:p>
            <a:pPr marL="0" indent="0">
              <a:spcBef>
                <a:spcPts val="600"/>
              </a:spcBef>
              <a:spcAft>
                <a:spcPts val="600"/>
              </a:spcAft>
              <a:buSzPts val="3200"/>
              <a:buNone/>
            </a:pPr>
            <a:r>
              <a:rPr lang="en-GB" sz="2400" dirty="0"/>
              <a:t>				</a:t>
            </a:r>
          </a:p>
          <a:p>
            <a:pPr marL="0" lvl="0" indent="0" algn="l" rtl="0">
              <a:lnSpc>
                <a:spcPct val="90000"/>
              </a:lnSpc>
              <a:spcBef>
                <a:spcPts val="0"/>
              </a:spcBef>
              <a:spcAft>
                <a:spcPts val="0"/>
              </a:spcAft>
              <a:buClr>
                <a:schemeClr val="dk1"/>
              </a:buClr>
              <a:buSzPts val="3200"/>
              <a:buNone/>
            </a:pPr>
            <a:r>
              <a:rPr lang="en-GB" sz="1800" i="1" dirty="0"/>
              <a:t>to be used in guided hands-on session</a:t>
            </a:r>
          </a:p>
          <a:p>
            <a:pPr marL="0" lvl="0" indent="0" algn="l" rtl="0">
              <a:lnSpc>
                <a:spcPct val="90000"/>
              </a:lnSpc>
              <a:spcBef>
                <a:spcPts val="0"/>
              </a:spcBef>
              <a:spcAft>
                <a:spcPts val="0"/>
              </a:spcAft>
              <a:buClr>
                <a:schemeClr val="dk1"/>
              </a:buClr>
              <a:buSzPts val="3200"/>
              <a:buNone/>
            </a:pPr>
            <a:endParaRPr lang="en-GB" dirty="0"/>
          </a:p>
        </p:txBody>
      </p:sp>
      <p:sp>
        <p:nvSpPr>
          <p:cNvPr id="4" name="Google Shape;111;p16">
            <a:extLst>
              <a:ext uri="{FF2B5EF4-FFF2-40B4-BE49-F238E27FC236}">
                <a16:creationId xmlns:a16="http://schemas.microsoft.com/office/drawing/2014/main" id="{1EA022F4-B530-66DA-D36D-CB18730EBD56}"/>
              </a:ext>
            </a:extLst>
          </p:cNvPr>
          <p:cNvSpPr txBox="1"/>
          <p:nvPr/>
        </p:nvSpPr>
        <p:spPr>
          <a:xfrm>
            <a:off x="838200" y="452216"/>
            <a:ext cx="105918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Nucleotide Transformer </a:t>
            </a:r>
            <a:r>
              <a:rPr lang="en-GB" sz="3200" b="1" dirty="0">
                <a:solidFill>
                  <a:schemeClr val="dk1"/>
                </a:solidFill>
                <a:latin typeface="Calibri"/>
                <a:ea typeface="Calibri"/>
                <a:cs typeface="Calibri"/>
                <a:sym typeface="Calibri"/>
              </a:rPr>
              <a:t>				      </a:t>
            </a:r>
            <a:endParaRPr lang="en-GB" sz="2400" b="1" dirty="0">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ts val="4400"/>
              <a:buFont typeface="Calibri"/>
              <a:buNone/>
            </a:pPr>
            <a:r>
              <a:rPr lang="en-GB" sz="2400" b="1" dirty="0">
                <a:solidFill>
                  <a:schemeClr val="dk1"/>
                </a:solidFill>
                <a:latin typeface="Calibri"/>
                <a:ea typeface="Calibri"/>
                <a:cs typeface="Calibri"/>
                <a:sym typeface="Calibri"/>
              </a:rPr>
              <a:t>			         </a:t>
            </a:r>
            <a:r>
              <a:rPr lang="en-GB" sz="2000" b="1" dirty="0">
                <a:solidFill>
                  <a:schemeClr val="dk1"/>
                </a:solidFill>
                <a:latin typeface="Calibri"/>
                <a:ea typeface="Calibri"/>
                <a:cs typeface="Calibri"/>
                <a:sym typeface="Calibri"/>
              </a:rPr>
              <a:t>Large-scale, high-capacity genomics foundation model (2025) [15] </a:t>
            </a:r>
          </a:p>
          <a:p>
            <a:pPr marL="0" marR="0" lvl="0" indent="0" algn="l" rtl="0">
              <a:lnSpc>
                <a:spcPct val="90000"/>
              </a:lnSpc>
              <a:spcBef>
                <a:spcPts val="0"/>
              </a:spcBef>
              <a:spcAft>
                <a:spcPts val="0"/>
              </a:spcAft>
              <a:buClr>
                <a:schemeClr val="dk1"/>
              </a:buClr>
              <a:buSzPts val="4400"/>
              <a:buFont typeface="Calibri"/>
              <a:buNone/>
            </a:pPr>
            <a:r>
              <a:rPr lang="en-GB" sz="2000" b="1" dirty="0">
                <a:solidFill>
                  <a:schemeClr val="dk1"/>
                </a:solidFill>
                <a:latin typeface="Calibri"/>
                <a:ea typeface="Calibri"/>
                <a:cs typeface="Calibri"/>
                <a:sym typeface="Calibri"/>
              </a:rPr>
              <a:t>							    by </a:t>
            </a:r>
            <a:r>
              <a:rPr lang="en-GB" sz="2000" b="1" dirty="0" err="1">
                <a:solidFill>
                  <a:schemeClr val="dk1"/>
                </a:solidFill>
                <a:latin typeface="Calibri"/>
                <a:ea typeface="Calibri"/>
                <a:cs typeface="Calibri"/>
                <a:sym typeface="Calibri"/>
              </a:rPr>
              <a:t>InstaDeep</a:t>
            </a:r>
            <a:r>
              <a:rPr lang="en-GB" sz="2000" b="1" dirty="0">
                <a:solidFill>
                  <a:schemeClr val="dk1"/>
                </a:solidFill>
                <a:latin typeface="Calibri"/>
                <a:ea typeface="Calibri"/>
                <a:cs typeface="Calibri"/>
                <a:sym typeface="Calibri"/>
              </a:rPr>
              <a:t> + NVIDIA + academia</a:t>
            </a:r>
            <a:endParaRPr sz="2000" dirty="0"/>
          </a:p>
        </p:txBody>
      </p:sp>
      <p:pic>
        <p:nvPicPr>
          <p:cNvPr id="3" name="Picture 2">
            <a:extLst>
              <a:ext uri="{FF2B5EF4-FFF2-40B4-BE49-F238E27FC236}">
                <a16:creationId xmlns:a16="http://schemas.microsoft.com/office/drawing/2014/main" id="{2213D556-FD32-5D34-4290-BDC6F8DA73AA}"/>
              </a:ext>
            </a:extLst>
          </p:cNvPr>
          <p:cNvPicPr>
            <a:picLocks noChangeAspect="1"/>
          </p:cNvPicPr>
          <p:nvPr/>
        </p:nvPicPr>
        <p:blipFill>
          <a:blip r:embed="rId3"/>
          <a:stretch>
            <a:fillRect/>
          </a:stretch>
        </p:blipFill>
        <p:spPr>
          <a:xfrm>
            <a:off x="7552896" y="2266950"/>
            <a:ext cx="4300848" cy="3072034"/>
          </a:xfrm>
          <a:prstGeom prst="rect">
            <a:avLst/>
          </a:prstGeom>
        </p:spPr>
      </p:pic>
      <p:sp>
        <p:nvSpPr>
          <p:cNvPr id="2" name="Slide Number Placeholder 1">
            <a:extLst>
              <a:ext uri="{FF2B5EF4-FFF2-40B4-BE49-F238E27FC236}">
                <a16:creationId xmlns:a16="http://schemas.microsoft.com/office/drawing/2014/main" id="{02EA8312-6DDA-D052-DE17-D9CEB8016E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18</a:t>
            </a:fld>
            <a:endParaRPr lang="en-GB"/>
          </a:p>
        </p:txBody>
      </p:sp>
    </p:spTree>
    <p:extLst>
      <p:ext uri="{BB962C8B-B14F-4D97-AF65-F5344CB8AC3E}">
        <p14:creationId xmlns:p14="http://schemas.microsoft.com/office/powerpoint/2010/main" val="1529622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2300425D-3196-5336-951D-6000BEB25D2E}"/>
            </a:ext>
          </a:extLst>
        </p:cNvPr>
        <p:cNvGrpSpPr/>
        <p:nvPr/>
      </p:nvGrpSpPr>
      <p:grpSpPr>
        <a:xfrm>
          <a:off x="0" y="0"/>
          <a:ext cx="0" cy="0"/>
          <a:chOff x="0" y="0"/>
          <a:chExt cx="0" cy="0"/>
        </a:xfrm>
      </p:grpSpPr>
      <p:sp>
        <p:nvSpPr>
          <p:cNvPr id="112" name="Google Shape;112;p16">
            <a:extLst>
              <a:ext uri="{FF2B5EF4-FFF2-40B4-BE49-F238E27FC236}">
                <a16:creationId xmlns:a16="http://schemas.microsoft.com/office/drawing/2014/main" id="{8AC51567-1A01-4C9C-3A41-F2AC2BC4C6C7}"/>
              </a:ext>
            </a:extLst>
          </p:cNvPr>
          <p:cNvSpPr txBox="1">
            <a:spLocks noGrp="1"/>
          </p:cNvSpPr>
          <p:nvPr>
            <p:ph type="body" idx="1"/>
          </p:nvPr>
        </p:nvSpPr>
        <p:spPr>
          <a:xfrm>
            <a:off x="838199" y="1717934"/>
            <a:ext cx="7982415" cy="4007007"/>
          </a:xfrm>
          <a:prstGeom prst="rect">
            <a:avLst/>
          </a:prstGeom>
          <a:noFill/>
          <a:ln>
            <a:noFill/>
          </a:ln>
        </p:spPr>
        <p:txBody>
          <a:bodyPr spcFirstLastPara="1" wrap="square" lIns="91425" tIns="45700" rIns="91425" bIns="45700" anchor="t" anchorCtr="0">
            <a:noAutofit/>
          </a:bodyPr>
          <a:lstStyle/>
          <a:p>
            <a:pPr indent="-457200">
              <a:spcBef>
                <a:spcPts val="0"/>
              </a:spcBef>
              <a:spcAft>
                <a:spcPts val="600"/>
              </a:spcAft>
              <a:buSzPts val="3200"/>
            </a:pPr>
            <a:r>
              <a:rPr lang="en-GB" sz="2400" dirty="0"/>
              <a:t>Architecture</a:t>
            </a:r>
          </a:p>
          <a:p>
            <a:pPr lvl="1" indent="-457200">
              <a:spcBef>
                <a:spcPts val="0"/>
              </a:spcBef>
              <a:spcAft>
                <a:spcPts val="600"/>
              </a:spcAft>
              <a:buSzPct val="80000"/>
              <a:buFont typeface="Courier New" panose="02070309020205020404" pitchFamily="49" charset="0"/>
              <a:buChar char="o"/>
            </a:pPr>
            <a:r>
              <a:rPr lang="en-GB" sz="2200" dirty="0"/>
              <a:t>Hybrid architecture: a U‑Net-inspired backbone architecture with convolutional layers + transformer blocks + decoder</a:t>
            </a:r>
          </a:p>
          <a:p>
            <a:pPr lvl="1" indent="-457200">
              <a:spcBef>
                <a:spcPts val="0"/>
              </a:spcBef>
              <a:spcAft>
                <a:spcPts val="600"/>
              </a:spcAft>
              <a:buSzPct val="80000"/>
              <a:buFont typeface="Courier New" panose="02070309020205020404" pitchFamily="49" charset="0"/>
              <a:buChar char="o"/>
            </a:pPr>
            <a:r>
              <a:rPr lang="en-GB" sz="2200" dirty="0"/>
              <a:t>Use single-nucleotide tokens </a:t>
            </a:r>
          </a:p>
          <a:p>
            <a:pPr lvl="1" indent="-457200">
              <a:spcBef>
                <a:spcPts val="0"/>
              </a:spcBef>
              <a:spcAft>
                <a:spcPts val="600"/>
              </a:spcAft>
              <a:buSzPct val="80000"/>
              <a:buFont typeface="Courier New" panose="02070309020205020404" pitchFamily="49" charset="0"/>
              <a:buChar char="o"/>
            </a:pPr>
            <a:r>
              <a:rPr lang="en-GB" sz="2200" dirty="0"/>
              <a:t>Not a pure language model, integrating: </a:t>
            </a:r>
          </a:p>
          <a:p>
            <a:pPr lvl="2" indent="-457200">
              <a:spcBef>
                <a:spcPts val="0"/>
              </a:spcBef>
              <a:spcAft>
                <a:spcPts val="600"/>
              </a:spcAft>
              <a:buSzPct val="80000"/>
              <a:buFont typeface="Courier New" panose="02070309020205020404" pitchFamily="49" charset="0"/>
              <a:buChar char="o"/>
            </a:pPr>
            <a:r>
              <a:rPr lang="en-GB" sz="2200" dirty="0"/>
              <a:t>DNA sequences (up to 1Mb long)</a:t>
            </a:r>
          </a:p>
          <a:p>
            <a:pPr lvl="2" indent="-457200">
              <a:spcBef>
                <a:spcPts val="0"/>
              </a:spcBef>
              <a:spcAft>
                <a:spcPts val="600"/>
              </a:spcAft>
              <a:buSzPct val="80000"/>
              <a:buFont typeface="Courier New" panose="02070309020205020404" pitchFamily="49" charset="0"/>
              <a:buChar char="o"/>
            </a:pPr>
            <a:r>
              <a:rPr lang="en-GB" sz="2200" dirty="0"/>
              <a:t>Real biological measurements</a:t>
            </a:r>
          </a:p>
          <a:p>
            <a:pPr lvl="1" indent="-457200">
              <a:spcBef>
                <a:spcPts val="0"/>
              </a:spcBef>
              <a:spcAft>
                <a:spcPts val="600"/>
              </a:spcAft>
              <a:buSzPct val="80000"/>
              <a:buFont typeface="Courier New" panose="02070309020205020404" pitchFamily="49" charset="0"/>
              <a:buChar char="o"/>
            </a:pPr>
            <a:r>
              <a:rPr lang="en-GB" sz="2200" dirty="0"/>
              <a:t>Probably &gt;1B parameters </a:t>
            </a:r>
          </a:p>
          <a:p>
            <a:pPr indent="-457200">
              <a:spcBef>
                <a:spcPts val="600"/>
              </a:spcBef>
              <a:spcAft>
                <a:spcPts val="600"/>
              </a:spcAft>
              <a:buSzPts val="3200"/>
            </a:pPr>
            <a:r>
              <a:rPr lang="en-GB" sz="2400" dirty="0"/>
              <a:t>Pretraining </a:t>
            </a:r>
          </a:p>
          <a:p>
            <a:pPr marL="457200" lvl="1" indent="0">
              <a:spcBef>
                <a:spcPts val="0"/>
              </a:spcBef>
              <a:buSzPct val="80000"/>
              <a:buNone/>
            </a:pPr>
            <a:r>
              <a:rPr lang="en-GB" sz="2200" dirty="0"/>
              <a:t>Large-scale experimental genomics datasets (ENCODE, </a:t>
            </a:r>
            <a:r>
              <a:rPr lang="en-GB" sz="2200" dirty="0" err="1"/>
              <a:t>GTEx</a:t>
            </a:r>
            <a:r>
              <a:rPr lang="en-GB" sz="2200" dirty="0"/>
              <a:t>… ), </a:t>
            </a:r>
          </a:p>
          <a:p>
            <a:pPr marL="457200" lvl="1" indent="0">
              <a:spcBef>
                <a:spcPts val="0"/>
              </a:spcBef>
              <a:buSzPct val="80000"/>
              <a:buNone/>
            </a:pPr>
            <a:r>
              <a:rPr lang="en-GB" sz="2200" dirty="0"/>
              <a:t>learning to map DNA sequences to thousands of biological </a:t>
            </a:r>
          </a:p>
          <a:p>
            <a:pPr marL="457200" lvl="1" indent="0">
              <a:spcBef>
                <a:spcPts val="0"/>
              </a:spcBef>
              <a:buSzPct val="80000"/>
              <a:buNone/>
            </a:pPr>
            <a:r>
              <a:rPr lang="en-GB" sz="2200" dirty="0"/>
              <a:t>signals such as gene expression, chromatin accessibility, </a:t>
            </a:r>
          </a:p>
          <a:p>
            <a:pPr marL="457200" lvl="1" indent="0">
              <a:spcBef>
                <a:spcPts val="0"/>
              </a:spcBef>
              <a:buSzPct val="80000"/>
              <a:buNone/>
            </a:pPr>
            <a:r>
              <a:rPr lang="en-GB" sz="2200" dirty="0"/>
              <a:t>and 3D genome structure	</a:t>
            </a:r>
            <a:r>
              <a:rPr lang="en-GB" sz="2000" dirty="0"/>
              <a:t>			</a:t>
            </a:r>
          </a:p>
          <a:p>
            <a:pPr marL="0" lvl="0" indent="0" algn="l" rtl="0">
              <a:lnSpc>
                <a:spcPct val="90000"/>
              </a:lnSpc>
              <a:spcBef>
                <a:spcPts val="0"/>
              </a:spcBef>
              <a:spcAft>
                <a:spcPts val="0"/>
              </a:spcAft>
              <a:buClr>
                <a:schemeClr val="dk1"/>
              </a:buClr>
              <a:buSzPts val="3200"/>
              <a:buNone/>
            </a:pPr>
            <a:endParaRPr lang="en-GB" dirty="0"/>
          </a:p>
          <a:p>
            <a:pPr marL="0" lvl="0" indent="0" algn="l" rtl="0">
              <a:lnSpc>
                <a:spcPct val="90000"/>
              </a:lnSpc>
              <a:spcBef>
                <a:spcPts val="0"/>
              </a:spcBef>
              <a:spcAft>
                <a:spcPts val="0"/>
              </a:spcAft>
              <a:buClr>
                <a:schemeClr val="dk1"/>
              </a:buClr>
              <a:buSzPts val="3200"/>
              <a:buNone/>
            </a:pPr>
            <a:endParaRPr lang="en-GB" dirty="0"/>
          </a:p>
        </p:txBody>
      </p:sp>
      <p:sp>
        <p:nvSpPr>
          <p:cNvPr id="4" name="Google Shape;111;p16">
            <a:extLst>
              <a:ext uri="{FF2B5EF4-FFF2-40B4-BE49-F238E27FC236}">
                <a16:creationId xmlns:a16="http://schemas.microsoft.com/office/drawing/2014/main" id="{49E2B7E6-EF88-0ACE-A05B-425420453DC9}"/>
              </a:ext>
            </a:extLst>
          </p:cNvPr>
          <p:cNvSpPr txBox="1"/>
          <p:nvPr/>
        </p:nvSpPr>
        <p:spPr>
          <a:xfrm>
            <a:off x="838200" y="439516"/>
            <a:ext cx="10734675" cy="1325563"/>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400"/>
              <a:buFont typeface="Calibri"/>
              <a:buNone/>
            </a:pPr>
            <a:r>
              <a:rPr lang="en-GB" sz="3900" b="1" dirty="0" err="1">
                <a:solidFill>
                  <a:schemeClr val="dk1"/>
                </a:solidFill>
                <a:latin typeface="Calibri"/>
                <a:ea typeface="Calibri"/>
                <a:cs typeface="Calibri"/>
                <a:sym typeface="Calibri"/>
              </a:rPr>
              <a:t>AlphaGenome</a:t>
            </a:r>
            <a:r>
              <a:rPr lang="en-GB" sz="3900" b="1" dirty="0">
                <a:solidFill>
                  <a:schemeClr val="dk1"/>
                </a:solidFill>
                <a:latin typeface="Calibri"/>
                <a:ea typeface="Calibri"/>
                <a:cs typeface="Calibri"/>
                <a:sym typeface="Calibri"/>
              </a:rPr>
              <a:t> – A biological system model		 </a:t>
            </a:r>
          </a:p>
          <a:p>
            <a:pPr marL="0" marR="0" lvl="0" indent="0" algn="l" rtl="0">
              <a:lnSpc>
                <a:spcPct val="90000"/>
              </a:lnSpc>
              <a:spcBef>
                <a:spcPts val="0"/>
              </a:spcBef>
              <a:spcAft>
                <a:spcPts val="0"/>
              </a:spcAft>
              <a:buClr>
                <a:schemeClr val="dk1"/>
              </a:buClr>
              <a:buSzPts val="4400"/>
              <a:buFont typeface="Calibri"/>
              <a:buNone/>
            </a:pPr>
            <a:r>
              <a:rPr lang="en-GB" sz="2400" b="1" dirty="0">
                <a:solidFill>
                  <a:schemeClr val="dk1"/>
                </a:solidFill>
                <a:latin typeface="Calibri"/>
                <a:ea typeface="Calibri"/>
                <a:cs typeface="Calibri"/>
                <a:sym typeface="Calibri"/>
              </a:rPr>
              <a:t>	             </a:t>
            </a:r>
            <a:r>
              <a:rPr lang="en-GB" sz="2200" b="1" dirty="0">
                <a:solidFill>
                  <a:schemeClr val="dk1"/>
                </a:solidFill>
                <a:latin typeface="Calibri"/>
                <a:ea typeface="Calibri"/>
                <a:cs typeface="Calibri"/>
                <a:sym typeface="Calibri"/>
              </a:rPr>
              <a:t>To go beyond syntax of DNA by learning semantics and function of DNA (2026) [16] </a:t>
            </a:r>
          </a:p>
          <a:p>
            <a:pPr marL="0" marR="0" lvl="0" indent="0" algn="l" rtl="0">
              <a:lnSpc>
                <a:spcPct val="90000"/>
              </a:lnSpc>
              <a:spcBef>
                <a:spcPts val="0"/>
              </a:spcBef>
              <a:spcAft>
                <a:spcPts val="0"/>
              </a:spcAft>
              <a:buClr>
                <a:schemeClr val="dk1"/>
              </a:buClr>
              <a:buSzPts val="4400"/>
              <a:buFont typeface="Calibri"/>
              <a:buNone/>
            </a:pPr>
            <a:r>
              <a:rPr lang="en-GB" sz="2200" b="1" dirty="0">
                <a:solidFill>
                  <a:schemeClr val="dk1"/>
                </a:solidFill>
                <a:latin typeface="Calibri"/>
                <a:ea typeface="Calibri"/>
                <a:cs typeface="Calibri"/>
                <a:sym typeface="Calibri"/>
              </a:rPr>
              <a:t>							    		by Google DeepMind</a:t>
            </a:r>
            <a:endParaRPr sz="2200" dirty="0"/>
          </a:p>
        </p:txBody>
      </p:sp>
      <p:pic>
        <p:nvPicPr>
          <p:cNvPr id="1026" name="Picture 2" descr="Happy to see our AlphaGenome model published in @Nature today and on the  cover of this week's issue. 🧬 AlphaGenome is an AI model for understanding  the non-coding genome – the 98%">
            <a:extLst>
              <a:ext uri="{FF2B5EF4-FFF2-40B4-BE49-F238E27FC236}">
                <a16:creationId xmlns:a16="http://schemas.microsoft.com/office/drawing/2014/main" id="{79674D0B-108F-9FF1-899F-72561EB7A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3397" y="2049549"/>
            <a:ext cx="2914013" cy="387220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3B5D05D-7250-E8D2-4016-02A534FD4E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19</a:t>
            </a:fld>
            <a:endParaRPr lang="en-GB"/>
          </a:p>
        </p:txBody>
      </p:sp>
    </p:spTree>
    <p:extLst>
      <p:ext uri="{BB962C8B-B14F-4D97-AF65-F5344CB8AC3E}">
        <p14:creationId xmlns:p14="http://schemas.microsoft.com/office/powerpoint/2010/main" val="2139344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5D92731-B4FB-CB6A-AEE1-E66D0B190FA6}"/>
            </a:ext>
          </a:extLst>
        </p:cNvPr>
        <p:cNvGrpSpPr/>
        <p:nvPr/>
      </p:nvGrpSpPr>
      <p:grpSpPr>
        <a:xfrm>
          <a:off x="0" y="0"/>
          <a:ext cx="0" cy="0"/>
          <a:chOff x="0" y="0"/>
          <a:chExt cx="0" cy="0"/>
        </a:xfrm>
      </p:grpSpPr>
      <p:sp>
        <p:nvSpPr>
          <p:cNvPr id="111" name="Google Shape;111;p16">
            <a:extLst>
              <a:ext uri="{FF2B5EF4-FFF2-40B4-BE49-F238E27FC236}">
                <a16:creationId xmlns:a16="http://schemas.microsoft.com/office/drawing/2014/main" id="{300283BB-CC39-93D7-B991-86B9CECD9251}"/>
              </a:ext>
            </a:extLst>
          </p:cNvPr>
          <p:cNvSpPr txBox="1"/>
          <p:nvPr/>
        </p:nvSpPr>
        <p:spPr>
          <a:xfrm>
            <a:off x="838200" y="153242"/>
            <a:ext cx="113538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Beyond Transformer-Based Architectures</a:t>
            </a:r>
          </a:p>
        </p:txBody>
      </p:sp>
      <p:sp>
        <p:nvSpPr>
          <p:cNvPr id="112" name="Google Shape;112;p16">
            <a:extLst>
              <a:ext uri="{FF2B5EF4-FFF2-40B4-BE49-F238E27FC236}">
                <a16:creationId xmlns:a16="http://schemas.microsoft.com/office/drawing/2014/main" id="{4145F9B8-6626-1ABA-68FB-0909890B5F2A}"/>
              </a:ext>
            </a:extLst>
          </p:cNvPr>
          <p:cNvSpPr txBox="1">
            <a:spLocks noGrp="1"/>
          </p:cNvSpPr>
          <p:nvPr>
            <p:ph type="body" idx="1"/>
          </p:nvPr>
        </p:nvSpPr>
        <p:spPr>
          <a:xfrm>
            <a:off x="838200" y="1442564"/>
            <a:ext cx="5874833" cy="5023168"/>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buSzPts val="3200"/>
              <a:buNone/>
            </a:pPr>
            <a:r>
              <a:rPr lang="en-GB" sz="2400" dirty="0"/>
              <a:t>Long sequences are limited by quadratic scaling of Self-Attention</a:t>
            </a:r>
          </a:p>
          <a:p>
            <a:pPr indent="-457200">
              <a:spcBef>
                <a:spcPts val="0"/>
              </a:spcBef>
              <a:spcAft>
                <a:spcPts val="600"/>
              </a:spcAft>
              <a:buSzPts val="3200"/>
            </a:pPr>
            <a:r>
              <a:rPr lang="en-GB" sz="2200" b="1" dirty="0"/>
              <a:t>Hyena operator</a:t>
            </a:r>
            <a:r>
              <a:rPr lang="en-GB" sz="2200" dirty="0"/>
              <a:t>: a long convolution-style </a:t>
            </a:r>
            <a:r>
              <a:rPr lang="en-GB" sz="2200" b="1" dirty="0"/>
              <a:t>near-linear </a:t>
            </a:r>
            <a:r>
              <a:rPr lang="en-GB" sz="2200" dirty="0"/>
              <a:t>(smart) </a:t>
            </a:r>
            <a:r>
              <a:rPr lang="en-GB" sz="2200" b="1" dirty="0"/>
              <a:t>operator</a:t>
            </a:r>
          </a:p>
          <a:p>
            <a:pPr lvl="1" indent="-457200">
              <a:spcBef>
                <a:spcPts val="0"/>
              </a:spcBef>
              <a:spcAft>
                <a:spcPts val="1800"/>
              </a:spcAft>
              <a:buSzPct val="80000"/>
              <a:buFont typeface="Wingdings" panose="05000000000000000000" pitchFamily="2" charset="2"/>
              <a:buChar char="Ø"/>
            </a:pPr>
            <a:r>
              <a:rPr lang="en-GB" sz="2000" dirty="0" err="1"/>
              <a:t>HyenaDNA</a:t>
            </a:r>
            <a:r>
              <a:rPr lang="en-GB" sz="2000" dirty="0"/>
              <a:t> (100-300M param., 2023 [17]) &amp; Evo (7B parameters, 2024 [18]) </a:t>
            </a:r>
          </a:p>
          <a:p>
            <a:pPr indent="-457200">
              <a:spcBef>
                <a:spcPts val="0"/>
              </a:spcBef>
              <a:spcAft>
                <a:spcPts val="600"/>
              </a:spcAft>
              <a:buSzPts val="3200"/>
            </a:pPr>
            <a:r>
              <a:rPr lang="en-GB" sz="2200" b="1" dirty="0"/>
              <a:t>Mamba operator</a:t>
            </a:r>
            <a:r>
              <a:rPr lang="en-GB" sz="2200" dirty="0"/>
              <a:t>: </a:t>
            </a:r>
            <a:r>
              <a:rPr lang="en-GB" sz="2200" b="1" dirty="0"/>
              <a:t>linear-time state-space model with selectivity</a:t>
            </a:r>
            <a:r>
              <a:rPr lang="en-GB" sz="2200" dirty="0"/>
              <a:t>, that decides what to remember/forget dynamically (seq. nature)  </a:t>
            </a:r>
          </a:p>
          <a:p>
            <a:pPr lvl="1" indent="-457200">
              <a:spcBef>
                <a:spcPts val="0"/>
              </a:spcBef>
              <a:buSzPct val="80000"/>
              <a:buFont typeface="Wingdings" panose="05000000000000000000" pitchFamily="2" charset="2"/>
              <a:buChar char="Ø"/>
            </a:pPr>
            <a:r>
              <a:rPr lang="en-GB" sz="2000" dirty="0"/>
              <a:t>Caduceus (100-300M parameters, 2024)</a:t>
            </a:r>
          </a:p>
          <a:p>
            <a:pPr marL="457200" lvl="1" indent="0">
              <a:spcBef>
                <a:spcPts val="0"/>
              </a:spcBef>
              <a:spcAft>
                <a:spcPts val="1800"/>
              </a:spcAft>
              <a:buSzPct val="80000"/>
              <a:buNone/>
            </a:pPr>
            <a:r>
              <a:rPr lang="en-GB" sz="2000" dirty="0"/>
              <a:t>	- genome-scale sequence</a:t>
            </a:r>
          </a:p>
          <a:p>
            <a:pPr indent="-457200">
              <a:spcBef>
                <a:spcPts val="0"/>
              </a:spcBef>
              <a:spcAft>
                <a:spcPts val="1800"/>
              </a:spcAft>
              <a:buSzPts val="3200"/>
            </a:pPr>
            <a:r>
              <a:rPr lang="en-GB" sz="2200" b="1" dirty="0" err="1"/>
              <a:t>AlphaGenome</a:t>
            </a:r>
            <a:r>
              <a:rPr lang="en-GB" sz="2200" b="1" dirty="0"/>
              <a:t> </a:t>
            </a:r>
            <a:r>
              <a:rPr lang="en-GB" sz="2200" dirty="0"/>
              <a:t>(2026) [16]: next-generation genomic foundation model</a:t>
            </a:r>
          </a:p>
          <a:p>
            <a:pPr marL="0" lvl="0" indent="0" algn="l" rtl="0">
              <a:lnSpc>
                <a:spcPct val="90000"/>
              </a:lnSpc>
              <a:spcBef>
                <a:spcPts val="0"/>
              </a:spcBef>
              <a:spcAft>
                <a:spcPts val="0"/>
              </a:spcAft>
              <a:buClr>
                <a:schemeClr val="dk1"/>
              </a:buClr>
              <a:buSzPts val="3200"/>
              <a:buNone/>
            </a:pPr>
            <a:endParaRPr lang="en-GB" sz="2400" dirty="0"/>
          </a:p>
          <a:p>
            <a:pPr marL="0" lvl="0" indent="0" algn="l" rtl="0">
              <a:lnSpc>
                <a:spcPct val="90000"/>
              </a:lnSpc>
              <a:spcBef>
                <a:spcPts val="0"/>
              </a:spcBef>
              <a:spcAft>
                <a:spcPts val="0"/>
              </a:spcAft>
              <a:buClr>
                <a:schemeClr val="dk1"/>
              </a:buClr>
              <a:buSzPts val="3200"/>
              <a:buNone/>
            </a:pPr>
            <a:endParaRPr lang="en-GB" sz="2400" dirty="0"/>
          </a:p>
          <a:p>
            <a:pPr marL="0" lvl="0" indent="0" algn="l" rtl="0">
              <a:lnSpc>
                <a:spcPct val="90000"/>
              </a:lnSpc>
              <a:spcBef>
                <a:spcPts val="0"/>
              </a:spcBef>
              <a:spcAft>
                <a:spcPts val="0"/>
              </a:spcAft>
              <a:buClr>
                <a:schemeClr val="dk1"/>
              </a:buClr>
              <a:buSzPts val="3200"/>
              <a:buNone/>
            </a:pPr>
            <a:endParaRPr lang="en-GB" sz="2400" dirty="0"/>
          </a:p>
        </p:txBody>
      </p:sp>
      <p:sp>
        <p:nvSpPr>
          <p:cNvPr id="4" name="Slide Number Placeholder 3">
            <a:extLst>
              <a:ext uri="{FF2B5EF4-FFF2-40B4-BE49-F238E27FC236}">
                <a16:creationId xmlns:a16="http://schemas.microsoft.com/office/drawing/2014/main" id="{BB17791A-D43F-561A-1F35-F828C8B24D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20</a:t>
            </a:fld>
            <a:endParaRPr lang="en-GB"/>
          </a:p>
        </p:txBody>
      </p:sp>
      <p:pic>
        <p:nvPicPr>
          <p:cNvPr id="9" name="Picture 8">
            <a:extLst>
              <a:ext uri="{FF2B5EF4-FFF2-40B4-BE49-F238E27FC236}">
                <a16:creationId xmlns:a16="http://schemas.microsoft.com/office/drawing/2014/main" id="{A17F740A-E414-65AA-B448-24B963AB6122}"/>
              </a:ext>
            </a:extLst>
          </p:cNvPr>
          <p:cNvPicPr>
            <a:picLocks noChangeAspect="1"/>
          </p:cNvPicPr>
          <p:nvPr/>
        </p:nvPicPr>
        <p:blipFill>
          <a:blip r:embed="rId3"/>
          <a:stretch>
            <a:fillRect/>
          </a:stretch>
        </p:blipFill>
        <p:spPr>
          <a:xfrm>
            <a:off x="6824548" y="1089947"/>
            <a:ext cx="5026144" cy="5091614"/>
          </a:xfrm>
          <a:prstGeom prst="rect">
            <a:avLst/>
          </a:prstGeom>
        </p:spPr>
      </p:pic>
      <p:sp>
        <p:nvSpPr>
          <p:cNvPr id="10" name="TextBox 9">
            <a:extLst>
              <a:ext uri="{FF2B5EF4-FFF2-40B4-BE49-F238E27FC236}">
                <a16:creationId xmlns:a16="http://schemas.microsoft.com/office/drawing/2014/main" id="{DA648AB2-3167-2403-4D7B-DA9104D87733}"/>
              </a:ext>
            </a:extLst>
          </p:cNvPr>
          <p:cNvSpPr txBox="1"/>
          <p:nvPr/>
        </p:nvSpPr>
        <p:spPr>
          <a:xfrm>
            <a:off x="7514096" y="6170922"/>
            <a:ext cx="3406702" cy="307777"/>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Timeline of developments in NPL since 2017</a:t>
            </a:r>
          </a:p>
        </p:txBody>
      </p:sp>
    </p:spTree>
    <p:extLst>
      <p:ext uri="{BB962C8B-B14F-4D97-AF65-F5344CB8AC3E}">
        <p14:creationId xmlns:p14="http://schemas.microsoft.com/office/powerpoint/2010/main" val="3383841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2" name="Google Shape;112;p16"/>
          <p:cNvSpPr txBox="1">
            <a:spLocks noGrp="1"/>
          </p:cNvSpPr>
          <p:nvPr>
            <p:ph type="body" idx="1"/>
          </p:nvPr>
        </p:nvSpPr>
        <p:spPr>
          <a:xfrm>
            <a:off x="838200" y="1338607"/>
            <a:ext cx="10515600" cy="3988766"/>
          </a:xfrm>
          <a:prstGeom prst="rect">
            <a:avLst/>
          </a:prstGeom>
          <a:noFill/>
          <a:ln>
            <a:noFill/>
          </a:ln>
        </p:spPr>
        <p:txBody>
          <a:bodyPr spcFirstLastPara="1" wrap="square" lIns="91425" tIns="45700" rIns="91425" bIns="45700" anchor="t" anchorCtr="0">
            <a:noAutofit/>
          </a:bodyPr>
          <a:lstStyle/>
          <a:p>
            <a:pPr indent="-457200">
              <a:spcBef>
                <a:spcPts val="0"/>
              </a:spcBef>
              <a:spcAft>
                <a:spcPts val="1800"/>
              </a:spcAft>
              <a:buSzPts val="3200"/>
            </a:pPr>
            <a:r>
              <a:rPr lang="en-GB" dirty="0"/>
              <a:t>Genomics as a language: DNA sequences can be modelled using NLP and LLM paradigms</a:t>
            </a:r>
          </a:p>
          <a:p>
            <a:pPr indent="-457200">
              <a:spcBef>
                <a:spcPts val="0"/>
              </a:spcBef>
              <a:spcAft>
                <a:spcPts val="1800"/>
              </a:spcAft>
              <a:buSzPts val="3200"/>
            </a:pPr>
            <a:r>
              <a:rPr lang="en-GB" dirty="0"/>
              <a:t>Transformer-based models (DNABERT, Nucleotide Transformer) enabled large-scale genomic learning</a:t>
            </a:r>
          </a:p>
          <a:p>
            <a:pPr indent="-457200">
              <a:spcBef>
                <a:spcPts val="0"/>
              </a:spcBef>
              <a:spcAft>
                <a:spcPts val="1800"/>
              </a:spcAft>
              <a:buSzPts val="3200"/>
            </a:pPr>
            <a:r>
              <a:rPr lang="en-GB" dirty="0"/>
              <a:t>Their key limitation: quadratic scaling restricts long-context modelling</a:t>
            </a:r>
          </a:p>
          <a:p>
            <a:pPr lvl="1" indent="-457200">
              <a:spcBef>
                <a:spcPts val="0"/>
              </a:spcBef>
              <a:spcAft>
                <a:spcPts val="1800"/>
              </a:spcAft>
              <a:buSzPts val="3200"/>
              <a:buFont typeface="Wingdings" panose="05000000000000000000" pitchFamily="2" charset="2"/>
              <a:buChar char="Ø"/>
            </a:pPr>
            <a:r>
              <a:rPr lang="en-GB" dirty="0"/>
              <a:t> Hyena and Mamba operators towards genome-scale sequences </a:t>
            </a:r>
          </a:p>
          <a:p>
            <a:pPr indent="-457200">
              <a:spcBef>
                <a:spcPts val="0"/>
              </a:spcBef>
              <a:spcAft>
                <a:spcPts val="1800"/>
              </a:spcAft>
              <a:buSzPts val="3200"/>
            </a:pPr>
            <a:r>
              <a:rPr lang="en-GB" dirty="0" err="1"/>
              <a:t>AlphaGenome</a:t>
            </a:r>
            <a:r>
              <a:rPr lang="en-GB" dirty="0"/>
              <a:t>: integrates sequence, function, and biological signals</a:t>
            </a:r>
          </a:p>
          <a:p>
            <a:pPr lvl="1" indent="-457200">
              <a:spcBef>
                <a:spcPts val="0"/>
              </a:spcBef>
              <a:spcAft>
                <a:spcPts val="1800"/>
              </a:spcAft>
              <a:buSzPts val="3200"/>
              <a:buFont typeface="Wingdings" panose="05000000000000000000" pitchFamily="2" charset="2"/>
              <a:buChar char="Ø"/>
            </a:pPr>
            <a:r>
              <a:rPr lang="en-GB" dirty="0"/>
              <a:t>Paradigm shift: from sequence modelling to functional genomic understanding</a:t>
            </a:r>
            <a:endParaRPr lang="en-GB" sz="2800" dirty="0"/>
          </a:p>
          <a:p>
            <a:pPr marL="0" lvl="0" indent="0" algn="l" rtl="0">
              <a:lnSpc>
                <a:spcPct val="90000"/>
              </a:lnSpc>
              <a:spcBef>
                <a:spcPts val="0"/>
              </a:spcBef>
              <a:spcAft>
                <a:spcPts val="0"/>
              </a:spcAft>
              <a:buClr>
                <a:schemeClr val="dk1"/>
              </a:buClr>
              <a:buSzPts val="3200"/>
              <a:buNone/>
            </a:pPr>
            <a:endParaRPr lang="en-GB" sz="3200" dirty="0"/>
          </a:p>
        </p:txBody>
      </p:sp>
      <p:sp>
        <p:nvSpPr>
          <p:cNvPr id="2" name="Slide Number Placeholder 1">
            <a:extLst>
              <a:ext uri="{FF2B5EF4-FFF2-40B4-BE49-F238E27FC236}">
                <a16:creationId xmlns:a16="http://schemas.microsoft.com/office/drawing/2014/main" id="{5C149DCF-891A-7710-FDA2-B43C031022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21</a:t>
            </a:fld>
            <a:endParaRPr lang="en-GB"/>
          </a:p>
        </p:txBody>
      </p:sp>
      <p:sp>
        <p:nvSpPr>
          <p:cNvPr id="3" name="Google Shape;111;p16">
            <a:extLst>
              <a:ext uri="{FF2B5EF4-FFF2-40B4-BE49-F238E27FC236}">
                <a16:creationId xmlns:a16="http://schemas.microsoft.com/office/drawing/2014/main" id="{77BB3153-F6AC-4D73-C083-9A8B88E4331B}"/>
              </a:ext>
            </a:extLst>
          </p:cNvPr>
          <p:cNvSpPr txBox="1"/>
          <p:nvPr/>
        </p:nvSpPr>
        <p:spPr>
          <a:xfrm>
            <a:off x="838200" y="153242"/>
            <a:ext cx="113538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GB" sz="3600" b="1" dirty="0">
                <a:solidFill>
                  <a:schemeClr val="dk1"/>
                </a:solidFill>
                <a:latin typeface="Calibri"/>
                <a:ea typeface="Calibri"/>
                <a:cs typeface="Calibri"/>
                <a:sym typeface="Calibri"/>
              </a:rPr>
              <a:t>Conclusion</a:t>
            </a:r>
          </a:p>
        </p:txBody>
      </p:sp>
    </p:spTree>
    <p:extLst>
      <p:ext uri="{BB962C8B-B14F-4D97-AF65-F5344CB8AC3E}">
        <p14:creationId xmlns:p14="http://schemas.microsoft.com/office/powerpoint/2010/main" val="1199816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D837-EEA6-4292-997E-EEFCBEFD6A5E}"/>
              </a:ext>
            </a:extLst>
          </p:cNvPr>
          <p:cNvSpPr>
            <a:spLocks noGrp="1"/>
          </p:cNvSpPr>
          <p:nvPr>
            <p:ph type="title"/>
          </p:nvPr>
        </p:nvSpPr>
        <p:spPr>
          <a:xfrm>
            <a:off x="838200" y="559423"/>
            <a:ext cx="10515600" cy="537700"/>
          </a:xfrm>
        </p:spPr>
        <p:txBody>
          <a:bodyPr>
            <a:noAutofit/>
          </a:bodyPr>
          <a:lstStyle/>
          <a:p>
            <a:r>
              <a:rPr lang="en-GB" sz="3600" b="1" dirty="0"/>
              <a:t>References – 1/2</a:t>
            </a:r>
          </a:p>
        </p:txBody>
      </p:sp>
      <p:sp>
        <p:nvSpPr>
          <p:cNvPr id="3" name="Text Placeholder 2">
            <a:extLst>
              <a:ext uri="{FF2B5EF4-FFF2-40B4-BE49-F238E27FC236}">
                <a16:creationId xmlns:a16="http://schemas.microsoft.com/office/drawing/2014/main" id="{6E207C8C-0E46-1E0B-00C0-E0B3A69451C5}"/>
              </a:ext>
            </a:extLst>
          </p:cNvPr>
          <p:cNvSpPr>
            <a:spLocks noGrp="1"/>
          </p:cNvSpPr>
          <p:nvPr>
            <p:ph type="body" idx="1"/>
          </p:nvPr>
        </p:nvSpPr>
        <p:spPr>
          <a:xfrm>
            <a:off x="838200" y="1287732"/>
            <a:ext cx="10515600" cy="4945684"/>
          </a:xfrm>
        </p:spPr>
        <p:txBody>
          <a:bodyPr>
            <a:noAutofit/>
          </a:bodyPr>
          <a:lstStyle/>
          <a:p>
            <a:pPr marL="114300" indent="0">
              <a:lnSpc>
                <a:spcPct val="100000"/>
              </a:lnSpc>
              <a:spcBef>
                <a:spcPts val="0"/>
              </a:spcBef>
              <a:spcAft>
                <a:spcPts val="600"/>
              </a:spcAft>
              <a:buNone/>
            </a:pPr>
            <a:r>
              <a:rPr lang="en-GB" sz="1200" dirty="0"/>
              <a:t>[1] Watson, J., Crick, F. (1953) Molecular Structure of Nucleic Acids: A Structure for Deoxyribose Nucleic Acid. Nature 171, 737–738</a:t>
            </a:r>
          </a:p>
          <a:p>
            <a:pPr marL="114300" indent="0">
              <a:lnSpc>
                <a:spcPct val="100000"/>
              </a:lnSpc>
              <a:spcBef>
                <a:spcPts val="0"/>
              </a:spcBef>
              <a:spcAft>
                <a:spcPts val="600"/>
              </a:spcAft>
              <a:buNone/>
            </a:pPr>
            <a:r>
              <a:rPr lang="en-GB" sz="1200" dirty="0"/>
              <a:t>[2] Chomsky, N. (1957) Syntactic structures. The Hague: Mouton</a:t>
            </a:r>
          </a:p>
          <a:p>
            <a:pPr marL="114300" indent="0">
              <a:lnSpc>
                <a:spcPct val="100000"/>
              </a:lnSpc>
              <a:spcBef>
                <a:spcPts val="0"/>
              </a:spcBef>
              <a:spcAft>
                <a:spcPts val="600"/>
              </a:spcAft>
              <a:buNone/>
            </a:pPr>
            <a:r>
              <a:rPr lang="en-GB" sz="1200" dirty="0"/>
              <a:t>[3] Turing, A. M. (1950) Computing Machinery and Intelligence. Mind 49: 433-460</a:t>
            </a:r>
          </a:p>
          <a:p>
            <a:pPr marL="114300" indent="0">
              <a:lnSpc>
                <a:spcPct val="100000"/>
              </a:lnSpc>
              <a:spcBef>
                <a:spcPts val="0"/>
              </a:spcBef>
              <a:spcAft>
                <a:spcPts val="600"/>
              </a:spcAft>
              <a:buNone/>
            </a:pPr>
            <a:r>
              <a:rPr lang="en-GB" sz="1200" dirty="0"/>
              <a:t>[4] McCarthy, J., Minsky, M.L., Rochester, N., &amp; Shannon, C.E. (1955). A Proposal for the Dartmouth Summer Research Project on Artificial Intelligence. </a:t>
            </a:r>
          </a:p>
          <a:p>
            <a:pPr marL="114300" indent="0">
              <a:lnSpc>
                <a:spcPct val="100000"/>
              </a:lnSpc>
              <a:spcBef>
                <a:spcPts val="0"/>
              </a:spcBef>
              <a:spcAft>
                <a:spcPts val="600"/>
              </a:spcAft>
              <a:buNone/>
            </a:pPr>
            <a:r>
              <a:rPr lang="en-GB" sz="1200" dirty="0"/>
              <a:t>[5] </a:t>
            </a:r>
            <a:r>
              <a:rPr lang="en-GB" sz="1200" dirty="0" err="1"/>
              <a:t>Dyrka</a:t>
            </a:r>
            <a:r>
              <a:rPr lang="en-GB" sz="1200" dirty="0"/>
              <a:t> W., Nebel J.-C. (2009) A Stochastic Context Free Grammar based Framework for Analysis of Protein Sequences. BMC Bioinformatics 10:323</a:t>
            </a:r>
          </a:p>
          <a:p>
            <a:pPr marL="114300" indent="0">
              <a:lnSpc>
                <a:spcPct val="100000"/>
              </a:lnSpc>
              <a:spcBef>
                <a:spcPts val="0"/>
              </a:spcBef>
              <a:spcAft>
                <a:spcPts val="600"/>
              </a:spcAft>
              <a:buNone/>
            </a:pPr>
            <a:r>
              <a:rPr lang="en-GB" sz="1200" dirty="0"/>
              <a:t>[6] Liu Q, Gan M, Jiang R. (2017) A sequence-based method to predict the impact of regulatory variants using random forest. BMC </a:t>
            </a:r>
            <a:r>
              <a:rPr lang="en-GB" sz="1200" dirty="0" err="1"/>
              <a:t>Syst</a:t>
            </a:r>
            <a:r>
              <a:rPr lang="en-GB" sz="1200" dirty="0"/>
              <a:t> Biol. 11(</a:t>
            </a:r>
            <a:r>
              <a:rPr lang="en-GB" sz="1200" dirty="0" err="1"/>
              <a:t>Suppl</a:t>
            </a:r>
            <a:r>
              <a:rPr lang="en-GB" sz="1200" dirty="0"/>
              <a:t> 2):7</a:t>
            </a:r>
          </a:p>
          <a:p>
            <a:pPr marL="114300" indent="0">
              <a:lnSpc>
                <a:spcPct val="100000"/>
              </a:lnSpc>
              <a:spcBef>
                <a:spcPts val="0"/>
              </a:spcBef>
              <a:spcAft>
                <a:spcPts val="600"/>
              </a:spcAft>
              <a:buNone/>
            </a:pPr>
            <a:r>
              <a:rPr lang="en-GB" sz="1200" dirty="0"/>
              <a:t>[7] Quang D, Xie X (2016) DanQ: a hybrid convolutional and recurrent deep neural network for quantifying the function of DNA sequences. Nucleic Acids Research 44(11):e107</a:t>
            </a:r>
          </a:p>
          <a:p>
            <a:pPr marL="114300" indent="0">
              <a:lnSpc>
                <a:spcPct val="100000"/>
              </a:lnSpc>
              <a:spcBef>
                <a:spcPts val="0"/>
              </a:spcBef>
              <a:spcAft>
                <a:spcPts val="600"/>
              </a:spcAft>
              <a:buNone/>
            </a:pPr>
            <a:r>
              <a:rPr lang="en-GB" sz="1200" dirty="0"/>
              <a:t>[8] Vaswani A, </a:t>
            </a:r>
            <a:r>
              <a:rPr lang="en-GB" sz="1200" dirty="0" err="1"/>
              <a:t>Shazeer</a:t>
            </a:r>
            <a:r>
              <a:rPr lang="en-GB" sz="1200" dirty="0"/>
              <a:t> N, Parmar N, </a:t>
            </a:r>
            <a:r>
              <a:rPr lang="en-GB" sz="1200" dirty="0" err="1"/>
              <a:t>Uszkoreit</a:t>
            </a:r>
            <a:r>
              <a:rPr lang="en-GB" sz="1200" dirty="0"/>
              <a:t> J, Jones L, Gomez AN, Kaiser Ł, </a:t>
            </a:r>
            <a:r>
              <a:rPr lang="en-GB" sz="1200" dirty="0" err="1"/>
              <a:t>Polosukhin</a:t>
            </a:r>
            <a:r>
              <a:rPr lang="en-GB" sz="1200" dirty="0"/>
              <a:t> I (2017) Attention is all you need. Advances in neural information processing systems 30</a:t>
            </a:r>
          </a:p>
          <a:p>
            <a:pPr marL="114300" indent="0">
              <a:lnSpc>
                <a:spcPct val="100000"/>
              </a:lnSpc>
              <a:spcBef>
                <a:spcPts val="0"/>
              </a:spcBef>
              <a:spcAft>
                <a:spcPts val="600"/>
              </a:spcAft>
              <a:buNone/>
            </a:pPr>
            <a:r>
              <a:rPr lang="en-GB" sz="1200" dirty="0"/>
              <a:t>[9] </a:t>
            </a:r>
            <a:r>
              <a:rPr lang="en-GB" sz="1200" dirty="0" err="1"/>
              <a:t>Bahdanau</a:t>
            </a:r>
            <a:r>
              <a:rPr lang="en-GB" sz="1200" dirty="0"/>
              <a:t> D, Cho K, Bengio Y (2014) Neural machine translation by jointly learning to align and translate. </a:t>
            </a:r>
            <a:r>
              <a:rPr lang="en-GB" sz="1200" dirty="0" err="1"/>
              <a:t>arXiv</a:t>
            </a:r>
            <a:r>
              <a:rPr lang="en-GB" sz="1200" dirty="0"/>
              <a:t> preprint arXiv:1409.0473</a:t>
            </a:r>
          </a:p>
          <a:p>
            <a:pPr marL="114300" indent="0">
              <a:lnSpc>
                <a:spcPct val="100000"/>
              </a:lnSpc>
              <a:spcBef>
                <a:spcPts val="0"/>
              </a:spcBef>
              <a:spcAft>
                <a:spcPts val="600"/>
              </a:spcAft>
              <a:buNone/>
            </a:pPr>
            <a:r>
              <a:rPr lang="en-GB" sz="1200" dirty="0"/>
              <a:t>[10] Vaswani A, </a:t>
            </a:r>
            <a:r>
              <a:rPr lang="en-GB" sz="1200" dirty="0" err="1"/>
              <a:t>Shazeer</a:t>
            </a:r>
            <a:r>
              <a:rPr lang="en-GB" sz="1200" dirty="0"/>
              <a:t> N, Parmar N, </a:t>
            </a:r>
            <a:r>
              <a:rPr lang="en-GB" sz="1200" dirty="0" err="1"/>
              <a:t>Uszkoreit</a:t>
            </a:r>
            <a:r>
              <a:rPr lang="en-GB" sz="1200" dirty="0"/>
              <a:t> J, Jones L, Gomez AN, Kaiser Ł, </a:t>
            </a:r>
            <a:r>
              <a:rPr lang="en-GB" sz="1200" dirty="0" err="1"/>
              <a:t>Polosukhin</a:t>
            </a:r>
            <a:r>
              <a:rPr lang="en-GB" sz="1200" dirty="0"/>
              <a:t> I (2017) Attention is all you need. Advances in neural information processing systems 30</a:t>
            </a:r>
          </a:p>
          <a:p>
            <a:pPr marL="114300" indent="0">
              <a:lnSpc>
                <a:spcPct val="100000"/>
              </a:lnSpc>
              <a:spcBef>
                <a:spcPts val="0"/>
              </a:spcBef>
              <a:spcAft>
                <a:spcPts val="600"/>
              </a:spcAft>
              <a:buNone/>
            </a:pPr>
            <a:r>
              <a:rPr lang="en-GB" sz="1200" dirty="0"/>
              <a:t>[11] Ji Y, Zhou Z, Liu H, Davuluri RV (2021) DNABERT: pre-trained bidirectional encoder representations from transformers model for DNA-language in genome. Bioinformatics 37:2112</a:t>
            </a:r>
          </a:p>
          <a:p>
            <a:pPr marL="114300" indent="0">
              <a:lnSpc>
                <a:spcPct val="100000"/>
              </a:lnSpc>
              <a:spcBef>
                <a:spcPts val="0"/>
              </a:spcBef>
              <a:spcAft>
                <a:spcPts val="600"/>
              </a:spcAft>
              <a:buNone/>
            </a:pPr>
            <a:r>
              <a:rPr lang="en-GB" sz="1200" dirty="0"/>
              <a:t>[12] Radford A. Improving language understanding by generative pre-training (2018) </a:t>
            </a:r>
            <a:r>
              <a:rPr lang="en-GB" sz="1200" dirty="0">
                <a:hlinkClick r:id="rId3"/>
              </a:rPr>
              <a:t>https://www.mikecaptain.com/resources/pdf/GPT-1.pdf</a:t>
            </a:r>
            <a:r>
              <a:rPr lang="en-GB" sz="1200" dirty="0"/>
              <a:t> </a:t>
            </a:r>
          </a:p>
          <a:p>
            <a:pPr marL="114300" indent="0">
              <a:lnSpc>
                <a:spcPct val="100000"/>
              </a:lnSpc>
              <a:spcBef>
                <a:spcPts val="0"/>
              </a:spcBef>
              <a:spcAft>
                <a:spcPts val="600"/>
              </a:spcAft>
              <a:buNone/>
            </a:pPr>
            <a:r>
              <a:rPr lang="en-GB" sz="1200" dirty="0"/>
              <a:t>[13] Devlin J, Chang MW, Lee K, Toutanova K (2018) Bert: Pre-training of deep bidirectional transformers for language understanding. </a:t>
            </a:r>
            <a:r>
              <a:rPr lang="en-GB" sz="1200" dirty="0" err="1"/>
              <a:t>arXiv</a:t>
            </a:r>
            <a:r>
              <a:rPr lang="en-GB" sz="1200" dirty="0"/>
              <a:t> preprint </a:t>
            </a:r>
            <a:r>
              <a:rPr lang="en-GB" sz="1200" dirty="0" err="1"/>
              <a:t>arXiv</a:t>
            </a:r>
            <a:r>
              <a:rPr lang="en-GB" sz="1200" dirty="0"/>
              <a:t>: 1810.</a:t>
            </a:r>
          </a:p>
          <a:p>
            <a:pPr marL="114300" indent="0">
              <a:lnSpc>
                <a:spcPct val="100000"/>
              </a:lnSpc>
              <a:spcBef>
                <a:spcPts val="0"/>
              </a:spcBef>
              <a:spcAft>
                <a:spcPts val="600"/>
              </a:spcAft>
              <a:buNone/>
            </a:pPr>
            <a:r>
              <a:rPr lang="en-GB" sz="1200" dirty="0"/>
              <a:t>[14] Zhou Z, Ji Y, Li W, Dutta P, Davuluri R, Liu H (2024) DNABERT-2: Efficient foundation model and benchmark for multi-species genomes. International Conference on Learning Representations, 41642-41665</a:t>
            </a:r>
          </a:p>
          <a:p>
            <a:pPr marL="114300" indent="0">
              <a:lnSpc>
                <a:spcPct val="100000"/>
              </a:lnSpc>
              <a:spcBef>
                <a:spcPts val="0"/>
              </a:spcBef>
              <a:spcAft>
                <a:spcPts val="600"/>
              </a:spcAft>
              <a:buNone/>
            </a:pPr>
            <a:r>
              <a:rPr lang="en-GB" sz="1200" dirty="0"/>
              <a:t>[15] Dalla-Torre H, Gonzalez L, Mendoza-Revilla J et al. (2025) Nucleotide Transformer: building and evaluating robust foundation models for human genomics. Nat Methods 22, 287–297</a:t>
            </a:r>
          </a:p>
          <a:p>
            <a:pPr marL="114300" indent="0">
              <a:lnSpc>
                <a:spcPct val="120000"/>
              </a:lnSpc>
              <a:spcBef>
                <a:spcPts val="0"/>
              </a:spcBef>
              <a:spcAft>
                <a:spcPts val="600"/>
              </a:spcAft>
              <a:buNone/>
            </a:pPr>
            <a:endParaRPr lang="en-GB" sz="1200" dirty="0"/>
          </a:p>
          <a:p>
            <a:pPr marL="114300" indent="0">
              <a:lnSpc>
                <a:spcPct val="120000"/>
              </a:lnSpc>
              <a:spcBef>
                <a:spcPts val="0"/>
              </a:spcBef>
              <a:spcAft>
                <a:spcPts val="600"/>
              </a:spcAft>
              <a:buNone/>
            </a:pPr>
            <a:endParaRPr lang="en-GB" sz="1200" dirty="0"/>
          </a:p>
        </p:txBody>
      </p:sp>
      <p:sp>
        <p:nvSpPr>
          <p:cNvPr id="4" name="Slide Number Placeholder 3">
            <a:extLst>
              <a:ext uri="{FF2B5EF4-FFF2-40B4-BE49-F238E27FC236}">
                <a16:creationId xmlns:a16="http://schemas.microsoft.com/office/drawing/2014/main" id="{19E3B4C0-CD7F-C0BF-8120-636B5C1E72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22</a:t>
            </a:fld>
            <a:endParaRPr lang="en-GB"/>
          </a:p>
        </p:txBody>
      </p:sp>
    </p:spTree>
    <p:extLst>
      <p:ext uri="{BB962C8B-B14F-4D97-AF65-F5344CB8AC3E}">
        <p14:creationId xmlns:p14="http://schemas.microsoft.com/office/powerpoint/2010/main" val="379028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E872E-BE8B-E8B4-810A-DF29345128D5}"/>
              </a:ext>
            </a:extLst>
          </p:cNvPr>
          <p:cNvSpPr>
            <a:spLocks noGrp="1"/>
          </p:cNvSpPr>
          <p:nvPr>
            <p:ph type="body" idx="1"/>
          </p:nvPr>
        </p:nvSpPr>
        <p:spPr>
          <a:xfrm>
            <a:off x="838200" y="1278522"/>
            <a:ext cx="10515600" cy="4351338"/>
          </a:xfrm>
        </p:spPr>
        <p:txBody>
          <a:bodyPr>
            <a:normAutofit/>
          </a:bodyPr>
          <a:lstStyle/>
          <a:p>
            <a:pPr marL="114300" indent="0">
              <a:lnSpc>
                <a:spcPct val="100000"/>
              </a:lnSpc>
              <a:spcBef>
                <a:spcPts val="0"/>
              </a:spcBef>
              <a:spcAft>
                <a:spcPts val="600"/>
              </a:spcAft>
              <a:buNone/>
            </a:pPr>
            <a:r>
              <a:rPr lang="en-GB" sz="1200" dirty="0"/>
              <a:t>[16] Avsec Ž, </a:t>
            </a:r>
            <a:r>
              <a:rPr lang="en-GB" sz="1200" dirty="0" err="1"/>
              <a:t>Latysheva</a:t>
            </a:r>
            <a:r>
              <a:rPr lang="en-GB" sz="1200" dirty="0"/>
              <a:t> N, Cheng J et al. (2026) Advancing regulatory variant effect prediction with </a:t>
            </a:r>
            <a:r>
              <a:rPr lang="en-GB" sz="1200" dirty="0" err="1"/>
              <a:t>AlphaGenome</a:t>
            </a:r>
            <a:r>
              <a:rPr lang="en-GB" sz="1200" dirty="0"/>
              <a:t>. Nature 649, 1206–1218</a:t>
            </a:r>
          </a:p>
          <a:p>
            <a:pPr marL="114300" indent="0">
              <a:lnSpc>
                <a:spcPct val="100000"/>
              </a:lnSpc>
              <a:spcBef>
                <a:spcPts val="0"/>
              </a:spcBef>
              <a:spcAft>
                <a:spcPts val="600"/>
              </a:spcAft>
              <a:buNone/>
            </a:pPr>
            <a:r>
              <a:rPr lang="en-GB" sz="1200" dirty="0"/>
              <a:t>[17] Nguyen E, Poli M, Faizi M, Thomas A, </a:t>
            </a:r>
            <a:r>
              <a:rPr lang="en-GB" sz="1200" dirty="0" err="1"/>
              <a:t>Wornow</a:t>
            </a:r>
            <a:r>
              <a:rPr lang="en-GB" sz="1200" dirty="0"/>
              <a:t> M, Birch-Sykes C, </a:t>
            </a:r>
            <a:r>
              <a:rPr lang="en-GB" sz="1200" dirty="0" err="1"/>
              <a:t>Massaroli</a:t>
            </a:r>
            <a:r>
              <a:rPr lang="en-GB" sz="1200" dirty="0"/>
              <a:t> S, Patel A, Rabideau C, Bengio Y, Ermon S (2023) </a:t>
            </a:r>
            <a:r>
              <a:rPr lang="en-GB" sz="1200" dirty="0" err="1"/>
              <a:t>Hyenadna</a:t>
            </a:r>
            <a:r>
              <a:rPr lang="en-GB" sz="1200" dirty="0"/>
              <a:t>: Long-range genomic sequence </a:t>
            </a:r>
            <a:r>
              <a:rPr lang="en-GB" sz="1200" dirty="0" err="1"/>
              <a:t>modeling</a:t>
            </a:r>
            <a:r>
              <a:rPr lang="en-GB" sz="1200" dirty="0"/>
              <a:t> at single nucleotide resolution. Advances in neural information processing systems 36:43177-201.</a:t>
            </a:r>
          </a:p>
          <a:p>
            <a:pPr marL="114300" indent="0">
              <a:lnSpc>
                <a:spcPct val="100000"/>
              </a:lnSpc>
              <a:spcBef>
                <a:spcPts val="0"/>
              </a:spcBef>
              <a:spcAft>
                <a:spcPts val="600"/>
              </a:spcAft>
              <a:buNone/>
            </a:pPr>
            <a:r>
              <a:rPr lang="en-GB" sz="1200" dirty="0"/>
              <a:t>[18] Nguyen E, Poli M, Durrant MG, Kang B, </a:t>
            </a:r>
            <a:r>
              <a:rPr lang="en-GB" sz="1200" dirty="0" err="1"/>
              <a:t>Katrekar</a:t>
            </a:r>
            <a:r>
              <a:rPr lang="en-GB" sz="1200" dirty="0"/>
              <a:t> D, Li DB, Bartie LJ, Thomas AW, King SH, </a:t>
            </a:r>
            <a:r>
              <a:rPr lang="en-GB" sz="1200" dirty="0" err="1"/>
              <a:t>Brixi</a:t>
            </a:r>
            <a:r>
              <a:rPr lang="en-GB" sz="1200" dirty="0"/>
              <a:t> G, Sullivan J (2024) Sequence </a:t>
            </a:r>
            <a:r>
              <a:rPr lang="en-GB" sz="1200" dirty="0" err="1"/>
              <a:t>modeling</a:t>
            </a:r>
            <a:r>
              <a:rPr lang="en-GB" sz="1200" dirty="0"/>
              <a:t> and design from molecular to genome scale with Evo. Science, 15;386(6723)</a:t>
            </a:r>
          </a:p>
          <a:p>
            <a:pPr marL="114300" indent="0">
              <a:lnSpc>
                <a:spcPct val="100000"/>
              </a:lnSpc>
              <a:spcBef>
                <a:spcPts val="0"/>
              </a:spcBef>
              <a:spcAft>
                <a:spcPts val="600"/>
              </a:spcAft>
              <a:buNone/>
            </a:pPr>
            <a:r>
              <a:rPr lang="en-GB" sz="1200" dirty="0"/>
              <a:t>[19] Schiff Y, Kao CH, </a:t>
            </a:r>
            <a:r>
              <a:rPr lang="en-GB" sz="1200" dirty="0" err="1"/>
              <a:t>Gokaslan</a:t>
            </a:r>
            <a:r>
              <a:rPr lang="en-GB" sz="1200" dirty="0"/>
              <a:t> A, Dao T, Gu A, Kuleshov V (2024) Caduceus: Bi-directional equivariant long-range </a:t>
            </a:r>
            <a:r>
              <a:rPr lang="en-GB" sz="1200" dirty="0" err="1"/>
              <a:t>dna</a:t>
            </a:r>
            <a:r>
              <a:rPr lang="en-GB" sz="1200" dirty="0"/>
              <a:t> sequence </a:t>
            </a:r>
            <a:r>
              <a:rPr lang="en-GB" sz="1200" dirty="0" err="1"/>
              <a:t>modeling</a:t>
            </a:r>
            <a:r>
              <a:rPr lang="en-GB" sz="1200" dirty="0"/>
              <a:t>. Proceedings of machine learning research, 235:43632.</a:t>
            </a:r>
          </a:p>
          <a:p>
            <a:pPr marL="114300" indent="0">
              <a:lnSpc>
                <a:spcPct val="100000"/>
              </a:lnSpc>
              <a:spcBef>
                <a:spcPts val="0"/>
              </a:spcBef>
              <a:spcAft>
                <a:spcPts val="600"/>
              </a:spcAft>
              <a:buNone/>
            </a:pPr>
            <a:r>
              <a:rPr lang="en-GB" sz="1200" dirty="0"/>
              <a:t>[20] Zhou, Z., Ji, Y., Li, W., Dutta, P., Davuluri, R. and Liu, H., 2024, May. DNABERT-2: Efficient foundation model and benchmark for multi-species genomes. In International Conference on Learning Representations (Vol. 2024, pp. 41642-41665).</a:t>
            </a:r>
          </a:p>
          <a:p>
            <a:pPr marL="114300" indent="0">
              <a:lnSpc>
                <a:spcPct val="100000"/>
              </a:lnSpc>
              <a:spcBef>
                <a:spcPts val="0"/>
              </a:spcBef>
              <a:spcAft>
                <a:spcPts val="600"/>
              </a:spcAft>
              <a:buNone/>
            </a:pPr>
            <a:r>
              <a:rPr lang="en-GB" sz="1200" dirty="0"/>
              <a:t>[21] Sanabria, M., Hirsch, J., Joubert, P.M. and Poetsch, A.R., 2024. DNA language model GROVER learns sequence context in the human genome. Nature Machine Intelligence, 6(8), pp.911-923.</a:t>
            </a:r>
          </a:p>
          <a:p>
            <a:pPr marL="114300" indent="0">
              <a:lnSpc>
                <a:spcPct val="100000"/>
              </a:lnSpc>
              <a:spcBef>
                <a:spcPts val="0"/>
              </a:spcBef>
              <a:spcAft>
                <a:spcPts val="600"/>
              </a:spcAft>
              <a:buNone/>
            </a:pPr>
            <a:r>
              <a:rPr lang="en-GB" sz="1200" dirty="0"/>
              <a:t>[22] https://en.wikipedia.org/wiki/K-mer</a:t>
            </a:r>
          </a:p>
          <a:p>
            <a:endParaRPr lang="en-GB" sz="1200" dirty="0"/>
          </a:p>
        </p:txBody>
      </p:sp>
      <p:sp>
        <p:nvSpPr>
          <p:cNvPr id="4" name="Slide Number Placeholder 3">
            <a:extLst>
              <a:ext uri="{FF2B5EF4-FFF2-40B4-BE49-F238E27FC236}">
                <a16:creationId xmlns:a16="http://schemas.microsoft.com/office/drawing/2014/main" id="{BD0CA3B8-9305-79EF-8A8A-83B419A3CD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
        <p:nvSpPr>
          <p:cNvPr id="7" name="Title 1">
            <a:extLst>
              <a:ext uri="{FF2B5EF4-FFF2-40B4-BE49-F238E27FC236}">
                <a16:creationId xmlns:a16="http://schemas.microsoft.com/office/drawing/2014/main" id="{6FEA7B1B-E815-C823-950B-B709846392FF}"/>
              </a:ext>
            </a:extLst>
          </p:cNvPr>
          <p:cNvSpPr>
            <a:spLocks noGrp="1"/>
          </p:cNvSpPr>
          <p:nvPr>
            <p:ph type="title"/>
          </p:nvPr>
        </p:nvSpPr>
        <p:spPr>
          <a:xfrm>
            <a:off x="838200" y="559423"/>
            <a:ext cx="10515600" cy="537700"/>
          </a:xfrm>
        </p:spPr>
        <p:txBody>
          <a:bodyPr>
            <a:noAutofit/>
          </a:bodyPr>
          <a:lstStyle/>
          <a:p>
            <a:r>
              <a:rPr lang="en-GB" sz="3600" b="1" dirty="0"/>
              <a:t>References – 2/2</a:t>
            </a:r>
          </a:p>
        </p:txBody>
      </p:sp>
    </p:spTree>
    <p:extLst>
      <p:ext uri="{BB962C8B-B14F-4D97-AF65-F5344CB8AC3E}">
        <p14:creationId xmlns:p14="http://schemas.microsoft.com/office/powerpoint/2010/main" val="160849660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3048</TotalTime>
  <Words>3077</Words>
  <Application>Microsoft Office PowerPoint</Application>
  <PresentationFormat>Widescreen</PresentationFormat>
  <Paragraphs>300</Paragraphs>
  <Slides>23</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Courier New</vt:lpstr>
      <vt:lpstr>Calibri</vt:lpstr>
      <vt:lpstr>Wingdings</vt:lpstr>
      <vt:lpstr>Arial</vt:lpstr>
      <vt:lpstr>Cambria Math</vt:lpstr>
      <vt:lpstr>Office Theme</vt:lpstr>
      <vt:lpstr>PowerPoint Presentation</vt:lpstr>
      <vt:lpstr>Introduction to Genomic Large Language Models (LLMs) </vt:lpstr>
      <vt:lpstr>Genomic LLMs: Back to the ‘50s revolutions</vt:lpstr>
      <vt:lpstr>AI-Driven Natural Language Processing for Genomics</vt:lpstr>
      <vt:lpstr>AI-Driven Natural Language Processing for Genomics</vt:lpstr>
      <vt:lpstr>AI-Driven Natural Language Processing for Genomics</vt:lpstr>
      <vt:lpstr>AI-Driven Natural Language Processing for Genomics</vt:lpstr>
      <vt:lpstr>A Pivotal Shift: The Transformer </vt:lpstr>
      <vt:lpstr>PowerPoint Presentation</vt:lpstr>
      <vt:lpstr>Attention Mechanism</vt:lpstr>
      <vt:lpstr>Encoder vs Decoder</vt:lpstr>
      <vt:lpstr>Tokenisers – Introduction</vt:lpstr>
      <vt:lpstr>PowerPoint Presentation</vt:lpstr>
      <vt:lpstr>PowerPoint Presentation</vt:lpstr>
      <vt:lpstr>Large Language Models (from 2018) </vt:lpstr>
      <vt:lpstr>PowerPoint Presentation</vt:lpstr>
      <vt:lpstr>PowerPoint Presentation</vt:lpstr>
      <vt:lpstr>PowerPoint Presentation</vt:lpstr>
      <vt:lpstr>PowerPoint Presentation</vt:lpstr>
      <vt:lpstr>PowerPoint Presentation</vt:lpstr>
      <vt:lpstr>PowerPoint Presentation</vt:lpstr>
      <vt:lpstr>References – 1/2</vt:lpstr>
      <vt:lpstr>References –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Visualization  Importance and Basic Principles of Data Visualization in Scientific Research</dc:title>
  <dc:creator>Nebel, Jean-Christophe A</dc:creator>
  <cp:lastModifiedBy>Hegde, Meg</cp:lastModifiedBy>
  <cp:revision>158</cp:revision>
  <dcterms:modified xsi:type="dcterms:W3CDTF">2026-08-12T11:38:22Z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e1b534-098f-4ac8-9223-69712ddf82de_Enabled">
    <vt:lpwstr>true</vt:lpwstr>
  </property>
  <property fmtid="{D5CDD505-2E9C-101B-9397-08002B2CF9AE}" pid="3" name="MSIP_Label_55e1b534-098f-4ac8-9223-69712ddf82de_SetDate">
    <vt:lpwstr>2024-06-27T18:55:27Z</vt:lpwstr>
  </property>
  <property fmtid="{D5CDD505-2E9C-101B-9397-08002B2CF9AE}" pid="4" name="MSIP_Label_55e1b534-098f-4ac8-9223-69712ddf82de_Method">
    <vt:lpwstr>Standard</vt:lpwstr>
  </property>
  <property fmtid="{D5CDD505-2E9C-101B-9397-08002B2CF9AE}" pid="5" name="MSIP_Label_55e1b534-098f-4ac8-9223-69712ddf82de_Name">
    <vt:lpwstr>Public Document</vt:lpwstr>
  </property>
  <property fmtid="{D5CDD505-2E9C-101B-9397-08002B2CF9AE}" pid="6" name="MSIP_Label_55e1b534-098f-4ac8-9223-69712ddf82de_SiteId">
    <vt:lpwstr>c9ef029c-18cf-4016-86d3-93cf8e94ff94</vt:lpwstr>
  </property>
  <property fmtid="{D5CDD505-2E9C-101B-9397-08002B2CF9AE}" pid="7" name="MSIP_Label_55e1b534-098f-4ac8-9223-69712ddf82de_ActionId">
    <vt:lpwstr>ba672614-e9fb-42e3-b58c-bc60e1efc1cc</vt:lpwstr>
  </property>
  <property fmtid="{D5CDD505-2E9C-101B-9397-08002B2CF9AE}" pid="8" name="MSIP_Label_55e1b534-098f-4ac8-9223-69712ddf82de_ContentBits">
    <vt:lpwstr>0</vt:lpwstr>
  </property>
</Properties>
</file>