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3D79EE-130D-4D3B-802D-93205775042D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F9469CAD-76D5-43DE-BAE3-B761E39CBE1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Understand and implement genomic sequence representation using large language models, including DNA tokenisation strategies (k-</a:t>
          </a:r>
          <a:r>
            <a:rPr lang="en-GB" dirty="0" err="1"/>
            <a:t>mers</a:t>
          </a:r>
          <a:r>
            <a:rPr lang="en-GB" dirty="0"/>
            <a:t> and byte-pair encoding) and transformer architectures such as DNABERT.</a:t>
          </a:r>
          <a:endParaRPr lang="en-US" dirty="0"/>
        </a:p>
      </dgm:t>
    </dgm:pt>
    <dgm:pt modelId="{7AE28AF1-601F-404E-8717-B9ACC9147593}" type="parTrans" cxnId="{2B5542B3-25F9-4BD9-AD17-4C9040E438B2}">
      <dgm:prSet/>
      <dgm:spPr/>
      <dgm:t>
        <a:bodyPr/>
        <a:lstStyle/>
        <a:p>
          <a:endParaRPr lang="en-US"/>
        </a:p>
      </dgm:t>
    </dgm:pt>
    <dgm:pt modelId="{96BEB605-3F17-4EB8-B474-4BCC053ED563}" type="sibTrans" cxnId="{2B5542B3-25F9-4BD9-AD17-4C9040E438B2}">
      <dgm:prSet/>
      <dgm:spPr/>
      <dgm:t>
        <a:bodyPr/>
        <a:lstStyle/>
        <a:p>
          <a:endParaRPr lang="en-US"/>
        </a:p>
      </dgm:t>
    </dgm:pt>
    <dgm:pt modelId="{538936BC-E7E8-40D7-ACB2-CC85DAB4076B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dirty="0"/>
            <a:t>Develop and fine-tune genomic LLM pipelines in Python, using </a:t>
          </a:r>
          <a:r>
            <a:rPr lang="en-GB" dirty="0" err="1"/>
            <a:t>PyTorch</a:t>
          </a:r>
          <a:r>
            <a:rPr lang="en-GB" dirty="0"/>
            <a:t> and Hugging Face to preprocess data, train models, and evaluate performance on tasks such as enhancer classification and splice-site prediction.</a:t>
          </a:r>
          <a:endParaRPr lang="en-US" dirty="0"/>
        </a:p>
      </dgm:t>
    </dgm:pt>
    <dgm:pt modelId="{2CFD7D09-6F0A-4640-8E32-7D7EF805883D}" type="parTrans" cxnId="{195FFFBD-53A5-4D44-8558-D6CB40357233}">
      <dgm:prSet/>
      <dgm:spPr/>
      <dgm:t>
        <a:bodyPr/>
        <a:lstStyle/>
        <a:p>
          <a:endParaRPr lang="en-US"/>
        </a:p>
      </dgm:t>
    </dgm:pt>
    <dgm:pt modelId="{630C7684-253E-4552-A648-F4F8D528F7EF}" type="sibTrans" cxnId="{195FFFBD-53A5-4D44-8558-D6CB40357233}">
      <dgm:prSet/>
      <dgm:spPr/>
      <dgm:t>
        <a:bodyPr/>
        <a:lstStyle/>
        <a:p>
          <a:endParaRPr lang="en-US"/>
        </a:p>
      </dgm:t>
    </dgm:pt>
    <dgm:pt modelId="{73ADB11A-E19F-4E47-9000-C92EE92AA54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/>
            <a:t>Apply and integrate pretrained genomic models into real-world genomics workflows, interpreting model outputs for biological insight.</a:t>
          </a:r>
          <a:endParaRPr lang="en-US"/>
        </a:p>
      </dgm:t>
    </dgm:pt>
    <dgm:pt modelId="{EB129783-4BB7-4692-8DE9-8BC48939ADD3}" type="parTrans" cxnId="{F35CBC84-A80B-44EB-B4A0-149522E5C1C3}">
      <dgm:prSet/>
      <dgm:spPr/>
      <dgm:t>
        <a:bodyPr/>
        <a:lstStyle/>
        <a:p>
          <a:endParaRPr lang="en-US"/>
        </a:p>
      </dgm:t>
    </dgm:pt>
    <dgm:pt modelId="{7B258363-E98F-4C6E-991A-C617D170A75A}" type="sibTrans" cxnId="{F35CBC84-A80B-44EB-B4A0-149522E5C1C3}">
      <dgm:prSet/>
      <dgm:spPr/>
      <dgm:t>
        <a:bodyPr/>
        <a:lstStyle/>
        <a:p>
          <a:endParaRPr lang="en-US"/>
        </a:p>
      </dgm:t>
    </dgm:pt>
    <dgm:pt modelId="{30C75BC4-C6A3-4AB6-BDAB-C2258CA1D8B3}" type="pres">
      <dgm:prSet presAssocID="{8E3D79EE-130D-4D3B-802D-93205775042D}" presName="root" presStyleCnt="0">
        <dgm:presLayoutVars>
          <dgm:dir/>
          <dgm:resizeHandles val="exact"/>
        </dgm:presLayoutVars>
      </dgm:prSet>
      <dgm:spPr/>
    </dgm:pt>
    <dgm:pt modelId="{B8A5CB17-B5D4-4857-8BEF-06311D2BED85}" type="pres">
      <dgm:prSet presAssocID="{F9469CAD-76D5-43DE-BAE3-B761E39CBE18}" presName="compNode" presStyleCnt="0"/>
      <dgm:spPr/>
    </dgm:pt>
    <dgm:pt modelId="{B43FBF84-BD8F-444A-B510-57FF5AAAF776}" type="pres">
      <dgm:prSet presAssocID="{F9469CAD-76D5-43DE-BAE3-B761E39CBE18}" presName="bgRect" presStyleLbl="bgShp" presStyleIdx="0" presStyleCnt="3"/>
      <dgm:spPr/>
    </dgm:pt>
    <dgm:pt modelId="{D62E3253-E7BC-4DA6-9C76-0F0D0F153695}" type="pres">
      <dgm:prSet presAssocID="{F9469CAD-76D5-43DE-BAE3-B761E39CBE1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4C9F131A-E245-4A38-B616-4170627E830B}" type="pres">
      <dgm:prSet presAssocID="{F9469CAD-76D5-43DE-BAE3-B761E39CBE18}" presName="spaceRect" presStyleCnt="0"/>
      <dgm:spPr/>
    </dgm:pt>
    <dgm:pt modelId="{5CF84FF6-A6C3-487B-B078-F2E0CEA25F25}" type="pres">
      <dgm:prSet presAssocID="{F9469CAD-76D5-43DE-BAE3-B761E39CBE18}" presName="parTx" presStyleLbl="revTx" presStyleIdx="0" presStyleCnt="3">
        <dgm:presLayoutVars>
          <dgm:chMax val="0"/>
          <dgm:chPref val="0"/>
        </dgm:presLayoutVars>
      </dgm:prSet>
      <dgm:spPr/>
    </dgm:pt>
    <dgm:pt modelId="{B54F22E3-05FA-4B71-B9EA-03978FF3F69B}" type="pres">
      <dgm:prSet presAssocID="{96BEB605-3F17-4EB8-B474-4BCC053ED563}" presName="sibTrans" presStyleCnt="0"/>
      <dgm:spPr/>
    </dgm:pt>
    <dgm:pt modelId="{09749EE9-B815-4EB4-B84D-D5D09C54B155}" type="pres">
      <dgm:prSet presAssocID="{538936BC-E7E8-40D7-ACB2-CC85DAB4076B}" presName="compNode" presStyleCnt="0"/>
      <dgm:spPr/>
    </dgm:pt>
    <dgm:pt modelId="{19137FB1-3A97-4A05-ADD0-1DDBEA7F0BDB}" type="pres">
      <dgm:prSet presAssocID="{538936BC-E7E8-40D7-ACB2-CC85DAB4076B}" presName="bgRect" presStyleLbl="bgShp" presStyleIdx="1" presStyleCnt="3"/>
      <dgm:spPr/>
    </dgm:pt>
    <dgm:pt modelId="{77F9C2A9-8C4F-4764-AFD3-4BF5B7BE0559}" type="pres">
      <dgm:prSet presAssocID="{538936BC-E7E8-40D7-ACB2-CC85DAB4076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F534A2D8-4C6B-4E88-8197-C20EC6D19F83}" type="pres">
      <dgm:prSet presAssocID="{538936BC-E7E8-40D7-ACB2-CC85DAB4076B}" presName="spaceRect" presStyleCnt="0"/>
      <dgm:spPr/>
    </dgm:pt>
    <dgm:pt modelId="{81B0001D-5718-4B1C-A929-36C26C9E288D}" type="pres">
      <dgm:prSet presAssocID="{538936BC-E7E8-40D7-ACB2-CC85DAB4076B}" presName="parTx" presStyleLbl="revTx" presStyleIdx="1" presStyleCnt="3">
        <dgm:presLayoutVars>
          <dgm:chMax val="0"/>
          <dgm:chPref val="0"/>
        </dgm:presLayoutVars>
      </dgm:prSet>
      <dgm:spPr/>
    </dgm:pt>
    <dgm:pt modelId="{B3B95136-034F-45D6-A489-F3E524547675}" type="pres">
      <dgm:prSet presAssocID="{630C7684-253E-4552-A648-F4F8D528F7EF}" presName="sibTrans" presStyleCnt="0"/>
      <dgm:spPr/>
    </dgm:pt>
    <dgm:pt modelId="{4FCDE760-A069-4AC5-B7A6-D9A24867C8FF}" type="pres">
      <dgm:prSet presAssocID="{73ADB11A-E19F-4E47-9000-C92EE92AA54A}" presName="compNode" presStyleCnt="0"/>
      <dgm:spPr/>
    </dgm:pt>
    <dgm:pt modelId="{FB369883-0B89-4676-B541-94C843A3CC63}" type="pres">
      <dgm:prSet presAssocID="{73ADB11A-E19F-4E47-9000-C92EE92AA54A}" presName="bgRect" presStyleLbl="bgShp" presStyleIdx="2" presStyleCnt="3"/>
      <dgm:spPr/>
    </dgm:pt>
    <dgm:pt modelId="{0C7259B1-F7AF-48EE-80F0-5655AE3B6329}" type="pres">
      <dgm:prSet presAssocID="{73ADB11A-E19F-4E47-9000-C92EE92AA54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FBDDA16-DBEB-479E-9470-88B26BD7F65E}" type="pres">
      <dgm:prSet presAssocID="{73ADB11A-E19F-4E47-9000-C92EE92AA54A}" presName="spaceRect" presStyleCnt="0"/>
      <dgm:spPr/>
    </dgm:pt>
    <dgm:pt modelId="{A50E2680-31BC-44D4-83B9-2158A13D36B0}" type="pres">
      <dgm:prSet presAssocID="{73ADB11A-E19F-4E47-9000-C92EE92AA54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ECA1936-4B27-479B-AB83-A4586864C9CB}" type="presOf" srcId="{F9469CAD-76D5-43DE-BAE3-B761E39CBE18}" destId="{5CF84FF6-A6C3-487B-B078-F2E0CEA25F25}" srcOrd="0" destOrd="0" presId="urn:microsoft.com/office/officeart/2018/2/layout/IconVerticalSolidList"/>
    <dgm:cxn modelId="{0DB6FC7F-4550-4525-861F-3D21E20D7124}" type="presOf" srcId="{538936BC-E7E8-40D7-ACB2-CC85DAB4076B}" destId="{81B0001D-5718-4B1C-A929-36C26C9E288D}" srcOrd="0" destOrd="0" presId="urn:microsoft.com/office/officeart/2018/2/layout/IconVerticalSolidList"/>
    <dgm:cxn modelId="{91282A84-EAF6-4151-BA0D-4F171ED41855}" type="presOf" srcId="{8E3D79EE-130D-4D3B-802D-93205775042D}" destId="{30C75BC4-C6A3-4AB6-BDAB-C2258CA1D8B3}" srcOrd="0" destOrd="0" presId="urn:microsoft.com/office/officeart/2018/2/layout/IconVerticalSolidList"/>
    <dgm:cxn modelId="{F35CBC84-A80B-44EB-B4A0-149522E5C1C3}" srcId="{8E3D79EE-130D-4D3B-802D-93205775042D}" destId="{73ADB11A-E19F-4E47-9000-C92EE92AA54A}" srcOrd="2" destOrd="0" parTransId="{EB129783-4BB7-4692-8DE9-8BC48939ADD3}" sibTransId="{7B258363-E98F-4C6E-991A-C617D170A75A}"/>
    <dgm:cxn modelId="{976A8D92-64FC-45D3-8EDC-047CCEF98731}" type="presOf" srcId="{73ADB11A-E19F-4E47-9000-C92EE92AA54A}" destId="{A50E2680-31BC-44D4-83B9-2158A13D36B0}" srcOrd="0" destOrd="0" presId="urn:microsoft.com/office/officeart/2018/2/layout/IconVerticalSolidList"/>
    <dgm:cxn modelId="{2B5542B3-25F9-4BD9-AD17-4C9040E438B2}" srcId="{8E3D79EE-130D-4D3B-802D-93205775042D}" destId="{F9469CAD-76D5-43DE-BAE3-B761E39CBE18}" srcOrd="0" destOrd="0" parTransId="{7AE28AF1-601F-404E-8717-B9ACC9147593}" sibTransId="{96BEB605-3F17-4EB8-B474-4BCC053ED563}"/>
    <dgm:cxn modelId="{195FFFBD-53A5-4D44-8558-D6CB40357233}" srcId="{8E3D79EE-130D-4D3B-802D-93205775042D}" destId="{538936BC-E7E8-40D7-ACB2-CC85DAB4076B}" srcOrd="1" destOrd="0" parTransId="{2CFD7D09-6F0A-4640-8E32-7D7EF805883D}" sibTransId="{630C7684-253E-4552-A648-F4F8D528F7EF}"/>
    <dgm:cxn modelId="{E2DE49E6-C69F-4960-A7A0-2F22D466C949}" type="presParOf" srcId="{30C75BC4-C6A3-4AB6-BDAB-C2258CA1D8B3}" destId="{B8A5CB17-B5D4-4857-8BEF-06311D2BED85}" srcOrd="0" destOrd="0" presId="urn:microsoft.com/office/officeart/2018/2/layout/IconVerticalSolidList"/>
    <dgm:cxn modelId="{C7171964-84BE-478D-926E-71CC4DF27DE0}" type="presParOf" srcId="{B8A5CB17-B5D4-4857-8BEF-06311D2BED85}" destId="{B43FBF84-BD8F-444A-B510-57FF5AAAF776}" srcOrd="0" destOrd="0" presId="urn:microsoft.com/office/officeart/2018/2/layout/IconVerticalSolidList"/>
    <dgm:cxn modelId="{A63D52F2-AFEA-4478-98B9-CD7BDB374B1F}" type="presParOf" srcId="{B8A5CB17-B5D4-4857-8BEF-06311D2BED85}" destId="{D62E3253-E7BC-4DA6-9C76-0F0D0F153695}" srcOrd="1" destOrd="0" presId="urn:microsoft.com/office/officeart/2018/2/layout/IconVerticalSolidList"/>
    <dgm:cxn modelId="{59A9B092-FE27-4319-8BA5-FD3F1BEC9C8D}" type="presParOf" srcId="{B8A5CB17-B5D4-4857-8BEF-06311D2BED85}" destId="{4C9F131A-E245-4A38-B616-4170627E830B}" srcOrd="2" destOrd="0" presId="urn:microsoft.com/office/officeart/2018/2/layout/IconVerticalSolidList"/>
    <dgm:cxn modelId="{F0F719A4-65AD-4B6A-98C9-0471A1C8E1FB}" type="presParOf" srcId="{B8A5CB17-B5D4-4857-8BEF-06311D2BED85}" destId="{5CF84FF6-A6C3-487B-B078-F2E0CEA25F25}" srcOrd="3" destOrd="0" presId="urn:microsoft.com/office/officeart/2018/2/layout/IconVerticalSolidList"/>
    <dgm:cxn modelId="{ED7C6CF2-647F-4859-AC38-2D5E2D8281FA}" type="presParOf" srcId="{30C75BC4-C6A3-4AB6-BDAB-C2258CA1D8B3}" destId="{B54F22E3-05FA-4B71-B9EA-03978FF3F69B}" srcOrd="1" destOrd="0" presId="urn:microsoft.com/office/officeart/2018/2/layout/IconVerticalSolidList"/>
    <dgm:cxn modelId="{0E70FF7A-A285-45E9-94A8-E581DCB86EB3}" type="presParOf" srcId="{30C75BC4-C6A3-4AB6-BDAB-C2258CA1D8B3}" destId="{09749EE9-B815-4EB4-B84D-D5D09C54B155}" srcOrd="2" destOrd="0" presId="urn:microsoft.com/office/officeart/2018/2/layout/IconVerticalSolidList"/>
    <dgm:cxn modelId="{76BAA7FC-6850-4C77-B771-EC81BF8F43B5}" type="presParOf" srcId="{09749EE9-B815-4EB4-B84D-D5D09C54B155}" destId="{19137FB1-3A97-4A05-ADD0-1DDBEA7F0BDB}" srcOrd="0" destOrd="0" presId="urn:microsoft.com/office/officeart/2018/2/layout/IconVerticalSolidList"/>
    <dgm:cxn modelId="{43CF58ED-F210-433D-8B14-2F3D5B582940}" type="presParOf" srcId="{09749EE9-B815-4EB4-B84D-D5D09C54B155}" destId="{77F9C2A9-8C4F-4764-AFD3-4BF5B7BE0559}" srcOrd="1" destOrd="0" presId="urn:microsoft.com/office/officeart/2018/2/layout/IconVerticalSolidList"/>
    <dgm:cxn modelId="{D8944E31-E3DC-4558-B6F8-07F88EA296B8}" type="presParOf" srcId="{09749EE9-B815-4EB4-B84D-D5D09C54B155}" destId="{F534A2D8-4C6B-4E88-8197-C20EC6D19F83}" srcOrd="2" destOrd="0" presId="urn:microsoft.com/office/officeart/2018/2/layout/IconVerticalSolidList"/>
    <dgm:cxn modelId="{F7DC0689-5F54-42F9-B74E-BB029440985C}" type="presParOf" srcId="{09749EE9-B815-4EB4-B84D-D5D09C54B155}" destId="{81B0001D-5718-4B1C-A929-36C26C9E288D}" srcOrd="3" destOrd="0" presId="urn:microsoft.com/office/officeart/2018/2/layout/IconVerticalSolidList"/>
    <dgm:cxn modelId="{C9E74082-2C0F-482B-8F19-40A50C74C427}" type="presParOf" srcId="{30C75BC4-C6A3-4AB6-BDAB-C2258CA1D8B3}" destId="{B3B95136-034F-45D6-A489-F3E524547675}" srcOrd="3" destOrd="0" presId="urn:microsoft.com/office/officeart/2018/2/layout/IconVerticalSolidList"/>
    <dgm:cxn modelId="{1A686893-234D-4198-A07E-1700EA1AC220}" type="presParOf" srcId="{30C75BC4-C6A3-4AB6-BDAB-C2258CA1D8B3}" destId="{4FCDE760-A069-4AC5-B7A6-D9A24867C8FF}" srcOrd="4" destOrd="0" presId="urn:microsoft.com/office/officeart/2018/2/layout/IconVerticalSolidList"/>
    <dgm:cxn modelId="{DE3B8BBD-9435-43A4-9F92-E647DC0F4C86}" type="presParOf" srcId="{4FCDE760-A069-4AC5-B7A6-D9A24867C8FF}" destId="{FB369883-0B89-4676-B541-94C843A3CC63}" srcOrd="0" destOrd="0" presId="urn:microsoft.com/office/officeart/2018/2/layout/IconVerticalSolidList"/>
    <dgm:cxn modelId="{9844125C-DD81-4BCF-BB4C-4381F303D3F8}" type="presParOf" srcId="{4FCDE760-A069-4AC5-B7A6-D9A24867C8FF}" destId="{0C7259B1-F7AF-48EE-80F0-5655AE3B6329}" srcOrd="1" destOrd="0" presId="urn:microsoft.com/office/officeart/2018/2/layout/IconVerticalSolidList"/>
    <dgm:cxn modelId="{5078981E-DBF1-4433-B927-04BC4C64D034}" type="presParOf" srcId="{4FCDE760-A069-4AC5-B7A6-D9A24867C8FF}" destId="{9FBDDA16-DBEB-479E-9470-88B26BD7F65E}" srcOrd="2" destOrd="0" presId="urn:microsoft.com/office/officeart/2018/2/layout/IconVerticalSolidList"/>
    <dgm:cxn modelId="{0D9649A8-5B7A-4F49-83F6-E510E440536C}" type="presParOf" srcId="{4FCDE760-A069-4AC5-B7A6-D9A24867C8FF}" destId="{A50E2680-31BC-44D4-83B9-2158A13D36B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3FBF84-BD8F-444A-B510-57FF5AAAF776}">
      <dsp:nvSpPr>
        <dsp:cNvPr id="0" name=""/>
        <dsp:cNvSpPr/>
      </dsp:nvSpPr>
      <dsp:spPr>
        <a:xfrm>
          <a:off x="0" y="531"/>
          <a:ext cx="10515600" cy="124293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2E3253-E7BC-4DA6-9C76-0F0D0F153695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F84FF6-A6C3-487B-B078-F2E0CEA25F25}">
      <dsp:nvSpPr>
        <dsp:cNvPr id="0" name=""/>
        <dsp:cNvSpPr/>
      </dsp:nvSpPr>
      <dsp:spPr>
        <a:xfrm>
          <a:off x="1435590" y="53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Understand and implement genomic sequence representation using large language models, including DNA tokenisation strategies (k-</a:t>
          </a:r>
          <a:r>
            <a:rPr lang="en-GB" sz="2100" kern="1200" dirty="0" err="1"/>
            <a:t>mers</a:t>
          </a:r>
          <a:r>
            <a:rPr lang="en-GB" sz="2100" kern="1200" dirty="0"/>
            <a:t> and byte-pair encoding) and transformer architectures such as DNABERT.</a:t>
          </a:r>
          <a:endParaRPr lang="en-US" sz="2100" kern="1200" dirty="0"/>
        </a:p>
      </dsp:txBody>
      <dsp:txXfrm>
        <a:off x="1435590" y="531"/>
        <a:ext cx="9080009" cy="1242935"/>
      </dsp:txXfrm>
    </dsp:sp>
    <dsp:sp modelId="{19137FB1-3A97-4A05-ADD0-1DDBEA7F0BDB}">
      <dsp:nvSpPr>
        <dsp:cNvPr id="0" name=""/>
        <dsp:cNvSpPr/>
      </dsp:nvSpPr>
      <dsp:spPr>
        <a:xfrm>
          <a:off x="0" y="1554201"/>
          <a:ext cx="10515600" cy="124293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F9C2A9-8C4F-4764-AFD3-4BF5B7BE0559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B0001D-5718-4B1C-A929-36C26C9E288D}">
      <dsp:nvSpPr>
        <dsp:cNvPr id="0" name=""/>
        <dsp:cNvSpPr/>
      </dsp:nvSpPr>
      <dsp:spPr>
        <a:xfrm>
          <a:off x="1435590" y="1554201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 dirty="0"/>
            <a:t>Develop and fine-tune genomic LLM pipelines in Python, using </a:t>
          </a:r>
          <a:r>
            <a:rPr lang="en-GB" sz="2100" kern="1200" dirty="0" err="1"/>
            <a:t>PyTorch</a:t>
          </a:r>
          <a:r>
            <a:rPr lang="en-GB" sz="2100" kern="1200" dirty="0"/>
            <a:t> and Hugging Face to preprocess data, train models, and evaluate performance on tasks such as enhancer classification and splice-site prediction.</a:t>
          </a:r>
          <a:endParaRPr lang="en-US" sz="2100" kern="1200" dirty="0"/>
        </a:p>
      </dsp:txBody>
      <dsp:txXfrm>
        <a:off x="1435590" y="1554201"/>
        <a:ext cx="9080009" cy="1242935"/>
      </dsp:txXfrm>
    </dsp:sp>
    <dsp:sp modelId="{FB369883-0B89-4676-B541-94C843A3CC63}">
      <dsp:nvSpPr>
        <dsp:cNvPr id="0" name=""/>
        <dsp:cNvSpPr/>
      </dsp:nvSpPr>
      <dsp:spPr>
        <a:xfrm>
          <a:off x="0" y="3107870"/>
          <a:ext cx="10515600" cy="1242935"/>
        </a:xfrm>
        <a:prstGeom prst="roundRect">
          <a:avLst>
            <a:gd name="adj" fmla="val 10000"/>
          </a:avLst>
        </a:prstGeom>
        <a:solidFill>
          <a:schemeClr val="accent5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C7259B1-F7AF-48EE-80F0-5655AE3B6329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0E2680-31BC-44D4-83B9-2158A13D36B0}">
      <dsp:nvSpPr>
        <dsp:cNvPr id="0" name=""/>
        <dsp:cNvSpPr/>
      </dsp:nvSpPr>
      <dsp:spPr>
        <a:xfrm>
          <a:off x="1435590" y="3107870"/>
          <a:ext cx="9080009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100" kern="1200"/>
            <a:t>Apply and integrate pretrained genomic models into real-world genomics workflows, interpreting model outputs for biological insight.</a:t>
          </a:r>
          <a:endParaRPr lang="en-US" sz="2100" kern="1200"/>
        </a:p>
      </dsp:txBody>
      <dsp:txXfrm>
        <a:off x="1435590" y="3107870"/>
        <a:ext cx="9080009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DDDAC-7A88-6F20-29D6-6E3F219366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F549F6-8C3F-9565-FC60-78B60F9E6D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17389A-711B-64F8-757D-E454988E0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23B1E-DCD0-86A0-229C-507C5C6F9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4799B-B964-5A4F-AED4-476226BFE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458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18700-2E9D-5348-B8F2-64D8A27A1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12EEEF-128E-E47C-976F-242D7DAB19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79332-B080-0F24-D54A-D41B3204B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732729-3E68-2D93-C59F-920A64AD7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9A5E1-2315-E391-CCA4-B6C1246E1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807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B188B-AE46-C9EE-C0F0-9B8BAA613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25140-479E-72BE-C9B6-84816425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577BF-8F21-963E-820D-D1CE7A8CC4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E5424-3123-1089-CE74-0E6B246615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C1BA2-4BF6-AC38-D75F-D2A0FD3C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03570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FB4A8-0B1B-248C-1749-A551EB100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2D193-B0D1-64A3-6953-1007089C33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5B3476-0AB4-A2BF-FCDE-6862AABD3E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D7684-62EE-E8CC-0DB7-A2C037389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9B7A9F-0B8B-3B06-04C5-F919C49DB5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754BDD-DB11-87ED-0B6F-F4A0D9816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1367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4B9BD-324D-DE60-0F10-FC1A156AA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DDD2E4-44F5-037A-83CD-E6B12530F9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073081-6310-6A9A-AB05-46556E2375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241AEF-E335-FABC-5655-3E23612982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31C1F-E51D-36C9-8501-96E1EEFF1B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D3F2B8-E552-A0BB-39F8-B16D9945E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2FEDF3-6B4B-8BE7-6D11-27E8B9807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9048AD-BDF8-29CD-B8A6-6C3075C5F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6543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0700C-29A7-A3EC-8C87-B0A289FF8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F428B4-1AB1-AFB8-9AA1-078E35663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F5CF8-B982-965D-936E-8790F397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ED6ECC-EB52-13BC-EA06-96E8D6FD9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46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BF0920-B645-CBBA-2718-B08596FE9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800D23-53DA-3A7B-287F-3E5843D69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3C5996-05FC-3294-5D46-B8293445C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2682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EE3AC-8AFC-D024-957B-3B58F20A2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214CF-86F8-73AF-5199-100EA8F2F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EB353A-B704-5DFC-80D8-2A1542AC1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A11D40-62E9-DAEC-6D9E-1F762D94B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7C18B-857E-A609-CA2D-498B1BEF7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09F8BD-0406-4B4C-1807-0ACF2AA4C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018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18C0-FCE0-3A10-95E3-283C91B7F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16CE0-C3DB-555C-2305-017E6042D0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4ABCDE-9C4B-2993-7581-1B875DA0B5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8C9496-904F-B1A3-5F14-C8A4010B7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2E041B-F830-65CF-C30A-5BFEF9A64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E4640-FC24-9F73-872A-80E140C86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3272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6EAF-35C2-54DD-F448-B3B0260A5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52291A-1F5F-1618-AF99-F34A57550D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CB963-B2F5-FEB8-A8F4-725109152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BB908-736B-0256-2F23-7B5D1A86B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2A39C4-264B-E92C-EFB3-1315F1334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8740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B9C67B-8B99-856E-46BD-54E2C81BE1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09CEC6-F515-62D6-19EA-010CA8F66C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FA359F-7CF7-5DE1-5AD6-03325039B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4633C8-6A32-DBCA-B9EF-79B6DAA95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423B71-57A4-4DF7-A602-BAD142972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8131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C6FE0D-CFE1-2DCE-AE39-25BFA5645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968F0-3A49-D782-EBCF-9AB8C5678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606A4-B606-2ADC-2D73-A8B78A16A7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C967C3-1CAE-4864-A85B-DBC857217F97}" type="datetimeFigureOut">
              <a:rPr lang="en-GB" smtClean="0"/>
              <a:t>30/07/2026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A9C64A-FAC4-DE16-FCB9-218C5F515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8F978-9102-8F15-0205-F1C0CAAEB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A79BB6-0554-4A34-BE2F-47725C0E775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8292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C42F0-7756-C30F-C201-E1E79CC0FA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BA7BA4-4AB1-F348-1B1C-DE2140C274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1D9940-9971-6A5B-22D6-5F92DF6B1D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368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FA5B-3DC1-680D-0618-F03A890789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Aims &amp; Learning Outcomes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9891EF-EE1E-CE27-1224-D7EA32496C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5210666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05788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24EBF-5D9C-7900-71A7-2DB9B7D39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Schedule</a:t>
            </a:r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096C4B4C-9C04-A43C-CAEB-6E88344A30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11200738"/>
              </p:ext>
            </p:extLst>
          </p:nvPr>
        </p:nvGraphicFramePr>
        <p:xfrm>
          <a:off x="838200" y="1859118"/>
          <a:ext cx="10515600" cy="3932084"/>
        </p:xfrm>
        <a:graphic>
          <a:graphicData uri="http://schemas.openxmlformats.org/drawingml/2006/table">
            <a:tbl>
              <a:tblPr bandRow="1"/>
              <a:tblGrid>
                <a:gridCol w="1532369">
                  <a:extLst>
                    <a:ext uri="{9D8B030D-6E8A-4147-A177-3AD203B41FA5}">
                      <a16:colId xmlns:a16="http://schemas.microsoft.com/office/drawing/2014/main" val="4043372671"/>
                    </a:ext>
                  </a:extLst>
                </a:gridCol>
                <a:gridCol w="1634849">
                  <a:extLst>
                    <a:ext uri="{9D8B030D-6E8A-4147-A177-3AD203B41FA5}">
                      <a16:colId xmlns:a16="http://schemas.microsoft.com/office/drawing/2014/main" val="2684242954"/>
                    </a:ext>
                  </a:extLst>
                </a:gridCol>
                <a:gridCol w="7348382">
                  <a:extLst>
                    <a:ext uri="{9D8B030D-6E8A-4147-A177-3AD203B41FA5}">
                      <a16:colId xmlns:a16="http://schemas.microsoft.com/office/drawing/2014/main" val="2968581834"/>
                    </a:ext>
                  </a:extLst>
                </a:gridCol>
              </a:tblGrid>
              <a:tr h="30246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Time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Session Type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b="1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Session Title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832296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09:00-10:00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Lecture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Introduction to Genomic LLMs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9501464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10:00-10:30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Guided Hands-On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Introduction to Hugging Face for Genomic LLMs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147873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10:30-10:45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Coffee Break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5014193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10:45-11:15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Lecture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Training Genomic LLMs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8187860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11:15-12:45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Guided Hands-On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Training Genomic LLMs Using PyTorch and the Hugging Face Trainer API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5687396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12:45-13:45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Lunch Break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8956598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13:45-14:15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Guided Hands-On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Training Genomic LLMs Using PyTorch and the Hugging Face Trainer API (contd.)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958346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14:15-14:30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Briefing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Introduction to Workshop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287693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14:30-15:15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Workshop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Workshop: Try It Yourself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6903252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15:15-15:30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Coffee Break</a:t>
                      </a: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E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306915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15:30-17:15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Workshop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Workshop: Try It Yourself (contd.)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387865"/>
                  </a:ext>
                </a:extLst>
              </a:tr>
              <a:tr h="30246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17:15-17:30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Discussion</a:t>
                      </a:r>
                      <a:endParaRPr lang="en-GB" sz="1400" kern="10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400" kern="100" dirty="0">
                          <a:effectLst/>
                          <a:latin typeface="+mj-lt"/>
                          <a:ea typeface="Arial" panose="020B0604020202020204" pitchFamily="34" charset="0"/>
                          <a:cs typeface="Aptos" panose="020B0004020202020204" pitchFamily="34" charset="0"/>
                        </a:rPr>
                        <a:t>Recap &amp; Reflection</a:t>
                      </a:r>
                      <a:endParaRPr lang="en-GB" sz="1400" kern="100" dirty="0">
                        <a:effectLst/>
                        <a:latin typeface="+mj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65517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970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178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Aims &amp; Learning Outcomes</vt:lpstr>
      <vt:lpstr>Schedule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Megha Hegde</dc:creator>
  <cp:lastModifiedBy>Megha Hegde</cp:lastModifiedBy>
  <cp:revision>12</cp:revision>
  <dcterms:created xsi:type="dcterms:W3CDTF">2026-07-28T19:27:12Z</dcterms:created>
  <dcterms:modified xsi:type="dcterms:W3CDTF">2026-07-30T18:50:02Z</dcterms:modified>
</cp:coreProperties>
</file>