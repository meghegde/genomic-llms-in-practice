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lay"/>
      <p:regular r:id="rId10"/>
      <p:bold r:id="rId1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jSMkdWFPi17dnPbN3E8yCeUCpN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88FA889-ED93-40E5-B48F-B1664BA1D7E6}">
  <a:tblStyle styleId="{588FA889-ED93-40E5-B48F-B1664BA1D7E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Play-bold.fntdata"/><Relationship Id="rId10" Type="http://schemas.openxmlformats.org/officeDocument/2006/relationships/font" Target="fonts/Play-regular.fntdata"/><Relationship Id="rId12" Type="http://customschemas.google.com/relationships/presentationmetadata" Target="meta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f9ea8b6831_0_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g3f9ea8b68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9ea8b6831_0_10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2" name="Google Shape;82;g3f9ea8b6831_0_108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175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83" name="Google Shape;83;g3f9ea8b6831_0_108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b="0" i="0" sz="4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4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9.png"/><Relationship Id="rId10" Type="http://schemas.openxmlformats.org/officeDocument/2006/relationships/image" Target="../media/image12.png"/><Relationship Id="rId13" Type="http://schemas.openxmlformats.org/officeDocument/2006/relationships/image" Target="../media/image11.png"/><Relationship Id="rId12" Type="http://schemas.openxmlformats.org/officeDocument/2006/relationships/image" Target="../media/image8.png"/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7.jpg"/><Relationship Id="rId9" Type="http://schemas.openxmlformats.org/officeDocument/2006/relationships/image" Target="../media/image10.png"/><Relationship Id="rId5" Type="http://schemas.openxmlformats.org/officeDocument/2006/relationships/image" Target="../media/image3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t/>
            </a:r>
            <a:endParaRPr/>
          </a:p>
        </p:txBody>
      </p:sp>
      <p:sp>
        <p:nvSpPr>
          <p:cNvPr id="89" name="Google Shape;89;p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t/>
            </a:r>
            <a:endParaRPr/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f9ea8b6831_0_11"/>
          <p:cNvSpPr txBox="1"/>
          <p:nvPr>
            <p:ph type="title"/>
          </p:nvPr>
        </p:nvSpPr>
        <p:spPr>
          <a:xfrm>
            <a:off x="415650" y="3370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990"/>
              <a:buFont typeface="Calibri"/>
              <a:buNone/>
            </a:pPr>
            <a:r>
              <a:rPr b="1" lang="en-GB" sz="3759">
                <a:solidFill>
                  <a:srgbClr val="38761D"/>
                </a:solidFill>
              </a:rPr>
              <a:t>Organizing team </a:t>
            </a:r>
            <a:endParaRPr b="1" sz="3759">
              <a:solidFill>
                <a:srgbClr val="38761D"/>
              </a:solidFill>
            </a:endParaRPr>
          </a:p>
        </p:txBody>
      </p:sp>
      <p:sp>
        <p:nvSpPr>
          <p:cNvPr id="96" name="Google Shape;96;g3f9ea8b6831_0_11"/>
          <p:cNvSpPr txBox="1"/>
          <p:nvPr/>
        </p:nvSpPr>
        <p:spPr>
          <a:xfrm>
            <a:off x="6433343" y="1250075"/>
            <a:ext cx="3081900" cy="19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Jean-Christophe A Nebel, Ph.D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Professor of Computer Science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Director of Research &amp; Enterprise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School of Computer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 Science and Mathematics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Kingston University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London</a:t>
            </a:r>
            <a:endParaRPr/>
          </a:p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8761D"/>
              </a:buClr>
              <a:buSzPts val="990"/>
              <a:buFont typeface="Calibri"/>
              <a:buNone/>
            </a:pPr>
            <a:r>
              <a:rPr lang="en-GB"/>
              <a:t>UK</a:t>
            </a:r>
            <a:endParaRPr b="1" sz="3759">
              <a:solidFill>
                <a:srgbClr val="38761D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97" name="Google Shape;97;g3f9ea8b6831_0_11"/>
          <p:cNvSpPr txBox="1"/>
          <p:nvPr/>
        </p:nvSpPr>
        <p:spPr>
          <a:xfrm>
            <a:off x="6378093" y="4257319"/>
            <a:ext cx="2578200" cy="16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Megha (Meg) Hegde</a:t>
            </a:r>
            <a:br>
              <a:rPr lang="en-GB"/>
            </a:br>
            <a:r>
              <a:rPr lang="en-GB"/>
              <a:t>PhD Researcher</a:t>
            </a:r>
            <a:br>
              <a:rPr lang="en-GB"/>
            </a:br>
            <a:r>
              <a:rPr lang="en-GB"/>
              <a:t>Faculty of ECE</a:t>
            </a:r>
            <a:br>
              <a:rPr lang="en-GB"/>
            </a:br>
            <a:r>
              <a:rPr lang="en-GB"/>
              <a:t>Kingston University London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UK</a:t>
            </a:r>
            <a:endParaRPr b="0" i="0" sz="12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98" name="Google Shape;98;g3f9ea8b6831_0_11"/>
          <p:cNvPicPr preferRelativeResize="0"/>
          <p:nvPr/>
        </p:nvPicPr>
        <p:blipFill rotWithShape="1">
          <a:blip r:embed="rId3">
            <a:alphaModFix/>
          </a:blip>
          <a:srcRect b="0" l="27499" r="-25117" t="1565"/>
          <a:stretch/>
        </p:blipFill>
        <p:spPr>
          <a:xfrm>
            <a:off x="420477" y="4396964"/>
            <a:ext cx="2357230" cy="170177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g3f9ea8b6831_0_11"/>
          <p:cNvSpPr txBox="1"/>
          <p:nvPr/>
        </p:nvSpPr>
        <p:spPr>
          <a:xfrm>
            <a:off x="2145344" y="4322683"/>
            <a:ext cx="3654000" cy="24426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Farzana Rahman, Ph.D.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Assistant Professor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Applied Computer Science </a:t>
            </a:r>
            <a:br>
              <a:rPr lang="en-GB"/>
            </a:br>
            <a:r>
              <a:rPr lang="en-GB"/>
              <a:t>(Data Science)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Faculty of ECE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Kingston University London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UK</a:t>
            </a:r>
            <a:endParaRPr b="0" i="0" sz="12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00" name="Google Shape;100;g3f9ea8b6831_0_11"/>
          <p:cNvSpPr txBox="1"/>
          <p:nvPr>
            <p:ph idx="12" type="sldNum"/>
          </p:nvPr>
        </p:nvSpPr>
        <p:spPr>
          <a:xfrm>
            <a:off x="11296611" y="6217623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01" name="Google Shape;101;g3f9ea8b6831_0_11"/>
          <p:cNvSpPr/>
          <p:nvPr/>
        </p:nvSpPr>
        <p:spPr>
          <a:xfrm>
            <a:off x="4647824" y="1244167"/>
            <a:ext cx="1708800" cy="190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f9ea8b6831_0_11"/>
          <p:cNvSpPr/>
          <p:nvPr/>
        </p:nvSpPr>
        <p:spPr>
          <a:xfrm>
            <a:off x="8761832" y="4285310"/>
            <a:ext cx="1701300" cy="190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g3f9ea8b6831_0_11"/>
          <p:cNvSpPr txBox="1"/>
          <p:nvPr/>
        </p:nvSpPr>
        <p:spPr>
          <a:xfrm>
            <a:off x="10514853" y="4257319"/>
            <a:ext cx="1678500" cy="31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Shashank Ravichandran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Senior Software Engineer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Incedo Technology Solutions Ltd.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GB"/>
              <a:t>India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dk1"/>
              </a:solidFill>
              <a:highlight>
                <a:schemeClr val="lt1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g3f9ea8b6831_0_11"/>
          <p:cNvSpPr/>
          <p:nvPr/>
        </p:nvSpPr>
        <p:spPr>
          <a:xfrm>
            <a:off x="402000" y="1311914"/>
            <a:ext cx="1701300" cy="1901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DSC_0147-c" id="105" name="Google Shape;105;g3f9ea8b6831_0_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261" y="1298764"/>
            <a:ext cx="1758112" cy="1914655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3f9ea8b6831_0_11"/>
          <p:cNvSpPr txBox="1"/>
          <p:nvPr/>
        </p:nvSpPr>
        <p:spPr>
          <a:xfrm>
            <a:off x="2142377" y="1288975"/>
            <a:ext cx="2578200" cy="2001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Ragothaman M. Yennamalli, Ph.D.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Associate  Professor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School of Computational and Integrative Sciences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Jawaharlal Nehru University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India</a:t>
            </a:r>
            <a:endParaRPr/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sz="1600">
              <a:solidFill>
                <a:schemeClr val="dk1"/>
              </a:solidFill>
              <a:highlight>
                <a:srgbClr val="FFFFFF"/>
              </a:highlight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descr="A person sitting at a table with a bowl of food&#10;&#10;Description automatically generated" id="107" name="Google Shape;107;g3f9ea8b6831_0_11"/>
          <p:cNvPicPr preferRelativeResize="0"/>
          <p:nvPr/>
        </p:nvPicPr>
        <p:blipFill rotWithShape="1">
          <a:blip r:embed="rId5">
            <a:alphaModFix/>
          </a:blip>
          <a:srcRect b="43053" l="13299" r="19397" t="5736"/>
          <a:stretch/>
        </p:blipFill>
        <p:spPr>
          <a:xfrm>
            <a:off x="4589882" y="4323384"/>
            <a:ext cx="1749940" cy="1775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erson in a suit and tie smiling&#10;&#10;Description automatically generated" id="108" name="Google Shape;108;g3f9ea8b6831_0_11"/>
          <p:cNvPicPr preferRelativeResize="0"/>
          <p:nvPr/>
        </p:nvPicPr>
        <p:blipFill rotWithShape="1">
          <a:blip r:embed="rId6">
            <a:alphaModFix/>
          </a:blip>
          <a:srcRect b="24145" l="0" r="0" t="0"/>
          <a:stretch/>
        </p:blipFill>
        <p:spPr>
          <a:xfrm>
            <a:off x="4606950" y="1231400"/>
            <a:ext cx="1826400" cy="205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g3f9ea8b6831_0_11"/>
          <p:cNvPicPr preferRelativeResize="0"/>
          <p:nvPr/>
        </p:nvPicPr>
        <p:blipFill rotWithShape="1">
          <a:blip r:embed="rId7">
            <a:alphaModFix/>
          </a:blip>
          <a:srcRect b="36673" l="0" r="11598" t="0"/>
          <a:stretch/>
        </p:blipFill>
        <p:spPr>
          <a:xfrm>
            <a:off x="8756720" y="4283396"/>
            <a:ext cx="1758123" cy="1889603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10" name="Google Shape;110;g3f9ea8b6831_0_11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0174043" y="-8"/>
            <a:ext cx="2019300" cy="1133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g3f9ea8b6831_0_11" title="Screenshot 2026-09-02 at 17.42.40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580847" y="2673887"/>
            <a:ext cx="522454" cy="524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g3f9ea8b6831_0_11" title="Screenshot 2026-09-02 at 17.47.06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910895" y="2759873"/>
            <a:ext cx="522451" cy="5300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g3f9ea8b6831_0_11" title="Screenshot 2026-09-02 at 17.49.27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1669220" y="5576080"/>
            <a:ext cx="522451" cy="5198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g3f9ea8b6831_0_11" title="Screenshot 2026-09-02 at 18.01.38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817375" y="5572233"/>
            <a:ext cx="522451" cy="52371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g3f9ea8b6831_0_11" title="Screenshot 2026-09-02 at 18.05.08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901883" y="5590912"/>
            <a:ext cx="612966" cy="614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Aims &amp; Learning Outcomes</a:t>
            </a:r>
            <a:endParaRPr/>
          </a:p>
        </p:txBody>
      </p:sp>
      <p:grpSp>
        <p:nvGrpSpPr>
          <p:cNvPr id="121" name="Google Shape;121;p2"/>
          <p:cNvGrpSpPr/>
          <p:nvPr/>
        </p:nvGrpSpPr>
        <p:grpSpPr>
          <a:xfrm>
            <a:off x="838200" y="1826156"/>
            <a:ext cx="10515600" cy="4350274"/>
            <a:chOff x="0" y="531"/>
            <a:chExt cx="10515600" cy="4350274"/>
          </a:xfrm>
        </p:grpSpPr>
        <p:sp>
          <p:nvSpPr>
            <p:cNvPr id="122" name="Google Shape;122;p2"/>
            <p:cNvSpPr/>
            <p:nvPr/>
          </p:nvSpPr>
          <p:spPr>
            <a:xfrm>
              <a:off x="0" y="531"/>
              <a:ext cx="10515600" cy="1242935"/>
            </a:xfrm>
            <a:prstGeom prst="roundRect">
              <a:avLst>
                <a:gd fmla="val 10000" name="adj"/>
              </a:avLst>
            </a:prstGeom>
            <a:solidFill>
              <a:srgbClr val="DCCBD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375988" y="280191"/>
              <a:ext cx="683614" cy="683614"/>
            </a:xfrm>
            <a:prstGeom prst="rect">
              <a:avLst/>
            </a:prstGeom>
            <a:noFill/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1435590" y="531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 txBox="1"/>
            <p:nvPr/>
          </p:nvSpPr>
          <p:spPr>
            <a:xfrm>
              <a:off x="1435590" y="531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31525" lIns="131525" spcFirstLastPara="1" rIns="131525" wrap="square" tIns="1315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b="0" i="0" lang="en-GB" sz="2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Understand and implement genomic sequence representation using large language models, including DNA tokenisation strategies (k-mers and byte-pair encoding) and transformer architectures such as DNABERT.</a:t>
              </a:r>
              <a:endPara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0" y="1554201"/>
              <a:ext cx="10515600" cy="1242935"/>
            </a:xfrm>
            <a:prstGeom prst="roundRect">
              <a:avLst>
                <a:gd fmla="val 10000" name="adj"/>
              </a:avLst>
            </a:prstGeom>
            <a:solidFill>
              <a:srgbClr val="DCCBD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375988" y="1833861"/>
              <a:ext cx="683614" cy="683614"/>
            </a:xfrm>
            <a:prstGeom prst="rect">
              <a:avLst/>
            </a:prstGeom>
            <a:noFill/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"/>
            <p:cNvSpPr/>
            <p:nvPr/>
          </p:nvSpPr>
          <p:spPr>
            <a:xfrm>
              <a:off x="1435590" y="1554201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2"/>
            <p:cNvSpPr txBox="1"/>
            <p:nvPr/>
          </p:nvSpPr>
          <p:spPr>
            <a:xfrm>
              <a:off x="1435590" y="1554201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31525" lIns="131525" spcFirstLastPara="1" rIns="131525" wrap="square" tIns="1315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b="0" i="0" lang="en-GB" sz="2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Develop and fine-tune genomic LLM pipelines in Python, using PyTorch and Hugging Face to preprocess data, train models, and evaluate performance on tasks such as enhancer classification and splice-site prediction.</a:t>
              </a:r>
              <a:endPara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2"/>
            <p:cNvSpPr/>
            <p:nvPr/>
          </p:nvSpPr>
          <p:spPr>
            <a:xfrm>
              <a:off x="0" y="3107870"/>
              <a:ext cx="10515600" cy="1242935"/>
            </a:xfrm>
            <a:prstGeom prst="roundRect">
              <a:avLst>
                <a:gd fmla="val 10000" name="adj"/>
              </a:avLst>
            </a:prstGeom>
            <a:solidFill>
              <a:srgbClr val="DCCBD8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1" name="Google Shape;131;p2"/>
            <p:cNvSpPr/>
            <p:nvPr/>
          </p:nvSpPr>
          <p:spPr>
            <a:xfrm>
              <a:off x="375988" y="3387531"/>
              <a:ext cx="683614" cy="683614"/>
            </a:xfrm>
            <a:prstGeom prst="rect">
              <a:avLst/>
            </a:prstGeom>
            <a:noFill/>
            <a:ln cap="flat" cmpd="sng" w="19050">
              <a:solidFill>
                <a:schemeClr val="lt1"/>
              </a:solidFill>
              <a:prstDash val="solid"/>
              <a:miter lim="8000"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2" name="Google Shape;132;p2"/>
            <p:cNvSpPr/>
            <p:nvPr/>
          </p:nvSpPr>
          <p:spPr>
            <a:xfrm>
              <a:off x="1435590" y="3107870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3" name="Google Shape;133;p2"/>
            <p:cNvSpPr txBox="1"/>
            <p:nvPr/>
          </p:nvSpPr>
          <p:spPr>
            <a:xfrm>
              <a:off x="1435590" y="3107870"/>
              <a:ext cx="9080009" cy="124293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131525" lIns="131525" spcFirstLastPara="1" rIns="131525" wrap="square" tIns="1315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2100"/>
                <a:buFont typeface="Arial"/>
                <a:buNone/>
              </a:pPr>
              <a:r>
                <a:rPr b="0" i="0" lang="en-GB" sz="2100" u="none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Apply and integrate pretrained genomic models into real-world genomics workflows, interpreting model outputs for biological insight.</a:t>
              </a:r>
              <a:endPara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34" name="Google Shape;134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4043" y="-8"/>
            <a:ext cx="2019300" cy="113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</a:pPr>
            <a:r>
              <a:rPr lang="en-GB"/>
              <a:t>Schedule</a:t>
            </a:r>
            <a:endParaRPr/>
          </a:p>
        </p:txBody>
      </p:sp>
      <p:graphicFrame>
        <p:nvGraphicFramePr>
          <p:cNvPr id="140" name="Google Shape;140;p3"/>
          <p:cNvGraphicFramePr/>
          <p:nvPr/>
        </p:nvGraphicFramePr>
        <p:xfrm>
          <a:off x="838200" y="185911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{588FA889-ED93-40E5-B48F-B1664BA1D7E6}</a:tableStyleId>
              </a:tblPr>
              <a:tblGrid>
                <a:gridCol w="1532375"/>
                <a:gridCol w="1634850"/>
                <a:gridCol w="7348375"/>
              </a:tblGrid>
              <a:tr h="3024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b="1"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Time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6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b="1"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Session Type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6C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b="1"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Session Title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D86CCC"/>
                    </a:solidFill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lay"/>
                          <a:ea typeface="Play"/>
                          <a:cs typeface="Play"/>
                          <a:sym typeface="Play"/>
                        </a:rPr>
                        <a:t>09:00-09:05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lay"/>
                          <a:ea typeface="Play"/>
                          <a:cs typeface="Play"/>
                          <a:sym typeface="Play"/>
                        </a:rPr>
                        <a:t>Overview 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>
                          <a:latin typeface="Play"/>
                          <a:ea typeface="Play"/>
                          <a:cs typeface="Play"/>
                          <a:sym typeface="Play"/>
                        </a:rPr>
                        <a:t>Introduction to the session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09:0</a:t>
                      </a:r>
                      <a:r>
                        <a:rPr lang="en-GB">
                          <a:latin typeface="Play"/>
                          <a:ea typeface="Play"/>
                          <a:cs typeface="Play"/>
                          <a:sym typeface="Play"/>
                        </a:rPr>
                        <a:t>5</a:t>
                      </a: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-10:00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Lecture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Introduction to Genomic LLMs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10:00-10:30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Guided Hands-On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Introduction to Hugging Face for Genomic LLMs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10:30-10:45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Coffee Break</a:t>
                      </a:r>
                      <a:endParaRPr/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hMerge="1"/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10:45-11:15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Lecture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Training Genomic LLMs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11:15-12:45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Guided Hands-On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Training Genomic LLMs Using PyTorch and the Hugging Face Trainer API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12:45-13:45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Lunch Break</a:t>
                      </a:r>
                      <a:endParaRPr/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hMerge="1"/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13:45-14:15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Guided Hands-On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Training Genomic LLMs Using PyTorch and the Hugging Face Trainer API (contd.)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14:15-14:30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Briefing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Introduction to Workshop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14:30-15:15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Workshop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Workshop: Try It Yourself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15:15-15:30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solidFill>
                            <a:srgbClr val="000000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Coffee Break</a:t>
                      </a:r>
                      <a:endParaRPr/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CDED"/>
                    </a:solidFill>
                  </a:tcPr>
                </a:tc>
                <a:tc hMerge="1"/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15:30-17:15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Workshop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Workshop: Try It Yourself (contd.)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302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17:15-17:30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Discussion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Play"/>
                        <a:buNone/>
                      </a:pPr>
                      <a:r>
                        <a:rPr lang="en-GB" sz="14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Recap &amp; Reflection</a:t>
                      </a:r>
                      <a:endParaRPr sz="14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pic>
        <p:nvPicPr>
          <p:cNvPr id="141" name="Google Shape;141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74043" y="-8"/>
            <a:ext cx="2019300" cy="1133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2026-07-28T19:27:12Z</dcterms:created>
  <dc:creator>Megha Hegde</dc:creator>
</cp:coreProperties>
</file>