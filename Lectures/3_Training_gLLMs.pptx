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Ultra-Bold" charset="1" panose="00000900000000000000"/>
      <p:regular r:id="rId15"/>
    </p:embeddedFont>
    <p:embeddedFont>
      <p:font typeface="Canva Sans Bold" charset="1" panose="020B0803030501040103"/>
      <p:regular r:id="rId16"/>
    </p:embeddedFont>
    <p:embeddedFont>
      <p:font typeface="Poppins Bold" charset="1" panose="00000800000000000000"/>
      <p:regular r:id="rId17"/>
    </p:embeddedFont>
    <p:embeddedFont>
      <p:font typeface="Canva Sans" charset="1" panose="020B0503030501040103"/>
      <p:regular r:id="rId18"/>
    </p:embeddedFont>
    <p:embeddedFont>
      <p:font typeface="Poppins Italics" charset="1" panose="00000500000000000000"/>
      <p:regular r:id="rId19"/>
    </p:embeddedFont>
    <p:embeddedFont>
      <p:font typeface="Canva Sans Italics" charset="1" panose="020B0503030501040103"/>
      <p:regular r:id="rId20"/>
    </p:embeddedFont>
    <p:embeddedFont>
      <p:font typeface="Poppin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6F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094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7094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46136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49184" y="5604810"/>
            <a:ext cx="9110393" cy="806827"/>
            <a:chOff x="0" y="0"/>
            <a:chExt cx="2399445" cy="2124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99445" cy="212498"/>
            </a:xfrm>
            <a:custGeom>
              <a:avLst/>
              <a:gdLst/>
              <a:ahLst/>
              <a:cxnLst/>
              <a:rect r="r" b="b" t="t" l="l"/>
              <a:pathLst>
                <a:path h="21249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70008"/>
                  </a:lnTo>
                  <a:cubicBezTo>
                    <a:pt x="2399445" y="193475"/>
                    <a:pt x="2380422" y="212498"/>
                    <a:pt x="2356956" y="212498"/>
                  </a:cubicBezTo>
                  <a:lnTo>
                    <a:pt x="42489" y="212498"/>
                  </a:lnTo>
                  <a:cubicBezTo>
                    <a:pt x="19023" y="212498"/>
                    <a:pt x="0" y="193475"/>
                    <a:pt x="0" y="170008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99445" cy="25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28432" y="3252307"/>
            <a:ext cx="10704282" cy="223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7"/>
              </a:lnSpc>
            </a:pPr>
            <a:r>
              <a:rPr lang="en-US" b="true" sz="86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GENOMIC LLMS IN PRACTICE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580186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28432" y="7943378"/>
            <a:ext cx="1449718" cy="1449718"/>
          </a:xfrm>
          <a:custGeom>
            <a:avLst/>
            <a:gdLst/>
            <a:ahLst/>
            <a:cxnLst/>
            <a:rect r="r" b="b" t="t" l="l"/>
            <a:pathLst>
              <a:path h="1449718" w="1449718">
                <a:moveTo>
                  <a:pt x="0" y="0"/>
                </a:moveTo>
                <a:lnTo>
                  <a:pt x="1449719" y="0"/>
                </a:lnTo>
                <a:lnTo>
                  <a:pt x="1449719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94738" y="7943378"/>
            <a:ext cx="4232755" cy="1449718"/>
          </a:xfrm>
          <a:custGeom>
            <a:avLst/>
            <a:gdLst/>
            <a:ahLst/>
            <a:cxnLst/>
            <a:rect r="r" b="b" t="t" l="l"/>
            <a:pathLst>
              <a:path h="1449718" w="4232755">
                <a:moveTo>
                  <a:pt x="0" y="0"/>
                </a:moveTo>
                <a:lnTo>
                  <a:pt x="4232755" y="0"/>
                </a:lnTo>
                <a:lnTo>
                  <a:pt x="4232755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849184" y="6679350"/>
            <a:ext cx="9110393" cy="806827"/>
            <a:chOff x="0" y="0"/>
            <a:chExt cx="2399445" cy="2124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99445" cy="212498"/>
            </a:xfrm>
            <a:custGeom>
              <a:avLst/>
              <a:gdLst/>
              <a:ahLst/>
              <a:cxnLst/>
              <a:rect r="r" b="b" t="t" l="l"/>
              <a:pathLst>
                <a:path h="21249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70008"/>
                  </a:lnTo>
                  <a:cubicBezTo>
                    <a:pt x="2399445" y="193475"/>
                    <a:pt x="2380422" y="212498"/>
                    <a:pt x="2356956" y="212498"/>
                  </a:cubicBezTo>
                  <a:lnTo>
                    <a:pt x="42489" y="212498"/>
                  </a:lnTo>
                  <a:cubicBezTo>
                    <a:pt x="19023" y="212498"/>
                    <a:pt x="0" y="193475"/>
                    <a:pt x="0" y="170008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99445" cy="25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by Megha Hegde, Shashank Ravichandran, Jean-Christophe Nebel, Ragothaman Yennamalli, Farzana Rahman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453806" y="492516"/>
            <a:ext cx="2269069" cy="2269069"/>
          </a:xfrm>
          <a:custGeom>
            <a:avLst/>
            <a:gdLst/>
            <a:ahLst/>
            <a:cxnLst/>
            <a:rect r="r" b="b" t="t" l="l"/>
            <a:pathLst>
              <a:path h="2269069" w="2269069">
                <a:moveTo>
                  <a:pt x="0" y="0"/>
                </a:moveTo>
                <a:lnTo>
                  <a:pt x="2269069" y="0"/>
                </a:lnTo>
                <a:lnTo>
                  <a:pt x="2269069" y="2269069"/>
                </a:lnTo>
                <a:lnTo>
                  <a:pt x="0" y="226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30974" y="5770099"/>
            <a:ext cx="855275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F2483"/>
                </a:solidFill>
                <a:latin typeface="Poppins Bold"/>
                <a:ea typeface="Poppins Bold"/>
                <a:cs typeface="Poppins Bold"/>
                <a:sym typeface="Poppins Bold"/>
              </a:rPr>
              <a:t>A Hands-On Introduction With Huggingface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09998" y="3092560"/>
            <a:ext cx="3096276" cy="1566056"/>
            <a:chOff x="0" y="0"/>
            <a:chExt cx="1015495" cy="5136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C0A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2F248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Untrained LLM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33980" y="3092560"/>
            <a:ext cx="3096276" cy="1566056"/>
            <a:chOff x="0" y="0"/>
            <a:chExt cx="1015495" cy="513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ED93C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2F248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Pretrained LLM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147144" y="3875588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0771126" y="3875588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4607686" y="1836354"/>
            <a:ext cx="8580909" cy="866572"/>
            <a:chOff x="0" y="0"/>
            <a:chExt cx="2259992" cy="228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9992" cy="228233"/>
            </a:xfrm>
            <a:custGeom>
              <a:avLst/>
              <a:gdLst/>
              <a:ahLst/>
              <a:cxnLst/>
              <a:rect r="r" b="b" t="t" l="l"/>
              <a:pathLst>
                <a:path h="228233" w="2259992">
                  <a:moveTo>
                    <a:pt x="45111" y="0"/>
                  </a:moveTo>
                  <a:lnTo>
                    <a:pt x="2214881" y="0"/>
                  </a:lnTo>
                  <a:cubicBezTo>
                    <a:pt x="2226845" y="0"/>
                    <a:pt x="2238320" y="4753"/>
                    <a:pt x="2246780" y="13213"/>
                  </a:cubicBezTo>
                  <a:cubicBezTo>
                    <a:pt x="2255240" y="21673"/>
                    <a:pt x="2259992" y="33147"/>
                    <a:pt x="2259992" y="45111"/>
                  </a:cubicBezTo>
                  <a:lnTo>
                    <a:pt x="2259992" y="183122"/>
                  </a:lnTo>
                  <a:cubicBezTo>
                    <a:pt x="2259992" y="195086"/>
                    <a:pt x="2255240" y="206560"/>
                    <a:pt x="2246780" y="215020"/>
                  </a:cubicBezTo>
                  <a:cubicBezTo>
                    <a:pt x="2238320" y="223480"/>
                    <a:pt x="2226845" y="228233"/>
                    <a:pt x="2214881" y="228233"/>
                  </a:cubicBezTo>
                  <a:lnTo>
                    <a:pt x="45111" y="228233"/>
                  </a:lnTo>
                  <a:cubicBezTo>
                    <a:pt x="33147" y="228233"/>
                    <a:pt x="21673" y="223480"/>
                    <a:pt x="13213" y="215020"/>
                  </a:cubicBezTo>
                  <a:cubicBezTo>
                    <a:pt x="4753" y="206560"/>
                    <a:pt x="0" y="195086"/>
                    <a:pt x="0" y="183122"/>
                  </a:cubicBezTo>
                  <a:lnTo>
                    <a:pt x="0" y="45111"/>
                  </a:lnTo>
                  <a:cubicBezTo>
                    <a:pt x="0" y="33147"/>
                    <a:pt x="4753" y="21673"/>
                    <a:pt x="13213" y="13213"/>
                  </a:cubicBezTo>
                  <a:cubicBezTo>
                    <a:pt x="21673" y="4753"/>
                    <a:pt x="33147" y="0"/>
                    <a:pt x="45111" y="0"/>
                  </a:cubicBezTo>
                  <a:close/>
                </a:path>
              </a:pathLst>
            </a:custGeom>
            <a:solidFill>
              <a:srgbClr val="C0A1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259992" cy="29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248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1: Pretraining (self-supervised)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07686" y="6088449"/>
            <a:ext cx="8580909" cy="866572"/>
            <a:chOff x="0" y="0"/>
            <a:chExt cx="2259992" cy="2282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9992" cy="228233"/>
            </a:xfrm>
            <a:custGeom>
              <a:avLst/>
              <a:gdLst/>
              <a:ahLst/>
              <a:cxnLst/>
              <a:rect r="r" b="b" t="t" l="l"/>
              <a:pathLst>
                <a:path h="228233" w="2259992">
                  <a:moveTo>
                    <a:pt x="45111" y="0"/>
                  </a:moveTo>
                  <a:lnTo>
                    <a:pt x="2214881" y="0"/>
                  </a:lnTo>
                  <a:cubicBezTo>
                    <a:pt x="2226845" y="0"/>
                    <a:pt x="2238320" y="4753"/>
                    <a:pt x="2246780" y="13213"/>
                  </a:cubicBezTo>
                  <a:cubicBezTo>
                    <a:pt x="2255240" y="21673"/>
                    <a:pt x="2259992" y="33147"/>
                    <a:pt x="2259992" y="45111"/>
                  </a:cubicBezTo>
                  <a:lnTo>
                    <a:pt x="2259992" y="183122"/>
                  </a:lnTo>
                  <a:cubicBezTo>
                    <a:pt x="2259992" y="195086"/>
                    <a:pt x="2255240" y="206560"/>
                    <a:pt x="2246780" y="215020"/>
                  </a:cubicBezTo>
                  <a:cubicBezTo>
                    <a:pt x="2238320" y="223480"/>
                    <a:pt x="2226845" y="228233"/>
                    <a:pt x="2214881" y="228233"/>
                  </a:cubicBezTo>
                  <a:lnTo>
                    <a:pt x="45111" y="228233"/>
                  </a:lnTo>
                  <a:cubicBezTo>
                    <a:pt x="33147" y="228233"/>
                    <a:pt x="21673" y="223480"/>
                    <a:pt x="13213" y="215020"/>
                  </a:cubicBezTo>
                  <a:cubicBezTo>
                    <a:pt x="4753" y="206560"/>
                    <a:pt x="0" y="195086"/>
                    <a:pt x="0" y="183122"/>
                  </a:cubicBezTo>
                  <a:lnTo>
                    <a:pt x="0" y="45111"/>
                  </a:lnTo>
                  <a:cubicBezTo>
                    <a:pt x="0" y="33147"/>
                    <a:pt x="4753" y="21673"/>
                    <a:pt x="13213" y="13213"/>
                  </a:cubicBezTo>
                  <a:cubicBezTo>
                    <a:pt x="21673" y="4753"/>
                    <a:pt x="33147" y="0"/>
                    <a:pt x="45111" y="0"/>
                  </a:cubicBezTo>
                  <a:close/>
                </a:path>
              </a:pathLst>
            </a:custGeom>
            <a:solidFill>
              <a:srgbClr val="C0A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259992" cy="29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248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2: Fine-tuning (supervised)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42425" y="7588361"/>
            <a:ext cx="3096276" cy="1566056"/>
            <a:chOff x="0" y="0"/>
            <a:chExt cx="1015495" cy="5136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ED93C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2F248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Pretrained LLM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2197890" y="7105515"/>
          <a:ext cx="3261684" cy="2190826"/>
        </p:xfrm>
        <a:graphic>
          <a:graphicData uri="http://schemas.openxmlformats.org/drawingml/2006/table">
            <a:tbl>
              <a:tblPr/>
              <a:tblGrid>
                <a:gridCol w="2289040"/>
                <a:gridCol w="972645"/>
              </a:tblGrid>
              <a:tr h="727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2F248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Sequence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6FA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2F248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6FAF"/>
                    </a:solidFill>
                  </a:tcPr>
                </a:tc>
              </a:tr>
              <a:tr h="7367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2F248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ACTGACTGACTGACTG</a:t>
                      </a:r>
                      <a:r>
                        <a:rPr lang="en-US" b="true" sz="1200">
                          <a:solidFill>
                            <a:srgbClr val="2F248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2F248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7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2F248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ACTGACTGCCTGACTG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2F248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1028700" y="568434"/>
            <a:ext cx="1588476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6000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HOW DOES GLLM TRAINING WORK?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582074" y="3007242"/>
            <a:ext cx="3300218" cy="1736692"/>
            <a:chOff x="0" y="0"/>
            <a:chExt cx="4400291" cy="231558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38100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40980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919633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398286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897336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544791" y="4905859"/>
            <a:ext cx="3374783" cy="10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25" i="true">
                <a:solidFill>
                  <a:srgbClr val="2F248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Large corpus of unlabelled genomic sequences</a:t>
            </a:r>
          </a:p>
          <a:p>
            <a:pPr algn="ctr">
              <a:lnSpc>
                <a:spcPts val="2136"/>
              </a:lnSpc>
              <a:spcBef>
                <a:spcPct val="0"/>
              </a:spcBef>
            </a:pPr>
            <a:r>
              <a:rPr lang="en-US" sz="1525" i="true">
                <a:solidFill>
                  <a:srgbClr val="2F248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e.g., DNA sequences from the Human Reference Genome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32072" y="9302055"/>
            <a:ext cx="4381527" cy="5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6"/>
              </a:lnSpc>
              <a:spcBef>
                <a:spcPct val="0"/>
              </a:spcBef>
            </a:pPr>
            <a:r>
              <a:rPr lang="en-US" sz="1525" i="true">
                <a:solidFill>
                  <a:srgbClr val="2F248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Task-specific data and labels, e.g., variant sequence and pathogenicity label</a:t>
            </a:r>
          </a:p>
        </p:txBody>
      </p:sp>
      <p:sp>
        <p:nvSpPr>
          <p:cNvPr name="AutoShape 31" id="31"/>
          <p:cNvSpPr/>
          <p:nvPr/>
        </p:nvSpPr>
        <p:spPr>
          <a:xfrm>
            <a:off x="6147144" y="8371389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1035979" y="8371389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2483210" y="7588361"/>
            <a:ext cx="3096276" cy="1566056"/>
            <a:chOff x="0" y="0"/>
            <a:chExt cx="1015495" cy="5136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786FA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Fine-tuned LLM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78557" y="2453188"/>
            <a:ext cx="12130887" cy="6352173"/>
          </a:xfrm>
          <a:custGeom>
            <a:avLst/>
            <a:gdLst/>
            <a:ahLst/>
            <a:cxnLst/>
            <a:rect r="r" b="b" t="t" l="l"/>
            <a:pathLst>
              <a:path h="6352173" w="12130887">
                <a:moveTo>
                  <a:pt x="0" y="0"/>
                </a:moveTo>
                <a:lnTo>
                  <a:pt x="12130886" y="0"/>
                </a:lnTo>
                <a:lnTo>
                  <a:pt x="12130886" y="6352174"/>
                </a:lnTo>
                <a:lnTo>
                  <a:pt x="0" y="6352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54209"/>
            <a:ext cx="1588476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6000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REFRESHER: TYPES OF ML TRAINING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77710"/>
            <a:ext cx="1300264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Image source: https://tzuruey.medium.com/neurips-day-7-self-supervised-learning-workshop-5ec57ce5eab1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4067" y="1335374"/>
            <a:ext cx="16610635" cy="4360576"/>
            <a:chOff x="0" y="0"/>
            <a:chExt cx="22147513" cy="581410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699301"/>
              <a:ext cx="22147513" cy="4114800"/>
              <a:chOff x="0" y="0"/>
              <a:chExt cx="4374817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3748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74817">
                    <a:moveTo>
                      <a:pt x="23770" y="0"/>
                    </a:moveTo>
                    <a:lnTo>
                      <a:pt x="4351047" y="0"/>
                    </a:lnTo>
                    <a:cubicBezTo>
                      <a:pt x="4357351" y="0"/>
                      <a:pt x="4363398" y="2504"/>
                      <a:pt x="4367855" y="6962"/>
                    </a:cubicBezTo>
                    <a:cubicBezTo>
                      <a:pt x="4372313" y="11420"/>
                      <a:pt x="4374817" y="17466"/>
                      <a:pt x="4374817" y="23770"/>
                    </a:cubicBezTo>
                    <a:lnTo>
                      <a:pt x="4374817" y="789030"/>
                    </a:lnTo>
                    <a:cubicBezTo>
                      <a:pt x="4374817" y="795334"/>
                      <a:pt x="4372313" y="801380"/>
                      <a:pt x="4367855" y="805838"/>
                    </a:cubicBezTo>
                    <a:cubicBezTo>
                      <a:pt x="4363398" y="810296"/>
                      <a:pt x="4357351" y="812800"/>
                      <a:pt x="4351047" y="812800"/>
                    </a:cubicBezTo>
                    <a:lnTo>
                      <a:pt x="23770" y="812800"/>
                    </a:lnTo>
                    <a:cubicBezTo>
                      <a:pt x="17466" y="812800"/>
                      <a:pt x="11420" y="810296"/>
                      <a:pt x="6962" y="805838"/>
                    </a:cubicBezTo>
                    <a:cubicBezTo>
                      <a:pt x="2504" y="801380"/>
                      <a:pt x="0" y="795334"/>
                      <a:pt x="0" y="789030"/>
                    </a:cubicBezTo>
                    <a:lnTo>
                      <a:pt x="0" y="23770"/>
                    </a:lnTo>
                    <a:cubicBezTo>
                      <a:pt x="0" y="17466"/>
                      <a:pt x="2504" y="11420"/>
                      <a:pt x="6962" y="6962"/>
                    </a:cubicBezTo>
                    <a:cubicBezTo>
                      <a:pt x="11420" y="2504"/>
                      <a:pt x="17466" y="0"/>
                      <a:pt x="2377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38100" cap="rnd">
                <a:solidFill>
                  <a:srgbClr val="025841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374817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1937196" y="4010283"/>
              <a:ext cx="932216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&lt;ACTG&gt; &lt;ACTG&gt; </a:t>
              </a:r>
              <a:r>
                <a:rPr lang="en-US" b="true" sz="3199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&lt;[MASK]&gt;</a:t>
              </a:r>
              <a:r>
                <a:rPr lang="en-US" b="true" sz="31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&lt;ACTG&gt;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390924" y="2823680"/>
              <a:ext cx="8149233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2F248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Predict this token based on the tokens on either side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6937967" y="3241933"/>
              <a:ext cx="527480" cy="825500"/>
            </a:xfrm>
            <a:prstGeom prst="line">
              <a:avLst/>
            </a:prstGeom>
            <a:ln cap="flat" w="38100">
              <a:solidFill>
                <a:srgbClr val="02584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192844" y="-180975"/>
              <a:ext cx="10971695" cy="5498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32"/>
                </a:lnSpc>
              </a:pPr>
            </a:p>
            <a:p>
              <a:pPr algn="l">
                <a:lnSpc>
                  <a:spcPts val="4132"/>
                </a:lnSpc>
              </a:pPr>
            </a:p>
            <a:p>
              <a:pPr algn="l">
                <a:lnSpc>
                  <a:spcPts val="4132"/>
                </a:lnSpc>
              </a:pPr>
            </a:p>
            <a:p>
              <a:pPr algn="l" marL="446066" indent="-223033" lvl="1">
                <a:lnSpc>
                  <a:spcPts val="4132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2F248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Masked Language Modelling (MLM)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2F2483"/>
                  </a:solidFill>
                  <a:latin typeface="Poppins"/>
                  <a:ea typeface="Poppins"/>
                  <a:cs typeface="Poppins"/>
                  <a:sym typeface="Poppins"/>
                </a:rPr>
                <a:t>Some % of tokens in each DNA sequence are masked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2F2483"/>
                  </a:solidFill>
                  <a:latin typeface="Poppins"/>
                  <a:ea typeface="Poppins"/>
                  <a:cs typeface="Poppins"/>
                  <a:sym typeface="Poppins"/>
                </a:rPr>
                <a:t>The model is trained to predict the missing tokens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2F2483"/>
                  </a:solidFill>
                  <a:latin typeface="Poppins"/>
                  <a:ea typeface="Poppins"/>
                  <a:cs typeface="Poppins"/>
                  <a:sym typeface="Poppins"/>
                </a:rPr>
                <a:t>Usually used in encoder-only Transformers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2F2483"/>
                  </a:solidFill>
                  <a:latin typeface="Poppins"/>
                  <a:ea typeface="Poppins"/>
                  <a:cs typeface="Poppins"/>
                  <a:sym typeface="Poppins"/>
                </a:rPr>
                <a:t>gLLM examples: DNABERT-2, Nucleotide Transformer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67" y="6134100"/>
            <a:ext cx="16610635" cy="3610881"/>
            <a:chOff x="0" y="0"/>
            <a:chExt cx="22147513" cy="481450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2147513" cy="4814508"/>
              <a:chOff x="0" y="0"/>
              <a:chExt cx="4374817" cy="95101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374817" cy="951014"/>
              </a:xfrm>
              <a:custGeom>
                <a:avLst/>
                <a:gdLst/>
                <a:ahLst/>
                <a:cxnLst/>
                <a:rect r="r" b="b" t="t" l="l"/>
                <a:pathLst>
                  <a:path h="951014" w="4374817">
                    <a:moveTo>
                      <a:pt x="23770" y="0"/>
                    </a:moveTo>
                    <a:lnTo>
                      <a:pt x="4351047" y="0"/>
                    </a:lnTo>
                    <a:cubicBezTo>
                      <a:pt x="4357351" y="0"/>
                      <a:pt x="4363398" y="2504"/>
                      <a:pt x="4367855" y="6962"/>
                    </a:cubicBezTo>
                    <a:cubicBezTo>
                      <a:pt x="4372313" y="11420"/>
                      <a:pt x="4374817" y="17466"/>
                      <a:pt x="4374817" y="23770"/>
                    </a:cubicBezTo>
                    <a:lnTo>
                      <a:pt x="4374817" y="927244"/>
                    </a:lnTo>
                    <a:cubicBezTo>
                      <a:pt x="4374817" y="933548"/>
                      <a:pt x="4372313" y="939594"/>
                      <a:pt x="4367855" y="944052"/>
                    </a:cubicBezTo>
                    <a:cubicBezTo>
                      <a:pt x="4363398" y="948510"/>
                      <a:pt x="4357351" y="951014"/>
                      <a:pt x="4351047" y="951014"/>
                    </a:cubicBezTo>
                    <a:lnTo>
                      <a:pt x="23770" y="951014"/>
                    </a:lnTo>
                    <a:cubicBezTo>
                      <a:pt x="17466" y="951014"/>
                      <a:pt x="11420" y="948510"/>
                      <a:pt x="6962" y="944052"/>
                    </a:cubicBezTo>
                    <a:cubicBezTo>
                      <a:pt x="2504" y="939594"/>
                      <a:pt x="0" y="933548"/>
                      <a:pt x="0" y="927244"/>
                    </a:cubicBezTo>
                    <a:lnTo>
                      <a:pt x="0" y="23770"/>
                    </a:lnTo>
                    <a:cubicBezTo>
                      <a:pt x="0" y="17466"/>
                      <a:pt x="2504" y="11420"/>
                      <a:pt x="6962" y="6962"/>
                    </a:cubicBezTo>
                    <a:cubicBezTo>
                      <a:pt x="11420" y="2504"/>
                      <a:pt x="17466" y="0"/>
                      <a:pt x="23770" y="0"/>
                    </a:cubicBezTo>
                    <a:close/>
                  </a:path>
                </a:pathLst>
              </a:custGeom>
              <a:ln w="38100" cap="rnd">
                <a:solidFill>
                  <a:srgbClr val="025841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374817" cy="9891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325042" y="823453"/>
              <a:ext cx="8280995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2F248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Predict the next token based on the preceding tokens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19152880" y="1294516"/>
              <a:ext cx="527480" cy="751944"/>
            </a:xfrm>
            <a:prstGeom prst="line">
              <a:avLst/>
            </a:prstGeom>
            <a:ln cap="flat" w="38100">
              <a:solidFill>
                <a:srgbClr val="02584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12793653" y="2003897"/>
              <a:ext cx="7343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&lt;ACTG&gt; &lt;ACTG&gt; &lt;ACTG&gt; ...?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92844" y="145342"/>
              <a:ext cx="10971695" cy="409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46066" indent="-223033" lvl="1">
                <a:lnSpc>
                  <a:spcPts val="4132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2F248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Next Token Prediction (NTP)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2F2483"/>
                  </a:solidFill>
                  <a:latin typeface="Poppins"/>
                  <a:ea typeface="Poppins"/>
                  <a:cs typeface="Poppins"/>
                  <a:sym typeface="Poppins"/>
                </a:rPr>
                <a:t>The model is trained to predict the next token based on the previous tokens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2F2483"/>
                  </a:solidFill>
                  <a:latin typeface="Poppins"/>
                  <a:ea typeface="Poppins"/>
                  <a:cs typeface="Poppins"/>
                  <a:sym typeface="Poppins"/>
                </a:rPr>
                <a:t>Usually used in decoder-only Transformers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2F2483"/>
                  </a:solidFill>
                  <a:latin typeface="Poppins"/>
                  <a:ea typeface="Poppins"/>
                  <a:cs typeface="Poppins"/>
                  <a:sym typeface="Poppins"/>
                </a:rPr>
                <a:t>Mainly used in models that generate synthetic DNA/protein sequences, e.g., Evo2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692176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LLM PRETRAINING PARADIGMS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067" y="1715970"/>
            <a:ext cx="1661063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066" indent="-223033" lvl="1">
              <a:lnSpc>
                <a:spcPts val="4132"/>
              </a:lnSpc>
              <a:buFont typeface="Arial"/>
              <a:buChar char="•"/>
            </a:pPr>
            <a:r>
              <a:rPr lang="en-US" sz="2066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During pretraining, the model learns foundational contextual information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79843" y="4981575"/>
            <a:ext cx="1563624" cy="4114800"/>
          </a:xfrm>
          <a:custGeom>
            <a:avLst/>
            <a:gdLst/>
            <a:ahLst/>
            <a:cxnLst/>
            <a:rect r="r" b="b" t="t" l="l"/>
            <a:pathLst>
              <a:path h="4114800" w="1563624">
                <a:moveTo>
                  <a:pt x="0" y="0"/>
                </a:moveTo>
                <a:lnTo>
                  <a:pt x="1563624" y="0"/>
                </a:lnTo>
                <a:lnTo>
                  <a:pt x="15636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33400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WHY MLM FOR GLLMS?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179" y="1219835"/>
            <a:ext cx="16230600" cy="38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Incorporates bidirectional context</a:t>
            </a:r>
          </a:p>
          <a:p>
            <a:pPr algn="l">
              <a:lnSpc>
                <a:spcPts val="4399"/>
              </a:lnSpc>
            </a:pP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Best for learning patterns and syntax among genomic sequences</a:t>
            </a:r>
          </a:p>
          <a:p>
            <a:pPr algn="l">
              <a:lnSpc>
                <a:spcPts val="4399"/>
              </a:lnSpc>
            </a:pP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Allows the model to identify genomic motifs and signals depending on both upstream and downstream context</a:t>
            </a:r>
          </a:p>
          <a:p>
            <a:pPr algn="l">
              <a:lnSpc>
                <a:spcPts val="4399"/>
              </a:lnSpc>
            </a:pP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58275"/>
            <a:ext cx="810677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Hegde, M.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</a:t>
            </a: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 (2025)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Bioinformatics and Biology Insights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Shu, L.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 </a:t>
            </a: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(2026)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Briefings in Bioinformatics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Dalla-Torre, H.,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</a:t>
            </a: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 (2025)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Nature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08782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PRETRAINING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95217"/>
            <a:ext cx="16230600" cy="38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Single species genome</a:t>
            </a:r>
          </a:p>
          <a:p>
            <a:pPr algn="l" marL="949959" indent="-316653" lvl="2">
              <a:lnSpc>
                <a:spcPts val="4399"/>
              </a:lnSpc>
              <a:buFont typeface="Arial"/>
              <a:buChar char="⚬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E.g., Human reference genome (current assembly GRCh38)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Multi-species genomes</a:t>
            </a:r>
          </a:p>
          <a:p>
            <a:pPr algn="l" marL="949959" indent="-316653" lvl="2">
              <a:lnSpc>
                <a:spcPts val="4399"/>
              </a:lnSpc>
              <a:buFont typeface="Arial"/>
              <a:buChar char="⚬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Large corpus of sequences from the genomes of different species</a:t>
            </a:r>
          </a:p>
          <a:p>
            <a:pPr algn="l" marL="949959" indent="-316653" lvl="2">
              <a:lnSpc>
                <a:spcPts val="4399"/>
              </a:lnSpc>
              <a:buFont typeface="Arial"/>
              <a:buChar char="⚬"/>
            </a:pPr>
            <a:r>
              <a:rPr lang="en-US" sz="21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Can improve the model’s ability to generalise</a:t>
            </a:r>
          </a:p>
          <a:p>
            <a:pPr algn="l">
              <a:lnSpc>
                <a:spcPts val="4399"/>
              </a:lnSpc>
            </a:pP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1522" y="4501520"/>
            <a:ext cx="9345355" cy="4574459"/>
          </a:xfrm>
          <a:custGeom>
            <a:avLst/>
            <a:gdLst/>
            <a:ahLst/>
            <a:cxnLst/>
            <a:rect r="r" b="b" t="t" l="l"/>
            <a:pathLst>
              <a:path h="4574459" w="9345355">
                <a:moveTo>
                  <a:pt x="0" y="0"/>
                </a:moveTo>
                <a:lnTo>
                  <a:pt x="9345355" y="0"/>
                </a:lnTo>
                <a:lnTo>
                  <a:pt x="9345355" y="4574459"/>
                </a:lnTo>
                <a:lnTo>
                  <a:pt x="0" y="4574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89" t="-78891" r="-8246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0654" y="610553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GLM EMBEDDINGS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179" y="1629410"/>
            <a:ext cx="16230600" cy="227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Embeddings are the </a:t>
            </a:r>
            <a:r>
              <a:rPr lang="en-US" b="true" sz="2299">
                <a:solidFill>
                  <a:srgbClr val="2F2483"/>
                </a:solidFill>
                <a:latin typeface="Poppins Bold"/>
                <a:ea typeface="Poppins Bold"/>
                <a:cs typeface="Poppins Bold"/>
                <a:sym typeface="Poppins Bold"/>
              </a:rPr>
              <a:t>model’s internal representation</a:t>
            </a: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 of the input sequences as vectors of numbers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They capture </a:t>
            </a:r>
            <a:r>
              <a:rPr lang="en-US" b="true" sz="2299">
                <a:solidFill>
                  <a:srgbClr val="2F2483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</a:t>
            </a: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b="true" sz="2299">
                <a:solidFill>
                  <a:srgbClr val="2F2483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</a:t>
            </a: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 about the sequences, that can be used in downstream tasks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The embeddings are usually extracted from the last layer.  At this stage, the hidden state represents a culmination of all the model's computations, and provides the most informative context.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77045"/>
            <a:ext cx="1142518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https://huggingface.co/spaces/hesamation/primer-llm-embedding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Liu, T.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al,</a:t>
            </a: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 (2026),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npj Artificial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94333" y="4390990"/>
            <a:ext cx="7255102" cy="460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Here, sequence embeddings from some state-of-the-art genomic LLMs are visualised using uniform manifold approximation and projection (UMAP), coloured by gene types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Protein-encoding genes are coloured in pink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The models with the most informative embeddings are those which have clear separation between clusters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7304" y="2887673"/>
            <a:ext cx="12798137" cy="6034308"/>
          </a:xfrm>
          <a:custGeom>
            <a:avLst/>
            <a:gdLst/>
            <a:ahLst/>
            <a:cxnLst/>
            <a:rect r="r" b="b" t="t" l="l"/>
            <a:pathLst>
              <a:path h="6034308" w="12798137">
                <a:moveTo>
                  <a:pt x="0" y="0"/>
                </a:moveTo>
                <a:lnTo>
                  <a:pt x="12798137" y="0"/>
                </a:lnTo>
                <a:lnTo>
                  <a:pt x="12798137" y="6034309"/>
                </a:lnTo>
                <a:lnTo>
                  <a:pt x="0" y="6034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3510" y="677228"/>
            <a:ext cx="17281433" cy="71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1"/>
              </a:lnSpc>
            </a:pPr>
            <a:r>
              <a:rPr lang="en-US" b="true" sz="52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ZERO-SHOT PREDICTION USING GLM EMBEDDINGS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179" y="1466946"/>
            <a:ext cx="16230600" cy="169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gLLM embeddings can be used for zero-shot prediction on downstream tasks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Instead of using supervised fine-tuning, we can use the embeddings as features</a:t>
            </a:r>
          </a:p>
          <a:p>
            <a:pPr algn="l">
              <a:lnSpc>
                <a:spcPts val="45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550400"/>
            <a:ext cx="1142518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Dalla-Torre, H.,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 </a:t>
            </a:r>
            <a:r>
              <a:rPr lang="en-US" sz="1899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(2024), </a:t>
            </a:r>
            <a:r>
              <a:rPr lang="en-US" sz="1899" i="true">
                <a:solidFill>
                  <a:srgbClr val="2F248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Nature Methods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38906" y="2840048"/>
            <a:ext cx="3544641" cy="613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2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For instance, for variant effect prediction, we can do the following:</a:t>
            </a:r>
          </a:p>
          <a:p>
            <a:pPr algn="l" marL="499362" indent="-249681" lvl="1">
              <a:lnSpc>
                <a:spcPts val="3238"/>
              </a:lnSpc>
              <a:spcBef>
                <a:spcPct val="0"/>
              </a:spcBef>
              <a:buAutoNum type="arabicPeriod" startAt="1"/>
            </a:pPr>
            <a:r>
              <a:rPr lang="en-US" sz="2312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Extract embeddings for reference (wild-type) sequence</a:t>
            </a:r>
          </a:p>
          <a:p>
            <a:pPr algn="l" marL="499362" indent="-249681" lvl="1">
              <a:lnSpc>
                <a:spcPts val="3238"/>
              </a:lnSpc>
              <a:spcBef>
                <a:spcPct val="0"/>
              </a:spcBef>
              <a:buAutoNum type="arabicPeriod" startAt="1"/>
            </a:pPr>
            <a:r>
              <a:rPr lang="en-US" sz="2312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Extract embeddings for alternate (mutated) sequence</a:t>
            </a:r>
          </a:p>
          <a:p>
            <a:pPr algn="l" marL="499362" indent="-249681" lvl="1">
              <a:lnSpc>
                <a:spcPts val="3238"/>
              </a:lnSpc>
              <a:spcBef>
                <a:spcPct val="0"/>
              </a:spcBef>
              <a:buAutoNum type="arabicPeriod" startAt="1"/>
            </a:pPr>
            <a:r>
              <a:rPr lang="en-US" sz="2312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Calculate the difference in these embeddings as the variant effect score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2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The difference method we use affects the score!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324135" y="1828800"/>
          <a:ext cx="11293894" cy="3314700"/>
        </p:xfrm>
        <a:graphic>
          <a:graphicData uri="http://schemas.openxmlformats.org/drawingml/2006/table">
            <a:tbl>
              <a:tblPr/>
              <a:tblGrid>
                <a:gridCol w="5646947"/>
                <a:gridCol w="5646947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2F248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A1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2F248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Fine-tuning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A1FF"/>
                    </a:solidFill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2F248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Self-supervised, using unlabelled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2F248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Supervised, using labelled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2F248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2F248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Task-specific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2F248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Whole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2F248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Specific layers, e.g., classification 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F2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705803"/>
            <a:ext cx="1588476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6000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FINE-TUNING GLLMS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2483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2189" y="5429732"/>
            <a:ext cx="14717789" cy="459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Pretrained gLLMs are fine-tuned on labelled data for specific tasks</a:t>
            </a:r>
          </a:p>
          <a:p>
            <a:pPr algn="l">
              <a:lnSpc>
                <a:spcPts val="4599"/>
              </a:lnSpc>
            </a:pP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For variant effect prediction, this could involve a wild-type sequence, mutated sequence, and pathogenicity label for each variant</a:t>
            </a:r>
          </a:p>
          <a:p>
            <a:pPr algn="l">
              <a:lnSpc>
                <a:spcPts val="4599"/>
              </a:lnSpc>
            </a:pP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This can be a computationally costly process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Methods like LoRA (low-rank adaptation) can help to improve efficiency</a:t>
            </a:r>
          </a:p>
          <a:p>
            <a:pPr algn="l" marL="993138" indent="-331046" lvl="2">
              <a:lnSpc>
                <a:spcPts val="4599"/>
              </a:lnSpc>
              <a:buFont typeface="Arial"/>
              <a:buChar char="⚬"/>
            </a:pP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Hu, E.J. </a:t>
            </a:r>
            <a:r>
              <a:rPr lang="en-US" sz="2299" i="true">
                <a:solidFill>
                  <a:srgbClr val="2F248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et al. </a:t>
            </a:r>
            <a:r>
              <a:rPr lang="en-US" sz="2299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(2022) ICLR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DAHKxbOKFgE</dc:identifier>
  <dcterms:modified xsi:type="dcterms:W3CDTF">2011-08-01T06:04:30Z</dcterms:modified>
  <cp:revision>1</cp:revision>
  <dc:title>2_Training_gLLMs</dc:title>
</cp:coreProperties>
</file>